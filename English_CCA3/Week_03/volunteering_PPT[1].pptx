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3"/>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13"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314" r:id="rId36"/>
    <p:sldId id="289" r:id="rId37"/>
    <p:sldId id="290" r:id="rId38"/>
    <p:sldId id="291" r:id="rId39"/>
    <p:sldId id="292" r:id="rId40"/>
    <p:sldId id="293" r:id="rId41"/>
    <p:sldId id="315" r:id="rId42"/>
    <p:sldId id="316" r:id="rId43"/>
    <p:sldId id="317" r:id="rId44"/>
    <p:sldId id="318" r:id="rId45"/>
    <p:sldId id="319" r:id="rId46"/>
    <p:sldId id="320" r:id="rId47"/>
    <p:sldId id="321" r:id="rId48"/>
    <p:sldId id="301" r:id="rId49"/>
    <p:sldId id="302" r:id="rId50"/>
    <p:sldId id="307" r:id="rId51"/>
    <p:sldId id="303" r:id="rId52"/>
    <p:sldId id="322" r:id="rId53"/>
    <p:sldId id="304" r:id="rId54"/>
    <p:sldId id="305" r:id="rId55"/>
    <p:sldId id="306" r:id="rId56"/>
    <p:sldId id="323" r:id="rId57"/>
    <p:sldId id="308" r:id="rId58"/>
    <p:sldId id="309" r:id="rId59"/>
    <p:sldId id="310" r:id="rId60"/>
    <p:sldId id="311" r:id="rId61"/>
    <p:sldId id="312" r:id="rId62"/>
  </p:sldIdLst>
  <p:sldSz cx="9144000" cy="6858000" type="screen4x3"/>
  <p:notesSz cx="6858000" cy="9144000"/>
  <p:embeddedFontLst>
    <p:embeddedFont>
      <p:font typeface="Times" panose="02020603050405020304" pitchFamily="18" charset="0"/>
      <p:regular r:id="rId64"/>
      <p:bold r:id="rId65"/>
      <p:italic r:id="rId66"/>
      <p:boldItalic r:id="rId67"/>
    </p:embeddedFont>
    <p:embeddedFont>
      <p:font typeface="Calibri" panose="020F0502020204030204" pitchFamily="34" charset="0"/>
      <p:regular r:id="rId68"/>
      <p:bold r:id="rId69"/>
      <p:italic r:id="rId70"/>
      <p:boldItalic r:id="rId71"/>
    </p:embeddedFont>
    <p:embeddedFont>
      <p:font typeface="Open Sans SemiBold" panose="020B0706030804020204" pitchFamily="34" charset="0"/>
      <p:bold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4" roundtripDataSignature="AMtx7mg0JKj+f9v1xHTPrVMslBb7Ra+N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086"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3.fntdata"/><Relationship Id="rId74"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font" Target="fonts/font10.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046610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 name="Google Shape;3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 name="Google Shape;3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a:t>
            </a:fld>
            <a:endParaRPr/>
          </a:p>
        </p:txBody>
      </p:sp>
    </p:spTree>
    <p:extLst>
      <p:ext uri="{BB962C8B-B14F-4D97-AF65-F5344CB8AC3E}">
        <p14:creationId xmlns:p14="http://schemas.microsoft.com/office/powerpoint/2010/main" val="90259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extLst>
      <p:ext uri="{BB962C8B-B14F-4D97-AF65-F5344CB8AC3E}">
        <p14:creationId xmlns:p14="http://schemas.microsoft.com/office/powerpoint/2010/main" val="1861268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a:t>
            </a:fld>
            <a:endParaRPr/>
          </a:p>
        </p:txBody>
      </p:sp>
    </p:spTree>
    <p:extLst>
      <p:ext uri="{BB962C8B-B14F-4D97-AF65-F5344CB8AC3E}">
        <p14:creationId xmlns:p14="http://schemas.microsoft.com/office/powerpoint/2010/main" val="3557222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 name="Google Shape;6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1452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a:t>
            </a:fld>
            <a:endParaRPr/>
          </a:p>
        </p:txBody>
      </p:sp>
    </p:spTree>
    <p:extLst>
      <p:ext uri="{BB962C8B-B14F-4D97-AF65-F5344CB8AC3E}">
        <p14:creationId xmlns:p14="http://schemas.microsoft.com/office/powerpoint/2010/main" val="3509952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6</a:t>
            </a:fld>
            <a:endParaRPr/>
          </a:p>
        </p:txBody>
      </p:sp>
    </p:spTree>
    <p:extLst>
      <p:ext uri="{BB962C8B-B14F-4D97-AF65-F5344CB8AC3E}">
        <p14:creationId xmlns:p14="http://schemas.microsoft.com/office/powerpoint/2010/main" val="2430250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7</a:t>
            </a:fld>
            <a:endParaRPr/>
          </a:p>
        </p:txBody>
      </p:sp>
    </p:spTree>
    <p:extLst>
      <p:ext uri="{BB962C8B-B14F-4D97-AF65-F5344CB8AC3E}">
        <p14:creationId xmlns:p14="http://schemas.microsoft.com/office/powerpoint/2010/main" val="5848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8</a:t>
            </a:fld>
            <a:endParaRPr/>
          </a:p>
        </p:txBody>
      </p:sp>
    </p:spTree>
    <p:extLst>
      <p:ext uri="{BB962C8B-B14F-4D97-AF65-F5344CB8AC3E}">
        <p14:creationId xmlns:p14="http://schemas.microsoft.com/office/powerpoint/2010/main" val="626640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9</a:t>
            </a:fld>
            <a:endParaRPr/>
          </a:p>
        </p:txBody>
      </p:sp>
    </p:spTree>
    <p:extLst>
      <p:ext uri="{BB962C8B-B14F-4D97-AF65-F5344CB8AC3E}">
        <p14:creationId xmlns:p14="http://schemas.microsoft.com/office/powerpoint/2010/main" val="2759424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Ask: Is there a charity meal service in your area?</a:t>
            </a:r>
            <a:endParaRPr/>
          </a:p>
          <a:p>
            <a:pPr marL="0" lvl="0" indent="0" algn="l" rtl="0">
              <a:spcBef>
                <a:spcPts val="0"/>
              </a:spcBef>
              <a:spcAft>
                <a:spcPts val="0"/>
              </a:spcAft>
              <a:buNone/>
            </a:pPr>
            <a:endParaRPr/>
          </a:p>
        </p:txBody>
      </p:sp>
      <p:sp>
        <p:nvSpPr>
          <p:cNvPr id="127" name="Google Shape;127;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10</a:t>
            </a:fld>
            <a:endParaRPr/>
          </a:p>
        </p:txBody>
      </p:sp>
    </p:spTree>
    <p:extLst>
      <p:ext uri="{BB962C8B-B14F-4D97-AF65-F5344CB8AC3E}">
        <p14:creationId xmlns:p14="http://schemas.microsoft.com/office/powerpoint/2010/main" val="2957365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Ask:  What is an op shop? Have you been to an op shop? Did you know that most of the people who work there are volunteers? What skills do you think you would learn, doing this work?</a:t>
            </a:r>
            <a:endParaRPr/>
          </a:p>
          <a:p>
            <a:pPr marL="0" lvl="0" indent="0" algn="l" rtl="0">
              <a:spcBef>
                <a:spcPts val="0"/>
              </a:spcBef>
              <a:spcAft>
                <a:spcPts val="0"/>
              </a:spcAft>
              <a:buNone/>
            </a:pPr>
            <a:endParaRPr/>
          </a:p>
        </p:txBody>
      </p:sp>
      <p:sp>
        <p:nvSpPr>
          <p:cNvPr id="139" name="Google Shape;139;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11</a:t>
            </a:fld>
            <a:endParaRPr/>
          </a:p>
        </p:txBody>
      </p:sp>
    </p:spTree>
    <p:extLst>
      <p:ext uri="{BB962C8B-B14F-4D97-AF65-F5344CB8AC3E}">
        <p14:creationId xmlns:p14="http://schemas.microsoft.com/office/powerpoint/2010/main" val="3068591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Ask: what are some other things you might do in an office?</a:t>
            </a:r>
            <a:endParaRPr/>
          </a:p>
        </p:txBody>
      </p:sp>
      <p:sp>
        <p:nvSpPr>
          <p:cNvPr id="150" name="Google Shape;150;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12</a:t>
            </a:fld>
            <a:endParaRPr/>
          </a:p>
        </p:txBody>
      </p:sp>
    </p:spTree>
    <p:extLst>
      <p:ext uri="{BB962C8B-B14F-4D97-AF65-F5344CB8AC3E}">
        <p14:creationId xmlns:p14="http://schemas.microsoft.com/office/powerpoint/2010/main" val="481344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Ask: what are some other ways of helping with the environment? Eg cleaning up parks and gardens.</a:t>
            </a:r>
            <a:endParaRPr/>
          </a:p>
          <a:p>
            <a:pPr marL="0" lvl="0" indent="0" algn="l" rtl="0">
              <a:spcBef>
                <a:spcPts val="0"/>
              </a:spcBef>
              <a:spcAft>
                <a:spcPts val="0"/>
              </a:spcAft>
              <a:buNone/>
            </a:pPr>
            <a:endParaRPr/>
          </a:p>
        </p:txBody>
      </p:sp>
      <p:sp>
        <p:nvSpPr>
          <p:cNvPr id="161" name="Google Shape;161;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13</a:t>
            </a:fld>
            <a:endParaRPr/>
          </a:p>
        </p:txBody>
      </p:sp>
    </p:spTree>
    <p:extLst>
      <p:ext uri="{BB962C8B-B14F-4D97-AF65-F5344CB8AC3E}">
        <p14:creationId xmlns:p14="http://schemas.microsoft.com/office/powerpoint/2010/main" val="4294350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Ask: How else could you help older people?  Drive them to appointments or events. Take them to the movies etc. </a:t>
            </a:r>
            <a:endParaRPr/>
          </a:p>
          <a:p>
            <a:pPr marL="0" lvl="0" indent="0" algn="l" rtl="0">
              <a:spcBef>
                <a:spcPts val="0"/>
              </a:spcBef>
              <a:spcAft>
                <a:spcPts val="0"/>
              </a:spcAft>
              <a:buNone/>
            </a:pPr>
            <a:endParaRPr/>
          </a:p>
        </p:txBody>
      </p:sp>
      <p:sp>
        <p:nvSpPr>
          <p:cNvPr id="172" name="Google Shape;172;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14</a:t>
            </a:fld>
            <a:endParaRPr/>
          </a:p>
        </p:txBody>
      </p:sp>
    </p:spTree>
    <p:extLst>
      <p:ext uri="{BB962C8B-B14F-4D97-AF65-F5344CB8AC3E}">
        <p14:creationId xmlns:p14="http://schemas.microsoft.com/office/powerpoint/2010/main" val="4114165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Ask:  Who likes working with animals?  Volunteers can work in homeless animal shelters, helping to care for animals. Or, if they have the space, can help a wounded native animal to recover by looking after them at home. People can also volunteer to walk the dogs of elderly people who have difficulty walking.</a:t>
            </a:r>
            <a:endParaRPr/>
          </a:p>
          <a:p>
            <a:pPr marL="0" lvl="0" indent="0" algn="l" rtl="0">
              <a:spcBef>
                <a:spcPts val="0"/>
              </a:spcBef>
              <a:spcAft>
                <a:spcPts val="0"/>
              </a:spcAft>
              <a:buNone/>
            </a:pPr>
            <a:endParaRPr/>
          </a:p>
        </p:txBody>
      </p:sp>
      <p:sp>
        <p:nvSpPr>
          <p:cNvPr id="183" name="Google Shape;183;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15</a:t>
            </a:fld>
            <a:endParaRPr/>
          </a:p>
        </p:txBody>
      </p:sp>
    </p:spTree>
    <p:extLst>
      <p:ext uri="{BB962C8B-B14F-4D97-AF65-F5344CB8AC3E}">
        <p14:creationId xmlns:p14="http://schemas.microsoft.com/office/powerpoint/2010/main" val="246521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Some community houses and libraries have information sharing programs. If you have IT skills, you can approach the library or your local community house and ask how you can help</a:t>
            </a:r>
            <a:endParaRPr/>
          </a:p>
          <a:p>
            <a:pPr marL="0" lvl="0" indent="0" algn="l" rtl="0">
              <a:spcBef>
                <a:spcPts val="0"/>
              </a:spcBef>
              <a:spcAft>
                <a:spcPts val="0"/>
              </a:spcAft>
              <a:buNone/>
            </a:pPr>
            <a:endParaRPr/>
          </a:p>
        </p:txBody>
      </p:sp>
      <p:sp>
        <p:nvSpPr>
          <p:cNvPr id="194" name="Google Shape;194;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16</a:t>
            </a:fld>
            <a:endParaRPr/>
          </a:p>
        </p:txBody>
      </p:sp>
    </p:spTree>
    <p:extLst>
      <p:ext uri="{BB962C8B-B14F-4D97-AF65-F5344CB8AC3E}">
        <p14:creationId xmlns:p14="http://schemas.microsoft.com/office/powerpoint/2010/main" val="1181298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17</a:t>
            </a:fld>
            <a:endParaRPr/>
          </a:p>
        </p:txBody>
      </p:sp>
    </p:spTree>
    <p:extLst>
      <p:ext uri="{BB962C8B-B14F-4D97-AF65-F5344CB8AC3E}">
        <p14:creationId xmlns:p14="http://schemas.microsoft.com/office/powerpoint/2010/main" val="1643952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19</a:t>
            </a:fld>
            <a:endParaRPr/>
          </a:p>
        </p:txBody>
      </p:sp>
    </p:spTree>
    <p:extLst>
      <p:ext uri="{BB962C8B-B14F-4D97-AF65-F5344CB8AC3E}">
        <p14:creationId xmlns:p14="http://schemas.microsoft.com/office/powerpoint/2010/main" val="3988682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20</a:t>
            </a:fld>
            <a:endParaRPr/>
          </a:p>
        </p:txBody>
      </p:sp>
    </p:spTree>
    <p:extLst>
      <p:ext uri="{BB962C8B-B14F-4D97-AF65-F5344CB8AC3E}">
        <p14:creationId xmlns:p14="http://schemas.microsoft.com/office/powerpoint/2010/main" val="3654574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21</a:t>
            </a:fld>
            <a:endParaRPr/>
          </a:p>
        </p:txBody>
      </p:sp>
    </p:spTree>
    <p:extLst>
      <p:ext uri="{BB962C8B-B14F-4D97-AF65-F5344CB8AC3E}">
        <p14:creationId xmlns:p14="http://schemas.microsoft.com/office/powerpoint/2010/main" val="3105284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22</a:t>
            </a:fld>
            <a:endParaRPr/>
          </a:p>
        </p:txBody>
      </p:sp>
    </p:spTree>
    <p:extLst>
      <p:ext uri="{BB962C8B-B14F-4D97-AF65-F5344CB8AC3E}">
        <p14:creationId xmlns:p14="http://schemas.microsoft.com/office/powerpoint/2010/main" val="1074461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23</a:t>
            </a:fld>
            <a:endParaRPr/>
          </a:p>
        </p:txBody>
      </p:sp>
    </p:spTree>
    <p:extLst>
      <p:ext uri="{BB962C8B-B14F-4D97-AF65-F5344CB8AC3E}">
        <p14:creationId xmlns:p14="http://schemas.microsoft.com/office/powerpoint/2010/main" val="1889248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24</a:t>
            </a:fld>
            <a:endParaRPr/>
          </a:p>
        </p:txBody>
      </p:sp>
    </p:spTree>
    <p:extLst>
      <p:ext uri="{BB962C8B-B14F-4D97-AF65-F5344CB8AC3E}">
        <p14:creationId xmlns:p14="http://schemas.microsoft.com/office/powerpoint/2010/main" val="1714454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25</a:t>
            </a:fld>
            <a:endParaRPr/>
          </a:p>
        </p:txBody>
      </p:sp>
    </p:spTree>
    <p:extLst>
      <p:ext uri="{BB962C8B-B14F-4D97-AF65-F5344CB8AC3E}">
        <p14:creationId xmlns:p14="http://schemas.microsoft.com/office/powerpoint/2010/main" val="2483504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26</a:t>
            </a:fld>
            <a:endParaRPr/>
          </a:p>
        </p:txBody>
      </p:sp>
    </p:spTree>
    <p:extLst>
      <p:ext uri="{BB962C8B-B14F-4D97-AF65-F5344CB8AC3E}">
        <p14:creationId xmlns:p14="http://schemas.microsoft.com/office/powerpoint/2010/main" val="42265671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27</a:t>
            </a:fld>
            <a:endParaRPr/>
          </a:p>
        </p:txBody>
      </p:sp>
    </p:spTree>
    <p:extLst>
      <p:ext uri="{BB962C8B-B14F-4D97-AF65-F5344CB8AC3E}">
        <p14:creationId xmlns:p14="http://schemas.microsoft.com/office/powerpoint/2010/main" val="12295694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28</a:t>
            </a:fld>
            <a:endParaRPr/>
          </a:p>
        </p:txBody>
      </p:sp>
    </p:spTree>
    <p:extLst>
      <p:ext uri="{BB962C8B-B14F-4D97-AF65-F5344CB8AC3E}">
        <p14:creationId xmlns:p14="http://schemas.microsoft.com/office/powerpoint/2010/main" val="31689212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You should get the same tea breaks and lunch breaks as paid workers. Treat it like any paid job. Arrive on time. Turn up on time. Let people know if you are sick and cannot come in.</a:t>
            </a:r>
            <a:endParaRPr/>
          </a:p>
          <a:p>
            <a:pPr marL="0" lvl="0" indent="0" algn="l" rtl="0">
              <a:spcBef>
                <a:spcPts val="0"/>
              </a:spcBef>
              <a:spcAft>
                <a:spcPts val="0"/>
              </a:spcAft>
              <a:buNone/>
            </a:pPr>
            <a:endParaRPr/>
          </a:p>
        </p:txBody>
      </p:sp>
      <p:sp>
        <p:nvSpPr>
          <p:cNvPr id="306" name="Google Shape;306;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29</a:t>
            </a:fld>
            <a:endParaRPr/>
          </a:p>
        </p:txBody>
      </p:sp>
    </p:spTree>
    <p:extLst>
      <p:ext uri="{BB962C8B-B14F-4D97-AF65-F5344CB8AC3E}">
        <p14:creationId xmlns:p14="http://schemas.microsoft.com/office/powerpoint/2010/main" val="40540552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Explain each point as it presents.</a:t>
            </a:r>
            <a:endParaRPr/>
          </a:p>
          <a:p>
            <a:pPr marL="0" lvl="0" indent="0" algn="l" rtl="0">
              <a:spcBef>
                <a:spcPts val="0"/>
              </a:spcBef>
              <a:spcAft>
                <a:spcPts val="0"/>
              </a:spcAft>
              <a:buNone/>
            </a:pPr>
            <a:endParaRPr/>
          </a:p>
        </p:txBody>
      </p:sp>
      <p:sp>
        <p:nvSpPr>
          <p:cNvPr id="317" name="Google Shape;317;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30</a:t>
            </a:fld>
            <a:endParaRPr/>
          </a:p>
        </p:txBody>
      </p:sp>
    </p:spTree>
    <p:extLst>
      <p:ext uri="{BB962C8B-B14F-4D97-AF65-F5344CB8AC3E}">
        <p14:creationId xmlns:p14="http://schemas.microsoft.com/office/powerpoint/2010/main" val="2864379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31</a:t>
            </a:fld>
            <a:endParaRPr/>
          </a:p>
        </p:txBody>
      </p:sp>
    </p:spTree>
    <p:extLst>
      <p:ext uri="{BB962C8B-B14F-4D97-AF65-F5344CB8AC3E}">
        <p14:creationId xmlns:p14="http://schemas.microsoft.com/office/powerpoint/2010/main" val="39959699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32</a:t>
            </a:fld>
            <a:endParaRPr/>
          </a:p>
        </p:txBody>
      </p:sp>
    </p:spTree>
    <p:extLst>
      <p:ext uri="{BB962C8B-B14F-4D97-AF65-F5344CB8AC3E}">
        <p14:creationId xmlns:p14="http://schemas.microsoft.com/office/powerpoint/2010/main" val="22986541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33</a:t>
            </a:fld>
            <a:endParaRPr/>
          </a:p>
        </p:txBody>
      </p:sp>
    </p:spTree>
    <p:extLst>
      <p:ext uri="{BB962C8B-B14F-4D97-AF65-F5344CB8AC3E}">
        <p14:creationId xmlns:p14="http://schemas.microsoft.com/office/powerpoint/2010/main" val="2875104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34</a:t>
            </a:fld>
            <a:endParaRPr/>
          </a:p>
        </p:txBody>
      </p:sp>
    </p:spTree>
    <p:extLst>
      <p:ext uri="{BB962C8B-B14F-4D97-AF65-F5344CB8AC3E}">
        <p14:creationId xmlns:p14="http://schemas.microsoft.com/office/powerpoint/2010/main" val="24909482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36</a:t>
            </a:fld>
            <a:endParaRPr/>
          </a:p>
        </p:txBody>
      </p:sp>
    </p:spTree>
    <p:extLst>
      <p:ext uri="{BB962C8B-B14F-4D97-AF65-F5344CB8AC3E}">
        <p14:creationId xmlns:p14="http://schemas.microsoft.com/office/powerpoint/2010/main" val="11364512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37</a:t>
            </a:fld>
            <a:endParaRPr/>
          </a:p>
        </p:txBody>
      </p:sp>
    </p:spTree>
    <p:extLst>
      <p:ext uri="{BB962C8B-B14F-4D97-AF65-F5344CB8AC3E}">
        <p14:creationId xmlns:p14="http://schemas.microsoft.com/office/powerpoint/2010/main" val="42069212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8018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18050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4732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48</a:t>
            </a:fld>
            <a:endParaRPr/>
          </a:p>
        </p:txBody>
      </p:sp>
    </p:spTree>
    <p:extLst>
      <p:ext uri="{BB962C8B-B14F-4D97-AF65-F5344CB8AC3E}">
        <p14:creationId xmlns:p14="http://schemas.microsoft.com/office/powerpoint/2010/main" val="30225950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49</a:t>
            </a:fld>
            <a:endParaRPr/>
          </a:p>
        </p:txBody>
      </p:sp>
    </p:spTree>
    <p:extLst>
      <p:ext uri="{BB962C8B-B14F-4D97-AF65-F5344CB8AC3E}">
        <p14:creationId xmlns:p14="http://schemas.microsoft.com/office/powerpoint/2010/main" val="35079688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5022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5" name="Google Shape;475;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51</a:t>
            </a:fld>
            <a:endParaRPr/>
          </a:p>
        </p:txBody>
      </p:sp>
    </p:spTree>
    <p:extLst>
      <p:ext uri="{BB962C8B-B14F-4D97-AF65-F5344CB8AC3E}">
        <p14:creationId xmlns:p14="http://schemas.microsoft.com/office/powerpoint/2010/main" val="14087293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53</a:t>
            </a:fld>
            <a:endParaRPr/>
          </a:p>
        </p:txBody>
      </p:sp>
    </p:spTree>
    <p:extLst>
      <p:ext uri="{BB962C8B-B14F-4D97-AF65-F5344CB8AC3E}">
        <p14:creationId xmlns:p14="http://schemas.microsoft.com/office/powerpoint/2010/main" val="26713779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54</a:t>
            </a:fld>
            <a:endParaRPr/>
          </a:p>
        </p:txBody>
      </p:sp>
    </p:spTree>
    <p:extLst>
      <p:ext uri="{BB962C8B-B14F-4D97-AF65-F5344CB8AC3E}">
        <p14:creationId xmlns:p14="http://schemas.microsoft.com/office/powerpoint/2010/main" val="37603960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55</a:t>
            </a:fld>
            <a:endParaRPr/>
          </a:p>
        </p:txBody>
      </p:sp>
    </p:spTree>
    <p:extLst>
      <p:ext uri="{BB962C8B-B14F-4D97-AF65-F5344CB8AC3E}">
        <p14:creationId xmlns:p14="http://schemas.microsoft.com/office/powerpoint/2010/main" val="2295976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57</a:t>
            </a:fld>
            <a:endParaRPr/>
          </a:p>
        </p:txBody>
      </p:sp>
    </p:spTree>
    <p:extLst>
      <p:ext uri="{BB962C8B-B14F-4D97-AF65-F5344CB8AC3E}">
        <p14:creationId xmlns:p14="http://schemas.microsoft.com/office/powerpoint/2010/main" val="6157474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9" name="Google Shape;549;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58</a:t>
            </a:fld>
            <a:endParaRPr/>
          </a:p>
        </p:txBody>
      </p:sp>
    </p:spTree>
    <p:extLst>
      <p:ext uri="{BB962C8B-B14F-4D97-AF65-F5344CB8AC3E}">
        <p14:creationId xmlns:p14="http://schemas.microsoft.com/office/powerpoint/2010/main" val="7303006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9" name="Google Shape;559;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59</a:t>
            </a:fld>
            <a:endParaRPr/>
          </a:p>
        </p:txBody>
      </p:sp>
    </p:spTree>
    <p:extLst>
      <p:ext uri="{BB962C8B-B14F-4D97-AF65-F5344CB8AC3E}">
        <p14:creationId xmlns:p14="http://schemas.microsoft.com/office/powerpoint/2010/main" val="15095289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9" name="Google Shape;569;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85304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408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3"/>
        <p:cNvGrpSpPr/>
        <p:nvPr/>
      </p:nvGrpSpPr>
      <p:grpSpPr>
        <a:xfrm>
          <a:off x="0" y="0"/>
          <a:ext cx="0" cy="0"/>
          <a:chOff x="0" y="0"/>
          <a:chExt cx="0" cy="0"/>
        </a:xfrm>
      </p:grpSpPr>
      <p:sp>
        <p:nvSpPr>
          <p:cNvPr id="14" name="Google Shape;14;p6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2C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6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F2C3F"/>
              </a:buClr>
              <a:buSzPts val="1800"/>
              <a:buChar char="•"/>
              <a:defRPr/>
            </a:lvl1pPr>
            <a:lvl2pPr marL="914400" lvl="1" indent="-342900" algn="l">
              <a:lnSpc>
                <a:spcPct val="90000"/>
              </a:lnSpc>
              <a:spcBef>
                <a:spcPts val="500"/>
              </a:spcBef>
              <a:spcAft>
                <a:spcPts val="0"/>
              </a:spcAft>
              <a:buClr>
                <a:srgbClr val="1F2C3F"/>
              </a:buClr>
              <a:buSzPts val="1800"/>
              <a:buChar char="•"/>
              <a:defRPr/>
            </a:lvl2pPr>
            <a:lvl3pPr marL="1371600" lvl="2" indent="-342900" algn="l">
              <a:lnSpc>
                <a:spcPct val="90000"/>
              </a:lnSpc>
              <a:spcBef>
                <a:spcPts val="500"/>
              </a:spcBef>
              <a:spcAft>
                <a:spcPts val="0"/>
              </a:spcAft>
              <a:buClr>
                <a:srgbClr val="1F2C3F"/>
              </a:buClr>
              <a:buSzPts val="1800"/>
              <a:buChar char="•"/>
              <a:defRPr/>
            </a:lvl3pPr>
            <a:lvl4pPr marL="1828800" lvl="3" indent="-342900" algn="l">
              <a:lnSpc>
                <a:spcPct val="90000"/>
              </a:lnSpc>
              <a:spcBef>
                <a:spcPts val="500"/>
              </a:spcBef>
              <a:spcAft>
                <a:spcPts val="0"/>
              </a:spcAft>
              <a:buClr>
                <a:srgbClr val="1F2C3F"/>
              </a:buClr>
              <a:buSzPts val="1800"/>
              <a:buChar char="•"/>
              <a:defRPr/>
            </a:lvl4pPr>
            <a:lvl5pPr marL="2286000" lvl="4" indent="-342900" algn="l">
              <a:lnSpc>
                <a:spcPct val="90000"/>
              </a:lnSpc>
              <a:spcBef>
                <a:spcPts val="500"/>
              </a:spcBef>
              <a:spcAft>
                <a:spcPts val="0"/>
              </a:spcAft>
              <a:buClr>
                <a:srgbClr val="1F2C3F"/>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 name="Google Shape;16;p60"/>
          <p:cNvSpPr txBox="1">
            <a:spLocks noGrp="1"/>
          </p:cNvSpPr>
          <p:nvPr>
            <p:ph type="dt" idx="10"/>
          </p:nvPr>
        </p:nvSpPr>
        <p:spPr>
          <a:xfrm>
            <a:off x="5629835" y="6275668"/>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60"/>
          <p:cNvSpPr txBox="1">
            <a:spLocks noGrp="1"/>
          </p:cNvSpPr>
          <p:nvPr>
            <p:ph type="ftr" idx="11"/>
          </p:nvPr>
        </p:nvSpPr>
        <p:spPr>
          <a:xfrm>
            <a:off x="264458" y="6275668"/>
            <a:ext cx="4840941"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60"/>
          <p:cNvSpPr txBox="1">
            <a:spLocks noGrp="1"/>
          </p:cNvSpPr>
          <p:nvPr>
            <p:ph type="sldNum" idx="12"/>
          </p:nvPr>
        </p:nvSpPr>
        <p:spPr>
          <a:xfrm>
            <a:off x="7897906" y="6275668"/>
            <a:ext cx="990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9"/>
        <p:cNvGrpSpPr/>
        <p:nvPr/>
      </p:nvGrpSpPr>
      <p:grpSpPr>
        <a:xfrm>
          <a:off x="0" y="0"/>
          <a:ext cx="0" cy="0"/>
          <a:chOff x="0" y="0"/>
          <a:chExt cx="0" cy="0"/>
        </a:xfrm>
      </p:grpSpPr>
      <p:sp>
        <p:nvSpPr>
          <p:cNvPr id="20" name="Google Shape;20;p61">
            <a:hlinkClick r:id="rId2" action="ppaction://hlinksldjump"/>
          </p:cNvPr>
          <p:cNvSpPr/>
          <p:nvPr/>
        </p:nvSpPr>
        <p:spPr>
          <a:xfrm rot="5400000">
            <a:off x="4601041" y="804819"/>
            <a:ext cx="1903296" cy="750859"/>
          </a:xfrm>
          <a:prstGeom prst="roundRect">
            <a:avLst>
              <a:gd name="adj" fmla="val 16667"/>
            </a:avLst>
          </a:prstGeom>
          <a:solidFill>
            <a:srgbClr val="D67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21" name="Google Shape;21;p61"/>
          <p:cNvPicPr preferRelativeResize="0"/>
          <p:nvPr/>
        </p:nvPicPr>
        <p:blipFill rotWithShape="1">
          <a:blip r:embed="rId3">
            <a:alphaModFix/>
          </a:blip>
          <a:srcRect l="-28409" t="62846" r="25023" b="16767"/>
          <a:stretch/>
        </p:blipFill>
        <p:spPr>
          <a:xfrm>
            <a:off x="3757482" y="228601"/>
            <a:ext cx="2170636" cy="778953"/>
          </a:xfrm>
          <a:prstGeom prst="rect">
            <a:avLst/>
          </a:prstGeom>
          <a:noFill/>
          <a:ln>
            <a:noFill/>
          </a:ln>
        </p:spPr>
      </p:pic>
      <p:sp>
        <p:nvSpPr>
          <p:cNvPr id="22" name="Google Shape;22;p61">
            <a:hlinkClick r:id="rId2" action="ppaction://hlinksldjump"/>
          </p:cNvPr>
          <p:cNvSpPr/>
          <p:nvPr/>
        </p:nvSpPr>
        <p:spPr>
          <a:xfrm rot="5400000">
            <a:off x="5426309" y="730410"/>
            <a:ext cx="1811721" cy="808104"/>
          </a:xfrm>
          <a:prstGeom prst="roundRect">
            <a:avLst>
              <a:gd name="adj" fmla="val 16667"/>
            </a:avLst>
          </a:prstGeom>
          <a:solidFill>
            <a:srgbClr val="5E25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3" name="Google Shape;23;p61">
            <a:hlinkClick r:id="rId2" action="ppaction://hlinksldjump"/>
          </p:cNvPr>
          <p:cNvSpPr/>
          <p:nvPr/>
        </p:nvSpPr>
        <p:spPr>
          <a:xfrm rot="5400000">
            <a:off x="6969140" y="803786"/>
            <a:ext cx="1958476" cy="808104"/>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4" name="Google Shape;24;p61">
            <a:hlinkClick r:id="rId2" action="ppaction://hlinksldjump"/>
          </p:cNvPr>
          <p:cNvSpPr/>
          <p:nvPr/>
        </p:nvSpPr>
        <p:spPr>
          <a:xfrm rot="5400000">
            <a:off x="6155897" y="808926"/>
            <a:ext cx="1968753" cy="808104"/>
          </a:xfrm>
          <a:prstGeom prst="roundRect">
            <a:avLst>
              <a:gd name="adj" fmla="val 16667"/>
            </a:avLst>
          </a:prstGeom>
          <a:solidFill>
            <a:srgbClr val="9C305E">
              <a:alpha val="60784"/>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5" name="Google Shape;25;p61"/>
          <p:cNvSpPr/>
          <p:nvPr/>
        </p:nvSpPr>
        <p:spPr>
          <a:xfrm>
            <a:off x="845907" y="1007553"/>
            <a:ext cx="7506523" cy="5135077"/>
          </a:xfrm>
          <a:prstGeom prst="roundRect">
            <a:avLst>
              <a:gd name="adj" fmla="val 2495"/>
            </a:avLst>
          </a:prstGeom>
          <a:solidFill>
            <a:schemeClr val="lt1"/>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r>
              <a:rPr lang="fr-FR" sz="1800">
                <a:solidFill>
                  <a:srgbClr val="FFFFFF"/>
                </a:solidFill>
                <a:latin typeface="Calibri"/>
                <a:ea typeface="Calibri"/>
                <a:cs typeface="Calibri"/>
                <a:sym typeface="Calibri"/>
              </a:rPr>
              <a:t>A volunteer is someone who gives their time to help people in their community or to help on community projects.  </a:t>
            </a:r>
            <a:endParaRPr/>
          </a:p>
          <a:p>
            <a:pPr marL="114300" marR="0" lvl="0" indent="0" algn="l" rtl="0">
              <a:spcBef>
                <a:spcPts val="0"/>
              </a:spcBef>
              <a:spcAft>
                <a:spcPts val="0"/>
              </a:spcAft>
              <a:buNone/>
            </a:pPr>
            <a:endParaRPr sz="1800">
              <a:solidFill>
                <a:srgbClr val="FFFFFF"/>
              </a:solidFill>
              <a:latin typeface="Calibri"/>
              <a:ea typeface="Calibri"/>
              <a:cs typeface="Calibri"/>
              <a:sym typeface="Calibri"/>
            </a:endParaRPr>
          </a:p>
          <a:p>
            <a:pPr marL="0" marR="0" lvl="0" indent="0" algn="l" rtl="0">
              <a:spcBef>
                <a:spcPts val="0"/>
              </a:spcBef>
              <a:spcAft>
                <a:spcPts val="0"/>
              </a:spcAft>
              <a:buNone/>
            </a:pPr>
            <a:r>
              <a:rPr lang="fr-FR" sz="1800">
                <a:solidFill>
                  <a:srgbClr val="FFFFFF"/>
                </a:solidFill>
                <a:latin typeface="Calibri"/>
                <a:ea typeface="Calibri"/>
                <a:cs typeface="Calibri"/>
                <a:sym typeface="Calibri"/>
              </a:rPr>
              <a:t>A volunteer might give one or two hours per week, or per fortnight or per month, to help others.</a:t>
            </a:r>
            <a:endParaRPr/>
          </a:p>
          <a:p>
            <a:pPr marL="0" marR="0" lvl="0" indent="0" algn="l" rtl="0">
              <a:spcBef>
                <a:spcPts val="0"/>
              </a:spcBef>
              <a:spcAft>
                <a:spcPts val="0"/>
              </a:spcAft>
              <a:buNone/>
            </a:pPr>
            <a:endParaRPr sz="1800">
              <a:solidFill>
                <a:srgbClr val="FFFFFF"/>
              </a:solidFill>
              <a:latin typeface="Calibri"/>
              <a:ea typeface="Calibri"/>
              <a:cs typeface="Calibri"/>
              <a:sym typeface="Calibri"/>
            </a:endParaRPr>
          </a:p>
          <a:p>
            <a:pPr marL="0" marR="0" lvl="0" indent="0" algn="l" rtl="0">
              <a:spcBef>
                <a:spcPts val="0"/>
              </a:spcBef>
              <a:spcAft>
                <a:spcPts val="0"/>
              </a:spcAft>
              <a:buNone/>
            </a:pPr>
            <a:r>
              <a:rPr lang="fr-FR" sz="1800">
                <a:solidFill>
                  <a:srgbClr val="FFFFFF"/>
                </a:solidFill>
                <a:latin typeface="Calibri"/>
                <a:ea typeface="Calibri"/>
                <a:cs typeface="Calibri"/>
                <a:sym typeface="Calibri"/>
              </a:rPr>
              <a:t>A volunteer does not get paid for this service.</a:t>
            </a:r>
            <a:endParaRPr/>
          </a:p>
        </p:txBody>
      </p:sp>
      <p:sp>
        <p:nvSpPr>
          <p:cNvPr id="26" name="Google Shape;26;p61"/>
          <p:cNvSpPr/>
          <p:nvPr/>
        </p:nvSpPr>
        <p:spPr>
          <a:xfrm>
            <a:off x="845908" y="228601"/>
            <a:ext cx="3831863" cy="776335"/>
          </a:xfrm>
          <a:custGeom>
            <a:avLst/>
            <a:gdLst/>
            <a:ahLst/>
            <a:cxnLst/>
            <a:rect l="l" t="t" r="r" b="b"/>
            <a:pathLst>
              <a:path w="7179398" h="776335" extrusionOk="0">
                <a:moveTo>
                  <a:pt x="12826" y="157799"/>
                </a:moveTo>
                <a:cubicBezTo>
                  <a:pt x="12826" y="70649"/>
                  <a:pt x="83475" y="0"/>
                  <a:pt x="170625" y="0"/>
                </a:cubicBezTo>
                <a:lnTo>
                  <a:pt x="7017827" y="0"/>
                </a:lnTo>
                <a:cubicBezTo>
                  <a:pt x="7104977" y="0"/>
                  <a:pt x="7175626" y="70649"/>
                  <a:pt x="7175626" y="157799"/>
                </a:cubicBezTo>
                <a:cubicBezTo>
                  <a:pt x="7176883" y="394156"/>
                  <a:pt x="7178141" y="539977"/>
                  <a:pt x="7179398" y="776334"/>
                </a:cubicBezTo>
                <a:lnTo>
                  <a:pt x="0" y="776335"/>
                </a:lnTo>
                <a:lnTo>
                  <a:pt x="12826" y="157799"/>
                </a:lnTo>
                <a:close/>
              </a:path>
            </a:pathLst>
          </a:custGeom>
          <a:solidFill>
            <a:srgbClr val="3F192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7" name="Google Shape;27;p61"/>
          <p:cNvSpPr txBox="1"/>
          <p:nvPr/>
        </p:nvSpPr>
        <p:spPr>
          <a:xfrm>
            <a:off x="1300032" y="432101"/>
            <a:ext cx="24574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What is a volunteer? </a:t>
            </a:r>
            <a:endParaRPr sz="1800">
              <a:solidFill>
                <a:srgbClr val="FFFFFF"/>
              </a:solidFill>
              <a:latin typeface="Open Sans SemiBold"/>
              <a:ea typeface="Open Sans SemiBold"/>
              <a:cs typeface="Open Sans SemiBold"/>
              <a:sym typeface="Open Sans SemiBold"/>
            </a:endParaRPr>
          </a:p>
        </p:txBody>
      </p:sp>
      <p:sp>
        <p:nvSpPr>
          <p:cNvPr id="28" name="Google Shape;28;p61"/>
          <p:cNvSpPr txBox="1"/>
          <p:nvPr/>
        </p:nvSpPr>
        <p:spPr>
          <a:xfrm>
            <a:off x="1300032" y="1660801"/>
            <a:ext cx="3271969" cy="397031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000000"/>
              </a:buClr>
              <a:buSzPts val="1800"/>
              <a:buFont typeface="Arial"/>
              <a:buChar char="•"/>
            </a:pPr>
            <a:r>
              <a:rPr lang="fr-FR" sz="1800">
                <a:solidFill>
                  <a:srgbClr val="000000"/>
                </a:solidFill>
                <a:latin typeface="Calibri"/>
                <a:ea typeface="Calibri"/>
                <a:cs typeface="Calibri"/>
                <a:sym typeface="Calibri"/>
              </a:rPr>
              <a:t>A volunteer is someone who gives their time to help people in their community or to help on community projects.  </a:t>
            </a:r>
            <a:endParaRPr/>
          </a:p>
          <a:p>
            <a:pPr marL="400050" marR="0" lvl="0" indent="-171450" algn="l" rtl="0">
              <a:spcBef>
                <a:spcPts val="0"/>
              </a:spcBef>
              <a:spcAft>
                <a:spcPts val="0"/>
              </a:spcAft>
              <a:buClr>
                <a:schemeClr val="dk1"/>
              </a:buClr>
              <a:buSzPts val="1800"/>
              <a:buFont typeface="Arial"/>
              <a:buNone/>
            </a:pPr>
            <a:endParaRPr sz="1800">
              <a:solidFill>
                <a:srgbClr val="000000"/>
              </a:solidFill>
              <a:latin typeface="Calibri"/>
              <a:ea typeface="Calibri"/>
              <a:cs typeface="Calibri"/>
              <a:sym typeface="Calibri"/>
            </a:endParaRPr>
          </a:p>
          <a:p>
            <a:pPr marL="285750" marR="0" lvl="0" indent="-285750" algn="l" rtl="0">
              <a:spcBef>
                <a:spcPts val="0"/>
              </a:spcBef>
              <a:spcAft>
                <a:spcPts val="0"/>
              </a:spcAft>
              <a:buClr>
                <a:srgbClr val="000000"/>
              </a:buClr>
              <a:buSzPts val="1800"/>
              <a:buFont typeface="Arial"/>
              <a:buChar char="•"/>
            </a:pPr>
            <a:r>
              <a:rPr lang="fr-FR" sz="1800">
                <a:solidFill>
                  <a:srgbClr val="000000"/>
                </a:solidFill>
                <a:latin typeface="Calibri"/>
                <a:ea typeface="Calibri"/>
                <a:cs typeface="Calibri"/>
                <a:sym typeface="Calibri"/>
              </a:rPr>
              <a:t>A volunteer might give one or two hours per week, or per fortnight or per month, to help others.</a:t>
            </a:r>
            <a:endParaRPr/>
          </a:p>
          <a:p>
            <a:pPr marL="285750" marR="0" lvl="0" indent="-171450" algn="l" rtl="0">
              <a:spcBef>
                <a:spcPts val="0"/>
              </a:spcBef>
              <a:spcAft>
                <a:spcPts val="0"/>
              </a:spcAft>
              <a:buClr>
                <a:schemeClr val="dk1"/>
              </a:buClr>
              <a:buSzPts val="1800"/>
              <a:buFont typeface="Arial"/>
              <a:buNone/>
            </a:pPr>
            <a:endParaRPr sz="1800">
              <a:solidFill>
                <a:srgbClr val="000000"/>
              </a:solidFill>
              <a:latin typeface="Calibri"/>
              <a:ea typeface="Calibri"/>
              <a:cs typeface="Calibri"/>
              <a:sym typeface="Calibri"/>
            </a:endParaRPr>
          </a:p>
          <a:p>
            <a:pPr marL="285750" marR="0" lvl="0" indent="-285750" algn="l" rtl="0">
              <a:spcBef>
                <a:spcPts val="0"/>
              </a:spcBef>
              <a:spcAft>
                <a:spcPts val="0"/>
              </a:spcAft>
              <a:buClr>
                <a:srgbClr val="000000"/>
              </a:buClr>
              <a:buSzPts val="1800"/>
              <a:buFont typeface="Arial"/>
              <a:buChar char="•"/>
            </a:pPr>
            <a:r>
              <a:rPr lang="fr-FR" sz="1800">
                <a:solidFill>
                  <a:srgbClr val="000000"/>
                </a:solidFill>
                <a:latin typeface="Calibri"/>
                <a:ea typeface="Calibri"/>
                <a:cs typeface="Calibri"/>
                <a:sym typeface="Calibri"/>
              </a:rPr>
              <a:t>A volunteer does not get paid for this service.</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61"/>
          <p:cNvSpPr/>
          <p:nvPr/>
        </p:nvSpPr>
        <p:spPr>
          <a:xfrm>
            <a:off x="4599168" y="235033"/>
            <a:ext cx="578091" cy="580048"/>
          </a:xfrm>
          <a:prstGeom prst="roundRect">
            <a:avLst>
              <a:gd name="adj" fmla="val 16667"/>
            </a:avLst>
          </a:prstGeom>
          <a:solidFill>
            <a:srgbClr val="3F192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30"/>
        <p:cNvGrpSpPr/>
        <p:nvPr/>
      </p:nvGrpSpPr>
      <p:grpSpPr>
        <a:xfrm>
          <a:off x="0" y="0"/>
          <a:ext cx="0" cy="0"/>
          <a:chOff x="0" y="0"/>
          <a:chExt cx="0" cy="0"/>
        </a:xfrm>
      </p:grpSpPr>
      <p:sp>
        <p:nvSpPr>
          <p:cNvPr id="31" name="Google Shape;31;p6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2C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32"/>
        <p:cNvGrpSpPr/>
        <p:nvPr/>
      </p:nvGrpSpPr>
      <p:grpSpPr>
        <a:xfrm>
          <a:off x="0" y="0"/>
          <a:ext cx="0" cy="0"/>
          <a:chOff x="0" y="0"/>
          <a:chExt cx="0" cy="0"/>
        </a:xfrm>
      </p:grpSpPr>
      <p:sp>
        <p:nvSpPr>
          <p:cNvPr id="33" name="Google Shape;33;p6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2C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F2C3F"/>
              </a:buClr>
              <a:buSzPts val="4400"/>
              <a:buFont typeface="Bebas Neue"/>
              <a:buNone/>
              <a:defRPr sz="4400" b="1" i="0" u="none" strike="noStrike" cap="none">
                <a:solidFill>
                  <a:srgbClr val="1F2C3F"/>
                </a:solidFill>
                <a:latin typeface="Bebas Neue"/>
                <a:ea typeface="Bebas Neue"/>
                <a:cs typeface="Bebas Neue"/>
                <a:sym typeface="Bebas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1F2C3F"/>
              </a:buClr>
              <a:buSzPts val="2800"/>
              <a:buFont typeface="Arial"/>
              <a:buChar char="•"/>
              <a:defRPr sz="2800" b="0" i="0" u="none" strike="noStrike" cap="none">
                <a:solidFill>
                  <a:srgbClr val="1F2C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1F2C3F"/>
              </a:buClr>
              <a:buSzPts val="2400"/>
              <a:buFont typeface="Arial"/>
              <a:buChar char="•"/>
              <a:defRPr sz="2400" b="0" i="0" u="none" strike="noStrike" cap="none">
                <a:solidFill>
                  <a:srgbClr val="1F2C3F"/>
                </a:solidFill>
                <a:latin typeface="Calibri"/>
                <a:ea typeface="Calibri"/>
                <a:cs typeface="Calibri"/>
                <a:sym typeface="Calibri"/>
              </a:defRPr>
            </a:lvl2pPr>
            <a:lvl3pPr marL="1371600" marR="0" lvl="2" indent="-355600" algn="l" rtl="0">
              <a:lnSpc>
                <a:spcPct val="90000"/>
              </a:lnSpc>
              <a:spcBef>
                <a:spcPts val="500"/>
              </a:spcBef>
              <a:spcAft>
                <a:spcPts val="0"/>
              </a:spcAft>
              <a:buClr>
                <a:srgbClr val="1F2C3F"/>
              </a:buClr>
              <a:buSzPts val="2000"/>
              <a:buFont typeface="Arial"/>
              <a:buChar char="•"/>
              <a:defRPr sz="2000" b="0" i="0" u="none" strike="noStrike" cap="none">
                <a:solidFill>
                  <a:srgbClr val="1F2C3F"/>
                </a:solidFill>
                <a:latin typeface="Calibri"/>
                <a:ea typeface="Calibri"/>
                <a:cs typeface="Calibri"/>
                <a:sym typeface="Calibri"/>
              </a:defRPr>
            </a:lvl3pPr>
            <a:lvl4pPr marL="1828800" marR="0" lvl="3" indent="-342900" algn="l" rtl="0">
              <a:lnSpc>
                <a:spcPct val="90000"/>
              </a:lnSpc>
              <a:spcBef>
                <a:spcPts val="500"/>
              </a:spcBef>
              <a:spcAft>
                <a:spcPts val="0"/>
              </a:spcAft>
              <a:buClr>
                <a:srgbClr val="1F2C3F"/>
              </a:buClr>
              <a:buSzPts val="1800"/>
              <a:buFont typeface="Arial"/>
              <a:buChar char="•"/>
              <a:defRPr sz="1800" b="0" i="0" u="none" strike="noStrike" cap="none">
                <a:solidFill>
                  <a:srgbClr val="1F2C3F"/>
                </a:solidFill>
                <a:latin typeface="Calibri"/>
                <a:ea typeface="Calibri"/>
                <a:cs typeface="Calibri"/>
                <a:sym typeface="Calibri"/>
              </a:defRPr>
            </a:lvl4pPr>
            <a:lvl5pPr marL="2286000" marR="0" lvl="4" indent="-342900" algn="l" rtl="0">
              <a:lnSpc>
                <a:spcPct val="90000"/>
              </a:lnSpc>
              <a:spcBef>
                <a:spcPts val="500"/>
              </a:spcBef>
              <a:spcAft>
                <a:spcPts val="0"/>
              </a:spcAft>
              <a:buClr>
                <a:srgbClr val="1F2C3F"/>
              </a:buClr>
              <a:buSzPts val="1800"/>
              <a:buFont typeface="Arial"/>
              <a:buChar char="•"/>
              <a:defRPr sz="1800" b="0" i="0" u="none" strike="noStrike" cap="none">
                <a:solidFill>
                  <a:srgbClr val="1F2C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3.gif"/></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3.gif"/></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hyperlink" Target="https://en.wikipedia.org/wiki/Nonprofit_organization" TargetMode="External"/><Relationship Id="rId4" Type="http://schemas.openxmlformats.org/officeDocument/2006/relationships/hyperlink" Target="https://en.wikipedia.org/wiki/Acronym"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
          <p:cNvSpPr txBox="1"/>
          <p:nvPr/>
        </p:nvSpPr>
        <p:spPr>
          <a:xfrm>
            <a:off x="-76200" y="2286000"/>
            <a:ext cx="4495800" cy="28194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None/>
            </a:pPr>
            <a:r>
              <a:rPr lang="fr-FR" sz="3200" b="1" i="1" u="sng" strike="noStrike" cap="none">
                <a:solidFill>
                  <a:srgbClr val="742446"/>
                </a:solidFill>
                <a:latin typeface="Arial"/>
                <a:ea typeface="Arial"/>
                <a:cs typeface="Arial"/>
                <a:sym typeface="Arial"/>
              </a:rPr>
              <a:t>ENGAGING</a:t>
            </a:r>
            <a:br>
              <a:rPr lang="fr-FR" sz="3200" b="1" i="1" u="sng" strike="noStrike" cap="none">
                <a:solidFill>
                  <a:srgbClr val="742446"/>
                </a:solidFill>
                <a:latin typeface="Arial"/>
                <a:ea typeface="Arial"/>
                <a:cs typeface="Arial"/>
                <a:sym typeface="Arial"/>
              </a:rPr>
            </a:br>
            <a:r>
              <a:rPr lang="fr-FR" sz="3200" b="1" i="1" u="sng" strike="noStrike" cap="none">
                <a:solidFill>
                  <a:srgbClr val="742446"/>
                </a:solidFill>
                <a:latin typeface="Arial"/>
                <a:ea typeface="Arial"/>
                <a:cs typeface="Arial"/>
                <a:sym typeface="Arial"/>
              </a:rPr>
              <a:t>WITH</a:t>
            </a:r>
            <a:br>
              <a:rPr lang="fr-FR" sz="3200" b="1" i="1" u="sng" strike="noStrike" cap="none">
                <a:solidFill>
                  <a:srgbClr val="742446"/>
                </a:solidFill>
                <a:latin typeface="Arial"/>
                <a:ea typeface="Arial"/>
                <a:cs typeface="Arial"/>
                <a:sym typeface="Arial"/>
              </a:rPr>
            </a:br>
            <a:r>
              <a:rPr lang="fr-FR" sz="3200" b="1" i="1" u="sng" strike="noStrike" cap="none">
                <a:solidFill>
                  <a:srgbClr val="742446"/>
                </a:solidFill>
                <a:latin typeface="Arial"/>
                <a:ea typeface="Arial"/>
                <a:cs typeface="Arial"/>
                <a:sym typeface="Arial"/>
              </a:rPr>
              <a:t>VOLUNTEERING</a:t>
            </a:r>
            <a:r>
              <a:rPr lang="fr-FR" sz="3200" b="1" i="0" u="none" strike="noStrike" cap="none">
                <a:solidFill>
                  <a:srgbClr val="742446"/>
                </a:solidFill>
                <a:latin typeface="Arial"/>
                <a:ea typeface="Arial"/>
                <a:cs typeface="Arial"/>
                <a:sym typeface="Arial"/>
              </a:rPr>
              <a:t> </a:t>
            </a:r>
            <a:endParaRPr/>
          </a:p>
          <a:p>
            <a:pPr marL="0" marR="0" lvl="0" indent="0" algn="ctr" rtl="0">
              <a:lnSpc>
                <a:spcPct val="115000"/>
              </a:lnSpc>
              <a:spcBef>
                <a:spcPts val="1000"/>
              </a:spcBef>
              <a:spcAft>
                <a:spcPts val="0"/>
              </a:spcAft>
              <a:buNone/>
            </a:pPr>
            <a:r>
              <a:rPr lang="fr-FR" sz="3200" b="1" i="0" u="none" strike="noStrike" cap="none">
                <a:solidFill>
                  <a:srgbClr val="A23330"/>
                </a:solidFill>
                <a:latin typeface="Arial"/>
                <a:ea typeface="Arial"/>
                <a:cs typeface="Arial"/>
                <a:sym typeface="Arial"/>
              </a:rPr>
              <a:t>CCCA3</a:t>
            </a:r>
            <a:endParaRPr/>
          </a:p>
          <a:p>
            <a:pPr marL="0" marR="0" lvl="0" indent="0" algn="ctr" rtl="0">
              <a:lnSpc>
                <a:spcPct val="115000"/>
              </a:lnSpc>
              <a:spcBef>
                <a:spcPts val="1000"/>
              </a:spcBef>
              <a:spcAft>
                <a:spcPts val="0"/>
              </a:spcAft>
              <a:buNone/>
            </a:pPr>
            <a:endParaRPr sz="3200" b="0" i="0" u="none" strike="noStrike" cap="none">
              <a:solidFill>
                <a:srgbClr val="000000"/>
              </a:solidFill>
              <a:latin typeface="Calibri"/>
              <a:ea typeface="Calibri"/>
              <a:cs typeface="Calibri"/>
              <a:sym typeface="Calibri"/>
            </a:endParaRPr>
          </a:p>
        </p:txBody>
      </p:sp>
      <p:pic>
        <p:nvPicPr>
          <p:cNvPr id="40" name="Google Shape;40;p1"/>
          <p:cNvPicPr preferRelativeResize="0"/>
          <p:nvPr/>
        </p:nvPicPr>
        <p:blipFill rotWithShape="1">
          <a:blip r:embed="rId3">
            <a:alphaModFix/>
          </a:blip>
          <a:srcRect/>
          <a:stretch/>
        </p:blipFill>
        <p:spPr>
          <a:xfrm>
            <a:off x="4073100" y="3429000"/>
            <a:ext cx="5070899" cy="3429000"/>
          </a:xfrm>
          <a:prstGeom prst="rect">
            <a:avLst/>
          </a:prstGeom>
          <a:noFill/>
          <a:ln>
            <a:noFill/>
          </a:ln>
        </p:spPr>
      </p:pic>
      <p:pic>
        <p:nvPicPr>
          <p:cNvPr id="41" name="Google Shape;41;p1"/>
          <p:cNvPicPr preferRelativeResize="0"/>
          <p:nvPr/>
        </p:nvPicPr>
        <p:blipFill rotWithShape="1">
          <a:blip r:embed="rId4">
            <a:alphaModFix/>
          </a:blip>
          <a:srcRect/>
          <a:stretch/>
        </p:blipFill>
        <p:spPr>
          <a:xfrm>
            <a:off x="-34496" y="17051"/>
            <a:ext cx="3082496" cy="1506949"/>
          </a:xfrm>
          <a:prstGeom prst="rect">
            <a:avLst/>
          </a:prstGeom>
          <a:solidFill>
            <a:schemeClr val="lt1">
              <a:alpha val="51764"/>
            </a:schemeClr>
          </a:solid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fade">
                                      <p:cBhvr>
                                        <p:cTn id="7" dur="5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
                                            <p:txEl>
                                              <p:pRg st="1" end="1"/>
                                            </p:txEl>
                                          </p:spTgt>
                                        </p:tgtEl>
                                        <p:attrNameLst>
                                          <p:attrName>style.visibility</p:attrName>
                                        </p:attrNameLst>
                                      </p:cBhvr>
                                      <p:to>
                                        <p:strVal val="visible"/>
                                      </p:to>
                                    </p:set>
                                    <p:animEffect transition="in" filter="fade">
                                      <p:cBhvr>
                                        <p:cTn id="12" dur="500"/>
                                        <p:tgtEl>
                                          <p:spTgt spid="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xEl>
                                              <p:pRg st="2" end="2"/>
                                            </p:txEl>
                                          </p:spTgt>
                                        </p:tgtEl>
                                        <p:attrNameLst>
                                          <p:attrName>style.visibility</p:attrName>
                                        </p:attrNameLst>
                                      </p:cBhvr>
                                      <p:to>
                                        <p:strVal val="visible"/>
                                      </p:to>
                                    </p:set>
                                    <p:animEffect transition="in" filter="fade">
                                      <p:cBhvr>
                                        <p:cTn id="17" dur="500"/>
                                        <p:tgtEl>
                                          <p:spTgt spid="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57" name="Google Shape;57;p3"/>
          <p:cNvPicPr preferRelativeResize="0"/>
          <p:nvPr/>
        </p:nvPicPr>
        <p:blipFill rotWithShape="1">
          <a:blip r:embed="rId3">
            <a:alphaModFix/>
          </a:blip>
          <a:srcRect/>
          <a:stretch/>
        </p:blipFill>
        <p:spPr>
          <a:xfrm>
            <a:off x="5875457" y="4647774"/>
            <a:ext cx="3268543" cy="2210226"/>
          </a:xfrm>
          <a:prstGeom prst="rect">
            <a:avLst/>
          </a:prstGeom>
          <a:noFill/>
          <a:ln>
            <a:noFill/>
          </a:ln>
        </p:spPr>
      </p:pic>
      <p:grpSp>
        <p:nvGrpSpPr>
          <p:cNvPr id="58" name="Google Shape;58;p3"/>
          <p:cNvGrpSpPr/>
          <p:nvPr/>
        </p:nvGrpSpPr>
        <p:grpSpPr>
          <a:xfrm>
            <a:off x="428857" y="485286"/>
            <a:ext cx="6086243" cy="565433"/>
            <a:chOff x="801127" y="403254"/>
            <a:chExt cx="4331352" cy="565433"/>
          </a:xfrm>
        </p:grpSpPr>
        <p:sp>
          <p:nvSpPr>
            <p:cNvPr id="59" name="Google Shape;59;p3"/>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60" name="Google Shape;60;p3"/>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Learning outcomes</a:t>
              </a:r>
              <a:endParaRPr/>
            </a:p>
          </p:txBody>
        </p:sp>
      </p:grpSp>
      <p:sp>
        <p:nvSpPr>
          <p:cNvPr id="61" name="Google Shape;61;p3"/>
          <p:cNvSpPr txBox="1"/>
          <p:nvPr/>
        </p:nvSpPr>
        <p:spPr>
          <a:xfrm>
            <a:off x="1058482" y="1842102"/>
            <a:ext cx="3970717" cy="234889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600" b="1" dirty="0">
                <a:solidFill>
                  <a:schemeClr val="dk2"/>
                </a:solidFill>
                <a:latin typeface="Calibri"/>
                <a:ea typeface="Calibri"/>
                <a:cs typeface="Calibri"/>
                <a:sym typeface="Calibri"/>
              </a:rPr>
              <a:t>By the end of </a:t>
            </a:r>
            <a:r>
              <a:rPr lang="fr-FR" sz="1600" b="1" dirty="0" err="1">
                <a:solidFill>
                  <a:schemeClr val="dk2"/>
                </a:solidFill>
                <a:latin typeface="Calibri"/>
                <a:ea typeface="Calibri"/>
                <a:cs typeface="Calibri"/>
                <a:sym typeface="Calibri"/>
              </a:rPr>
              <a:t>this</a:t>
            </a:r>
            <a:r>
              <a:rPr lang="fr-FR" sz="1600" b="1" dirty="0">
                <a:solidFill>
                  <a:schemeClr val="dk2"/>
                </a:solidFill>
                <a:latin typeface="Calibri"/>
                <a:ea typeface="Calibri"/>
                <a:cs typeface="Calibri"/>
                <a:sym typeface="Calibri"/>
              </a:rPr>
              <a:t> session, </a:t>
            </a:r>
            <a:r>
              <a:rPr lang="fr-FR" sz="1600" b="1" dirty="0" err="1">
                <a:solidFill>
                  <a:schemeClr val="dk2"/>
                </a:solidFill>
                <a:latin typeface="Calibri"/>
                <a:ea typeface="Calibri"/>
                <a:cs typeface="Calibri"/>
                <a:sym typeface="Calibri"/>
              </a:rPr>
              <a:t>you</a:t>
            </a:r>
            <a:r>
              <a:rPr lang="fr-FR" sz="1600" b="1" dirty="0">
                <a:solidFill>
                  <a:schemeClr val="dk2"/>
                </a:solidFill>
                <a:latin typeface="Calibri"/>
                <a:ea typeface="Calibri"/>
                <a:cs typeface="Calibri"/>
                <a:sym typeface="Calibri"/>
              </a:rPr>
              <a:t> </a:t>
            </a:r>
            <a:r>
              <a:rPr lang="fr-FR" sz="1600" b="1" dirty="0" err="1">
                <a:solidFill>
                  <a:schemeClr val="dk2"/>
                </a:solidFill>
                <a:latin typeface="Calibri"/>
                <a:ea typeface="Calibri"/>
                <a:cs typeface="Calibri"/>
                <a:sym typeface="Calibri"/>
              </a:rPr>
              <a:t>should</a:t>
            </a:r>
            <a:r>
              <a:rPr lang="fr-FR" sz="1600" b="1" dirty="0">
                <a:solidFill>
                  <a:schemeClr val="dk2"/>
                </a:solidFill>
                <a:latin typeface="Calibri"/>
                <a:ea typeface="Calibri"/>
                <a:cs typeface="Calibri"/>
                <a:sym typeface="Calibri"/>
              </a:rPr>
              <a:t> </a:t>
            </a:r>
            <a:r>
              <a:rPr lang="fr-FR" sz="1600" b="1" dirty="0" err="1">
                <a:solidFill>
                  <a:schemeClr val="dk2"/>
                </a:solidFill>
                <a:latin typeface="Calibri"/>
                <a:ea typeface="Calibri"/>
                <a:cs typeface="Calibri"/>
                <a:sym typeface="Calibri"/>
              </a:rPr>
              <a:t>be</a:t>
            </a:r>
            <a:r>
              <a:rPr lang="fr-FR" sz="1600" b="1" dirty="0">
                <a:solidFill>
                  <a:schemeClr val="dk2"/>
                </a:solidFill>
                <a:latin typeface="Calibri"/>
                <a:ea typeface="Calibri"/>
                <a:cs typeface="Calibri"/>
                <a:sym typeface="Calibri"/>
              </a:rPr>
              <a:t> able to: </a:t>
            </a:r>
            <a:endParaRPr dirty="0"/>
          </a:p>
          <a:p>
            <a:pPr marL="0" marR="0" lvl="0" indent="0" algn="l" rtl="0">
              <a:spcBef>
                <a:spcPts val="0"/>
              </a:spcBef>
              <a:spcAft>
                <a:spcPts val="0"/>
              </a:spcAft>
              <a:buNone/>
            </a:pPr>
            <a:endParaRPr sz="1600" b="1" dirty="0">
              <a:solidFill>
                <a:schemeClr val="dk2"/>
              </a:solidFill>
              <a:latin typeface="Calibri"/>
              <a:ea typeface="Calibri"/>
              <a:cs typeface="Calibri"/>
              <a:sym typeface="Calibri"/>
            </a:endParaRPr>
          </a:p>
          <a:p>
            <a:pPr marL="285750" marR="0" lvl="0" indent="-285750" algn="l" rtl="0">
              <a:spcBef>
                <a:spcPts val="0"/>
              </a:spcBef>
              <a:spcAft>
                <a:spcPts val="0"/>
              </a:spcAft>
              <a:buClr>
                <a:schemeClr val="dk1"/>
              </a:buClr>
              <a:buSzPts val="1600"/>
              <a:buFont typeface="Arial"/>
              <a:buChar char="•"/>
            </a:pPr>
            <a:r>
              <a:rPr lang="fr-FR" sz="1600" b="1" dirty="0" err="1">
                <a:solidFill>
                  <a:schemeClr val="dk1"/>
                </a:solidFill>
                <a:latin typeface="Calibri"/>
                <a:ea typeface="Calibri"/>
                <a:cs typeface="Calibri"/>
                <a:sym typeface="Calibri"/>
              </a:rPr>
              <a:t>Discuss</a:t>
            </a:r>
            <a:r>
              <a:rPr lang="fr-FR" sz="1600" b="1" dirty="0">
                <a:solidFill>
                  <a:schemeClr val="dk1"/>
                </a:solidFill>
                <a:latin typeface="Calibri"/>
                <a:ea typeface="Calibri"/>
                <a:cs typeface="Calibri"/>
                <a:sym typeface="Calibri"/>
              </a:rPr>
              <a:t> and express </a:t>
            </a:r>
            <a:r>
              <a:rPr lang="fr-FR" sz="1600" b="1" dirty="0" err="1">
                <a:solidFill>
                  <a:schemeClr val="dk1"/>
                </a:solidFill>
                <a:latin typeface="Calibri"/>
                <a:ea typeface="Calibri"/>
                <a:cs typeface="Calibri"/>
                <a:sym typeface="Calibri"/>
              </a:rPr>
              <a:t>your</a:t>
            </a:r>
            <a:r>
              <a:rPr lang="fr-FR" sz="1600" b="1" dirty="0">
                <a:solidFill>
                  <a:schemeClr val="dk1"/>
                </a:solidFill>
                <a:latin typeface="Calibri"/>
                <a:ea typeface="Calibri"/>
                <a:cs typeface="Calibri"/>
                <a:sym typeface="Calibri"/>
              </a:rPr>
              <a:t> opinions on issues </a:t>
            </a:r>
            <a:r>
              <a:rPr lang="fr-FR" sz="1600" b="1" dirty="0" err="1">
                <a:solidFill>
                  <a:schemeClr val="dk1"/>
                </a:solidFill>
                <a:latin typeface="Calibri"/>
                <a:ea typeface="Calibri"/>
                <a:cs typeface="Calibri"/>
                <a:sym typeface="Calibri"/>
              </a:rPr>
              <a:t>such</a:t>
            </a:r>
            <a:r>
              <a:rPr lang="fr-FR" sz="1600" b="1" dirty="0">
                <a:solidFill>
                  <a:schemeClr val="dk1"/>
                </a:solidFill>
                <a:latin typeface="Calibri"/>
                <a:ea typeface="Calibri"/>
                <a:cs typeface="Calibri"/>
                <a:sym typeface="Calibri"/>
              </a:rPr>
              <a:t> as </a:t>
            </a:r>
            <a:r>
              <a:rPr lang="fr-FR" sz="1600" b="1" dirty="0" err="1">
                <a:solidFill>
                  <a:schemeClr val="dk1"/>
                </a:solidFill>
                <a:latin typeface="Calibri"/>
                <a:ea typeface="Calibri"/>
                <a:cs typeface="Calibri"/>
                <a:sym typeface="Calibri"/>
              </a:rPr>
              <a:t>your</a:t>
            </a:r>
            <a:r>
              <a:rPr lang="fr-FR" sz="1600" b="1" dirty="0">
                <a:solidFill>
                  <a:schemeClr val="dk1"/>
                </a:solidFill>
                <a:latin typeface="Calibri"/>
                <a:ea typeface="Calibri"/>
                <a:cs typeface="Calibri"/>
                <a:sym typeface="Calibri"/>
              </a:rPr>
              <a:t> </a:t>
            </a:r>
            <a:r>
              <a:rPr lang="fr-FR" sz="1600" b="1" dirty="0" err="1">
                <a:solidFill>
                  <a:schemeClr val="dk1"/>
                </a:solidFill>
                <a:latin typeface="Calibri"/>
                <a:ea typeface="Calibri"/>
                <a:cs typeface="Calibri"/>
                <a:sym typeface="Calibri"/>
              </a:rPr>
              <a:t>own</a:t>
            </a:r>
            <a:r>
              <a:rPr lang="fr-FR" sz="1600" b="1" dirty="0">
                <a:solidFill>
                  <a:schemeClr val="dk1"/>
                </a:solidFill>
                <a:latin typeface="Calibri"/>
                <a:ea typeface="Calibri"/>
                <a:cs typeface="Calibri"/>
                <a:sym typeface="Calibri"/>
              </a:rPr>
              <a:t> </a:t>
            </a:r>
            <a:r>
              <a:rPr lang="fr-FR" sz="1600" b="1" dirty="0" err="1">
                <a:solidFill>
                  <a:schemeClr val="dk1"/>
                </a:solidFill>
                <a:latin typeface="Calibri"/>
                <a:ea typeface="Calibri"/>
                <a:cs typeface="Calibri"/>
                <a:sym typeface="Calibri"/>
              </a:rPr>
              <a:t>experiences</a:t>
            </a:r>
            <a:r>
              <a:rPr lang="fr-FR" sz="1600" b="1" dirty="0">
                <a:solidFill>
                  <a:schemeClr val="dk1"/>
                </a:solidFill>
                <a:latin typeface="Calibri"/>
                <a:ea typeface="Calibri"/>
                <a:cs typeface="Calibri"/>
                <a:sym typeface="Calibri"/>
              </a:rPr>
              <a:t>, </a:t>
            </a:r>
            <a:r>
              <a:rPr lang="fr-FR" sz="1600" b="1" dirty="0" err="1">
                <a:solidFill>
                  <a:schemeClr val="dk1"/>
                </a:solidFill>
                <a:latin typeface="Calibri"/>
                <a:ea typeface="Calibri"/>
                <a:cs typeface="Calibri"/>
                <a:sym typeface="Calibri"/>
              </a:rPr>
              <a:t>volunteering</a:t>
            </a:r>
            <a:r>
              <a:rPr lang="fr-FR" sz="1600" b="1" dirty="0">
                <a:solidFill>
                  <a:schemeClr val="dk1"/>
                </a:solidFill>
                <a:latin typeface="Calibri"/>
                <a:ea typeface="Calibri"/>
                <a:cs typeface="Calibri"/>
                <a:sym typeface="Calibri"/>
              </a:rPr>
              <a:t> and how </a:t>
            </a:r>
            <a:r>
              <a:rPr lang="fr-FR" sz="1600" b="1" dirty="0" err="1">
                <a:solidFill>
                  <a:schemeClr val="dk1"/>
                </a:solidFill>
                <a:latin typeface="Calibri"/>
                <a:ea typeface="Calibri"/>
                <a:cs typeface="Calibri"/>
                <a:sym typeface="Calibri"/>
              </a:rPr>
              <a:t>volunteering</a:t>
            </a:r>
            <a:r>
              <a:rPr lang="fr-FR" sz="1600" b="1" dirty="0">
                <a:solidFill>
                  <a:schemeClr val="dk1"/>
                </a:solidFill>
                <a:latin typeface="Calibri"/>
                <a:ea typeface="Calibri"/>
                <a:cs typeface="Calibri"/>
                <a:sym typeface="Calibri"/>
              </a:rPr>
              <a:t> </a:t>
            </a:r>
            <a:r>
              <a:rPr lang="fr-FR" sz="1600" b="1" dirty="0" err="1">
                <a:solidFill>
                  <a:schemeClr val="dk1"/>
                </a:solidFill>
                <a:latin typeface="Calibri"/>
                <a:ea typeface="Calibri"/>
                <a:cs typeface="Calibri"/>
                <a:sym typeface="Calibri"/>
              </a:rPr>
              <a:t>can</a:t>
            </a:r>
            <a:r>
              <a:rPr lang="fr-FR" sz="1600" b="1" dirty="0">
                <a:solidFill>
                  <a:schemeClr val="dk1"/>
                </a:solidFill>
                <a:latin typeface="Calibri"/>
                <a:ea typeface="Calibri"/>
                <a:cs typeface="Calibri"/>
                <a:sym typeface="Calibri"/>
              </a:rPr>
              <a:t> help.</a:t>
            </a:r>
            <a:endParaRPr dirty="0"/>
          </a:p>
          <a:p>
            <a:pPr marL="285750" marR="0" lvl="0" indent="-285750" algn="l" rtl="0">
              <a:spcBef>
                <a:spcPts val="0"/>
              </a:spcBef>
              <a:spcAft>
                <a:spcPts val="0"/>
              </a:spcAft>
              <a:buClr>
                <a:schemeClr val="dk1"/>
              </a:buClr>
              <a:buSzPts val="1600"/>
              <a:buFont typeface="Arial"/>
              <a:buChar char="•"/>
            </a:pPr>
            <a:r>
              <a:rPr lang="fr-FR" sz="1600" b="1" dirty="0" err="1">
                <a:solidFill>
                  <a:schemeClr val="dk1"/>
                </a:solidFill>
                <a:latin typeface="Calibri"/>
                <a:ea typeface="Calibri"/>
                <a:cs typeface="Calibri"/>
                <a:sym typeface="Calibri"/>
              </a:rPr>
              <a:t>Develop</a:t>
            </a:r>
            <a:r>
              <a:rPr lang="fr-FR" sz="1600" b="1" dirty="0">
                <a:solidFill>
                  <a:schemeClr val="dk1"/>
                </a:solidFill>
                <a:latin typeface="Calibri"/>
                <a:ea typeface="Calibri"/>
                <a:cs typeface="Calibri"/>
                <a:sym typeface="Calibri"/>
              </a:rPr>
              <a:t> </a:t>
            </a:r>
            <a:r>
              <a:rPr lang="fr-FR" sz="1600" b="1" dirty="0" err="1">
                <a:solidFill>
                  <a:schemeClr val="dk1"/>
                </a:solidFill>
                <a:latin typeface="Calibri"/>
                <a:ea typeface="Calibri"/>
                <a:cs typeface="Calibri"/>
                <a:sym typeface="Calibri"/>
              </a:rPr>
              <a:t>empathy</a:t>
            </a:r>
            <a:r>
              <a:rPr lang="fr-FR" sz="1600" b="1" dirty="0">
                <a:solidFill>
                  <a:schemeClr val="dk1"/>
                </a:solidFill>
                <a:latin typeface="Calibri"/>
                <a:ea typeface="Calibri"/>
                <a:cs typeface="Calibri"/>
                <a:sym typeface="Calibri"/>
              </a:rPr>
              <a:t> and </a:t>
            </a:r>
            <a:r>
              <a:rPr lang="fr-FR" sz="1600" b="1" dirty="0" err="1">
                <a:solidFill>
                  <a:schemeClr val="dk1"/>
                </a:solidFill>
                <a:latin typeface="Calibri"/>
                <a:ea typeface="Calibri"/>
                <a:cs typeface="Calibri"/>
                <a:sym typeface="Calibri"/>
              </a:rPr>
              <a:t>emotional</a:t>
            </a:r>
            <a:r>
              <a:rPr lang="fr-FR" sz="1600" b="1" dirty="0">
                <a:solidFill>
                  <a:schemeClr val="dk1"/>
                </a:solidFill>
                <a:latin typeface="Calibri"/>
                <a:ea typeface="Calibri"/>
                <a:cs typeface="Calibri"/>
                <a:sym typeface="Calibri"/>
              </a:rPr>
              <a:t> intelligence </a:t>
            </a:r>
            <a:r>
              <a:rPr lang="fr-FR" sz="1600" b="1" dirty="0" err="1">
                <a:solidFill>
                  <a:schemeClr val="dk1"/>
                </a:solidFill>
                <a:latin typeface="Calibri"/>
                <a:ea typeface="Calibri"/>
                <a:cs typeface="Calibri"/>
                <a:sym typeface="Calibri"/>
              </a:rPr>
              <a:t>skills</a:t>
            </a:r>
            <a:endParaRPr dirty="0"/>
          </a:p>
          <a:p>
            <a:pPr marL="285750" marR="0" lvl="0" indent="-285750" algn="l" rtl="0">
              <a:spcBef>
                <a:spcPts val="0"/>
              </a:spcBef>
              <a:spcAft>
                <a:spcPts val="0"/>
              </a:spcAft>
              <a:buClr>
                <a:schemeClr val="dk1"/>
              </a:buClr>
              <a:buSzPts val="1600"/>
              <a:buFont typeface="Arial"/>
              <a:buChar char="•"/>
            </a:pPr>
            <a:r>
              <a:rPr lang="fr-FR" sz="1600" b="1" dirty="0">
                <a:solidFill>
                  <a:schemeClr val="dk1"/>
                </a:solidFill>
                <a:latin typeface="Calibri"/>
                <a:ea typeface="Calibri"/>
                <a:cs typeface="Calibri"/>
                <a:sym typeface="Calibri"/>
              </a:rPr>
              <a:t>Use </a:t>
            </a:r>
            <a:r>
              <a:rPr lang="fr-FR" sz="1600" b="1" dirty="0" err="1">
                <a:solidFill>
                  <a:schemeClr val="dk1"/>
                </a:solidFill>
                <a:latin typeface="Calibri"/>
                <a:ea typeface="Calibri"/>
                <a:cs typeface="Calibri"/>
                <a:sym typeface="Calibri"/>
              </a:rPr>
              <a:t>vocabulary</a:t>
            </a:r>
            <a:r>
              <a:rPr lang="fr-FR" sz="1600" b="1" dirty="0">
                <a:solidFill>
                  <a:schemeClr val="dk1"/>
                </a:solidFill>
                <a:latin typeface="Calibri"/>
                <a:ea typeface="Calibri"/>
                <a:cs typeface="Calibri"/>
                <a:sym typeface="Calibri"/>
              </a:rPr>
              <a:t> </a:t>
            </a:r>
            <a:r>
              <a:rPr lang="fr-FR" sz="1600" b="1" dirty="0" err="1">
                <a:solidFill>
                  <a:schemeClr val="dk1"/>
                </a:solidFill>
                <a:latin typeface="Calibri"/>
                <a:ea typeface="Calibri"/>
                <a:cs typeface="Calibri"/>
                <a:sym typeface="Calibri"/>
              </a:rPr>
              <a:t>related</a:t>
            </a:r>
            <a:r>
              <a:rPr lang="fr-FR" sz="1600" b="1" dirty="0">
                <a:solidFill>
                  <a:schemeClr val="dk1"/>
                </a:solidFill>
                <a:latin typeface="Calibri"/>
                <a:ea typeface="Calibri"/>
                <a:cs typeface="Calibri"/>
                <a:sym typeface="Calibri"/>
              </a:rPr>
              <a:t> to </a:t>
            </a:r>
            <a:r>
              <a:rPr lang="fr-FR" sz="1600" b="1" dirty="0" err="1">
                <a:solidFill>
                  <a:schemeClr val="dk1"/>
                </a:solidFill>
                <a:latin typeface="Calibri"/>
                <a:ea typeface="Calibri"/>
                <a:cs typeface="Calibri"/>
                <a:sym typeface="Calibri"/>
              </a:rPr>
              <a:t>volunteering</a:t>
            </a:r>
            <a:endParaRPr dirty="0"/>
          </a:p>
          <a:p>
            <a:pPr marL="285750" marR="0" lvl="0" indent="-285750" algn="l" rtl="0">
              <a:spcBef>
                <a:spcPts val="0"/>
              </a:spcBef>
              <a:spcAft>
                <a:spcPts val="0"/>
              </a:spcAft>
              <a:buClr>
                <a:schemeClr val="dk1"/>
              </a:buClr>
              <a:buSzPts val="1600"/>
              <a:buFont typeface="Arial"/>
              <a:buChar char="•"/>
            </a:pPr>
            <a:r>
              <a:rPr lang="fr-FR" sz="1600" b="1" dirty="0" err="1">
                <a:solidFill>
                  <a:schemeClr val="dk1"/>
                </a:solidFill>
                <a:latin typeface="Calibri"/>
                <a:ea typeface="Calibri"/>
                <a:cs typeface="Calibri"/>
                <a:sym typeface="Calibri"/>
              </a:rPr>
              <a:t>Infer</a:t>
            </a:r>
            <a:r>
              <a:rPr lang="fr-FR" sz="1600" b="1" dirty="0">
                <a:solidFill>
                  <a:schemeClr val="dk1"/>
                </a:solidFill>
                <a:latin typeface="Calibri"/>
                <a:ea typeface="Calibri"/>
                <a:cs typeface="Calibri"/>
                <a:sym typeface="Calibri"/>
              </a:rPr>
              <a:t> information </a:t>
            </a:r>
            <a:r>
              <a:rPr lang="fr-FR" sz="1600" b="1" dirty="0" err="1">
                <a:solidFill>
                  <a:schemeClr val="dk1"/>
                </a:solidFill>
                <a:latin typeface="Calibri"/>
                <a:ea typeface="Calibri"/>
                <a:cs typeface="Calibri"/>
                <a:sym typeface="Calibri"/>
              </a:rPr>
              <a:t>from</a:t>
            </a:r>
            <a:r>
              <a:rPr lang="fr-FR" sz="1600" b="1" dirty="0">
                <a:solidFill>
                  <a:schemeClr val="dk1"/>
                </a:solidFill>
                <a:latin typeface="Calibri"/>
                <a:ea typeface="Calibri"/>
                <a:cs typeface="Calibri"/>
                <a:sym typeface="Calibri"/>
              </a:rPr>
              <a:t> </a:t>
            </a:r>
            <a:r>
              <a:rPr lang="fr-FR" sz="1600" b="1" dirty="0" err="1">
                <a:solidFill>
                  <a:schemeClr val="dk1"/>
                </a:solidFill>
                <a:latin typeface="Calibri"/>
                <a:ea typeface="Calibri"/>
                <a:cs typeface="Calibri"/>
                <a:sym typeface="Calibri"/>
              </a:rPr>
              <a:t>listening</a:t>
            </a:r>
            <a:endParaRPr dirty="0"/>
          </a:p>
          <a:p>
            <a:pPr marL="285750" marR="0" lvl="0" indent="-184150" algn="l" rtl="0">
              <a:spcBef>
                <a:spcPts val="0"/>
              </a:spcBef>
              <a:spcAft>
                <a:spcPts val="0"/>
              </a:spcAft>
              <a:buClr>
                <a:schemeClr val="dk1"/>
              </a:buClr>
              <a:buSzPts val="1600"/>
              <a:buFont typeface="Arial"/>
              <a:buNone/>
            </a:pPr>
            <a:endParaRPr sz="1600" b="1" dirty="0">
              <a:solidFill>
                <a:schemeClr val="dk1"/>
              </a:solidFill>
              <a:latin typeface="Calibri"/>
              <a:ea typeface="Calibri"/>
              <a:cs typeface="Calibri"/>
              <a:sym typeface="Calibri"/>
            </a:endParaRPr>
          </a:p>
          <a:p>
            <a:pPr marL="285750" marR="0" lvl="0" indent="-184150" algn="l" rtl="0">
              <a:spcBef>
                <a:spcPts val="0"/>
              </a:spcBef>
              <a:spcAft>
                <a:spcPts val="0"/>
              </a:spcAft>
              <a:buClr>
                <a:schemeClr val="dk1"/>
              </a:buClr>
              <a:buSzPts val="1600"/>
              <a:buFont typeface="Arial"/>
              <a:buNone/>
            </a:pPr>
            <a:endParaRPr sz="16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6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600" b="1" dirty="0">
              <a:solidFill>
                <a:schemeClr val="dk2"/>
              </a:solidFill>
              <a:latin typeface="Calibri"/>
              <a:ea typeface="Calibri"/>
              <a:cs typeface="Calibri"/>
              <a:sym typeface="Calibri"/>
            </a:endParaRPr>
          </a:p>
          <a:p>
            <a:pPr marL="0" marR="0" lvl="0" indent="0" algn="l" rtl="0">
              <a:spcBef>
                <a:spcPts val="0"/>
              </a:spcBef>
              <a:spcAft>
                <a:spcPts val="0"/>
              </a:spcAft>
              <a:buNone/>
            </a:pPr>
            <a:endParaRPr sz="1600" b="1" dirty="0">
              <a:solidFill>
                <a:schemeClr val="dk2"/>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pic>
        <p:nvPicPr>
          <p:cNvPr id="47" name="Google Shape;47;p2"/>
          <p:cNvPicPr preferRelativeResize="0"/>
          <p:nvPr/>
        </p:nvPicPr>
        <p:blipFill rotWithShape="1">
          <a:blip r:embed="rId3">
            <a:alphaModFix/>
          </a:blip>
          <a:srcRect/>
          <a:stretch/>
        </p:blipFill>
        <p:spPr>
          <a:xfrm>
            <a:off x="5875457" y="4647774"/>
            <a:ext cx="3268543" cy="2210226"/>
          </a:xfrm>
          <a:prstGeom prst="rect">
            <a:avLst/>
          </a:prstGeom>
          <a:noFill/>
          <a:ln>
            <a:noFill/>
          </a:ln>
        </p:spPr>
      </p:pic>
      <p:grpSp>
        <p:nvGrpSpPr>
          <p:cNvPr id="48" name="Google Shape;48;p2"/>
          <p:cNvGrpSpPr/>
          <p:nvPr/>
        </p:nvGrpSpPr>
        <p:grpSpPr>
          <a:xfrm>
            <a:off x="428857" y="485286"/>
            <a:ext cx="6086243" cy="565433"/>
            <a:chOff x="801127" y="403254"/>
            <a:chExt cx="4331352" cy="565433"/>
          </a:xfrm>
        </p:grpSpPr>
        <p:sp>
          <p:nvSpPr>
            <p:cNvPr id="49" name="Google Shape;49;p2"/>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rgbClr val="EA6D59"/>
                </a:solidFill>
                <a:latin typeface="Calibri"/>
                <a:ea typeface="Calibri"/>
                <a:cs typeface="Calibri"/>
                <a:sym typeface="Calibri"/>
              </a:endParaRPr>
            </a:p>
          </p:txBody>
        </p:sp>
        <p:sp>
          <p:nvSpPr>
            <p:cNvPr id="50" name="Google Shape;50;p2"/>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0" i="0" u="none" strike="noStrike" cap="none">
                  <a:solidFill>
                    <a:srgbClr val="FFFFFF"/>
                  </a:solidFill>
                  <a:latin typeface="Open Sans SemiBold"/>
                  <a:ea typeface="Open Sans SemiBold"/>
                  <a:cs typeface="Open Sans SemiBold"/>
                  <a:sym typeface="Open Sans SemiBold"/>
                </a:rPr>
                <a:t>OUTLINE</a:t>
              </a:r>
              <a:endParaRPr sz="1800">
                <a:solidFill>
                  <a:srgbClr val="FFFFFF"/>
                </a:solidFill>
                <a:latin typeface="Open Sans SemiBold"/>
                <a:ea typeface="Open Sans SemiBold"/>
                <a:cs typeface="Open Sans SemiBold"/>
                <a:sym typeface="Open Sans SemiBold"/>
              </a:endParaRPr>
            </a:p>
          </p:txBody>
        </p:sp>
      </p:grpSp>
      <p:sp>
        <p:nvSpPr>
          <p:cNvPr id="51" name="Google Shape;51;p2"/>
          <p:cNvSpPr txBox="1"/>
          <p:nvPr/>
        </p:nvSpPr>
        <p:spPr>
          <a:xfrm>
            <a:off x="1058482" y="1842102"/>
            <a:ext cx="5799517" cy="3491898"/>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2"/>
              </a:buClr>
              <a:buSzPts val="1600"/>
              <a:buFont typeface="Calibri"/>
              <a:buAutoNum type="arabicPeriod"/>
            </a:pPr>
            <a:r>
              <a:rPr lang="fr-FR" sz="1600" b="1" dirty="0">
                <a:solidFill>
                  <a:schemeClr val="dk2"/>
                </a:solidFill>
                <a:latin typeface="Calibri"/>
                <a:ea typeface="Calibri"/>
                <a:cs typeface="Calibri"/>
                <a:sym typeface="Calibri"/>
              </a:rPr>
              <a:t>Warm up </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err="1">
                <a:solidFill>
                  <a:schemeClr val="dk2"/>
                </a:solidFill>
                <a:latin typeface="Calibri"/>
                <a:ea typeface="Calibri"/>
                <a:cs typeface="Calibri"/>
                <a:sym typeface="Calibri"/>
              </a:rPr>
              <a:t>Definition</a:t>
            </a:r>
            <a:r>
              <a:rPr lang="fr-FR" sz="1600" b="1" dirty="0">
                <a:solidFill>
                  <a:schemeClr val="dk2"/>
                </a:solidFill>
                <a:latin typeface="Calibri"/>
                <a:ea typeface="Calibri"/>
                <a:cs typeface="Calibri"/>
                <a:sym typeface="Calibri"/>
              </a:rPr>
              <a:t> </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a:solidFill>
                  <a:schemeClr val="dk2"/>
                </a:solidFill>
                <a:latin typeface="Calibri"/>
                <a:ea typeface="Calibri"/>
                <a:cs typeface="Calibri"/>
                <a:sym typeface="Calibri"/>
              </a:rPr>
              <a:t>Areas of </a:t>
            </a:r>
            <a:r>
              <a:rPr lang="fr-FR" sz="1600" b="1" dirty="0" err="1">
                <a:solidFill>
                  <a:schemeClr val="dk2"/>
                </a:solidFill>
                <a:latin typeface="Calibri"/>
                <a:ea typeface="Calibri"/>
                <a:cs typeface="Calibri"/>
                <a:sym typeface="Calibri"/>
              </a:rPr>
              <a:t>volunteering</a:t>
            </a:r>
            <a:r>
              <a:rPr lang="fr-FR" sz="1600" b="1" dirty="0">
                <a:solidFill>
                  <a:schemeClr val="dk2"/>
                </a:solidFill>
                <a:latin typeface="Calibri"/>
                <a:ea typeface="Calibri"/>
                <a:cs typeface="Calibri"/>
                <a:sym typeface="Calibri"/>
              </a:rPr>
              <a:t> </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err="1">
                <a:solidFill>
                  <a:schemeClr val="dk2"/>
                </a:solidFill>
                <a:latin typeface="Calibri"/>
                <a:ea typeface="Calibri"/>
                <a:cs typeface="Calibri"/>
                <a:sym typeface="Calibri"/>
              </a:rPr>
              <a:t>Benefits</a:t>
            </a:r>
            <a:r>
              <a:rPr lang="fr-FR" sz="1600" b="1" dirty="0">
                <a:solidFill>
                  <a:schemeClr val="dk2"/>
                </a:solidFill>
                <a:latin typeface="Calibri"/>
                <a:ea typeface="Calibri"/>
                <a:cs typeface="Calibri"/>
                <a:sym typeface="Calibri"/>
              </a:rPr>
              <a:t> of </a:t>
            </a:r>
            <a:r>
              <a:rPr lang="fr-FR" sz="1600" b="1" dirty="0" err="1">
                <a:solidFill>
                  <a:schemeClr val="dk2"/>
                </a:solidFill>
                <a:latin typeface="Calibri"/>
                <a:ea typeface="Calibri"/>
                <a:cs typeface="Calibri"/>
                <a:sym typeface="Calibri"/>
              </a:rPr>
              <a:t>volunteering</a:t>
            </a:r>
            <a:r>
              <a:rPr lang="fr-FR" sz="1600" b="1" dirty="0">
                <a:solidFill>
                  <a:schemeClr val="dk2"/>
                </a:solidFill>
                <a:latin typeface="Calibri"/>
                <a:ea typeface="Calibri"/>
                <a:cs typeface="Calibri"/>
                <a:sym typeface="Calibri"/>
              </a:rPr>
              <a:t> </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err="1">
                <a:solidFill>
                  <a:schemeClr val="dk2"/>
                </a:solidFill>
                <a:latin typeface="Calibri"/>
                <a:ea typeface="Calibri"/>
                <a:cs typeface="Calibri"/>
                <a:sym typeface="Calibri"/>
              </a:rPr>
              <a:t>Statistics</a:t>
            </a:r>
            <a:r>
              <a:rPr lang="fr-FR" sz="1600" b="1" dirty="0">
                <a:solidFill>
                  <a:schemeClr val="dk2"/>
                </a:solidFill>
                <a:latin typeface="Calibri"/>
                <a:ea typeface="Calibri"/>
                <a:cs typeface="Calibri"/>
                <a:sym typeface="Calibri"/>
              </a:rPr>
              <a:t> </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err="1">
                <a:solidFill>
                  <a:schemeClr val="dk2"/>
                </a:solidFill>
                <a:latin typeface="Calibri"/>
                <a:ea typeface="Calibri"/>
                <a:cs typeface="Calibri"/>
                <a:sym typeface="Calibri"/>
              </a:rPr>
              <a:t>Volunteer</a:t>
            </a:r>
            <a:r>
              <a:rPr lang="fr-FR" sz="1600" b="1" dirty="0">
                <a:solidFill>
                  <a:schemeClr val="dk2"/>
                </a:solidFill>
                <a:latin typeface="Calibri"/>
                <a:ea typeface="Calibri"/>
                <a:cs typeface="Calibri"/>
                <a:sym typeface="Calibri"/>
              </a:rPr>
              <a:t> </a:t>
            </a:r>
            <a:r>
              <a:rPr lang="fr-FR" sz="1600" b="1" dirty="0" err="1">
                <a:solidFill>
                  <a:schemeClr val="dk2"/>
                </a:solidFill>
                <a:latin typeface="Calibri"/>
                <a:ea typeface="Calibri"/>
                <a:cs typeface="Calibri"/>
                <a:sym typeface="Calibri"/>
              </a:rPr>
              <a:t>rights</a:t>
            </a:r>
            <a:r>
              <a:rPr lang="fr-FR" sz="1600" b="1" dirty="0">
                <a:solidFill>
                  <a:schemeClr val="dk2"/>
                </a:solidFill>
                <a:latin typeface="Calibri"/>
                <a:ea typeface="Calibri"/>
                <a:cs typeface="Calibri"/>
                <a:sym typeface="Calibri"/>
              </a:rPr>
              <a:t> and </a:t>
            </a:r>
            <a:r>
              <a:rPr lang="fr-FR" sz="1600" b="1" dirty="0" err="1">
                <a:solidFill>
                  <a:schemeClr val="dk2"/>
                </a:solidFill>
                <a:latin typeface="Calibri"/>
                <a:ea typeface="Calibri"/>
                <a:cs typeface="Calibri"/>
                <a:sym typeface="Calibri"/>
              </a:rPr>
              <a:t>responsibilities</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err="1">
                <a:solidFill>
                  <a:schemeClr val="dk2"/>
                </a:solidFill>
                <a:latin typeface="Calibri"/>
                <a:ea typeface="Calibri"/>
                <a:cs typeface="Calibri"/>
                <a:sym typeface="Calibri"/>
              </a:rPr>
              <a:t>Selecting</a:t>
            </a:r>
            <a:r>
              <a:rPr lang="fr-FR" sz="1600" b="1" dirty="0">
                <a:solidFill>
                  <a:schemeClr val="dk2"/>
                </a:solidFill>
                <a:latin typeface="Calibri"/>
                <a:ea typeface="Calibri"/>
                <a:cs typeface="Calibri"/>
                <a:sym typeface="Calibri"/>
              </a:rPr>
              <a:t> a </a:t>
            </a:r>
            <a:r>
              <a:rPr lang="fr-FR" sz="1600" b="1" dirty="0" err="1">
                <a:solidFill>
                  <a:schemeClr val="dk2"/>
                </a:solidFill>
                <a:latin typeface="Calibri"/>
                <a:ea typeface="Calibri"/>
                <a:cs typeface="Calibri"/>
                <a:sym typeface="Calibri"/>
              </a:rPr>
              <a:t>volunteer</a:t>
            </a:r>
            <a:r>
              <a:rPr lang="fr-FR" sz="1600" b="1" dirty="0">
                <a:solidFill>
                  <a:schemeClr val="dk2"/>
                </a:solidFill>
                <a:latin typeface="Calibri"/>
                <a:ea typeface="Calibri"/>
                <a:cs typeface="Calibri"/>
                <a:sym typeface="Calibri"/>
              </a:rPr>
              <a:t> </a:t>
            </a:r>
            <a:r>
              <a:rPr lang="fr-FR" sz="1600" b="1" dirty="0" err="1">
                <a:solidFill>
                  <a:schemeClr val="dk2"/>
                </a:solidFill>
                <a:latin typeface="Calibri"/>
                <a:ea typeface="Calibri"/>
                <a:cs typeface="Calibri"/>
                <a:sym typeface="Calibri"/>
              </a:rPr>
              <a:t>role</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a:solidFill>
                  <a:schemeClr val="dk2"/>
                </a:solidFill>
                <a:latin typeface="Calibri"/>
                <a:ea typeface="Calibri"/>
                <a:cs typeface="Calibri"/>
                <a:sym typeface="Calibri"/>
              </a:rPr>
              <a:t> </a:t>
            </a:r>
            <a:r>
              <a:rPr lang="fr-FR" sz="1600" b="1" dirty="0" err="1">
                <a:solidFill>
                  <a:schemeClr val="dk2"/>
                </a:solidFill>
                <a:latin typeface="Calibri"/>
                <a:ea typeface="Calibri"/>
                <a:cs typeface="Calibri"/>
                <a:sym typeface="Calibri"/>
              </a:rPr>
              <a:t>Volunteer</a:t>
            </a:r>
            <a:r>
              <a:rPr lang="fr-FR" sz="1600" b="1" dirty="0">
                <a:solidFill>
                  <a:schemeClr val="dk2"/>
                </a:solidFill>
                <a:latin typeface="Calibri"/>
                <a:ea typeface="Calibri"/>
                <a:cs typeface="Calibri"/>
                <a:sym typeface="Calibri"/>
              </a:rPr>
              <a:t> Organisations</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err="1">
                <a:solidFill>
                  <a:schemeClr val="dk2"/>
                </a:solidFill>
                <a:latin typeface="Calibri"/>
                <a:ea typeface="Calibri"/>
                <a:cs typeface="Calibri"/>
                <a:sym typeface="Calibri"/>
              </a:rPr>
              <a:t>Tunisian</a:t>
            </a:r>
            <a:r>
              <a:rPr lang="fr-FR" sz="1600" b="1" dirty="0">
                <a:solidFill>
                  <a:schemeClr val="dk2"/>
                </a:solidFill>
                <a:latin typeface="Calibri"/>
                <a:ea typeface="Calibri"/>
                <a:cs typeface="Calibri"/>
                <a:sym typeface="Calibri"/>
              </a:rPr>
              <a:t> </a:t>
            </a:r>
            <a:r>
              <a:rPr lang="fr-FR" sz="1600" b="1" dirty="0" err="1">
                <a:solidFill>
                  <a:schemeClr val="dk2"/>
                </a:solidFill>
                <a:latin typeface="Calibri"/>
                <a:ea typeface="Calibri"/>
                <a:cs typeface="Calibri"/>
                <a:sym typeface="Calibri"/>
              </a:rPr>
              <a:t>Examples</a:t>
            </a:r>
            <a:r>
              <a:rPr lang="fr-FR" sz="1600" b="1" dirty="0">
                <a:solidFill>
                  <a:schemeClr val="dk2"/>
                </a:solidFill>
                <a:latin typeface="Calibri"/>
                <a:ea typeface="Calibri"/>
                <a:cs typeface="Calibri"/>
                <a:sym typeface="Calibri"/>
              </a:rPr>
              <a:t> </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err="1">
                <a:solidFill>
                  <a:schemeClr val="dk2"/>
                </a:solidFill>
                <a:latin typeface="Calibri"/>
                <a:ea typeface="Calibri"/>
                <a:cs typeface="Calibri"/>
                <a:sym typeface="Calibri"/>
              </a:rPr>
              <a:t>Vocabulary</a:t>
            </a:r>
            <a:endParaRPr sz="1600" b="1" dirty="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1600"/>
              <a:buFont typeface="Calibri"/>
              <a:buAutoNum type="arabicPeriod"/>
            </a:pPr>
            <a:r>
              <a:rPr lang="fr-FR" sz="1600" b="1" dirty="0">
                <a:solidFill>
                  <a:schemeClr val="dk2"/>
                </a:solidFill>
                <a:latin typeface="Calibri"/>
                <a:ea typeface="Calibri"/>
                <a:cs typeface="Calibri"/>
                <a:sym typeface="Calibri"/>
              </a:rPr>
              <a:t>Quiz</a:t>
            </a:r>
            <a:endParaRPr dirty="0"/>
          </a:p>
          <a:p>
            <a:pPr marL="342900" marR="0" lvl="0" indent="-342900" algn="l" rtl="0">
              <a:spcBef>
                <a:spcPts val="0"/>
              </a:spcBef>
              <a:spcAft>
                <a:spcPts val="0"/>
              </a:spcAft>
              <a:buClr>
                <a:schemeClr val="dk2"/>
              </a:buClr>
              <a:buSzPts val="1600"/>
              <a:buFont typeface="Calibri"/>
              <a:buAutoNum type="arabicPeriod"/>
            </a:pPr>
            <a:r>
              <a:rPr lang="fr-FR" sz="1600" b="1" dirty="0">
                <a:solidFill>
                  <a:schemeClr val="dk2"/>
                </a:solidFill>
                <a:latin typeface="Calibri"/>
                <a:ea typeface="Calibri"/>
                <a:cs typeface="Calibri"/>
                <a:sym typeface="Calibri"/>
              </a:rPr>
              <a:t>CCCA3 Project</a:t>
            </a:r>
            <a:endParaRPr dirty="0"/>
          </a:p>
          <a:p>
            <a:pPr marL="342900" marR="0" lvl="0" indent="-241300" algn="l" rtl="0">
              <a:spcBef>
                <a:spcPts val="0"/>
              </a:spcBef>
              <a:spcAft>
                <a:spcPts val="0"/>
              </a:spcAft>
              <a:buClr>
                <a:schemeClr val="dk1"/>
              </a:buClr>
              <a:buSzPts val="1600"/>
              <a:buFont typeface="Calibri"/>
              <a:buNone/>
            </a:pPr>
            <a:endParaRPr sz="1600" b="1" dirty="0">
              <a:solidFill>
                <a:schemeClr val="dk2"/>
              </a:solidFill>
              <a:latin typeface="Calibri"/>
              <a:ea typeface="Calibri"/>
              <a:cs typeface="Calibri"/>
              <a:sym typeface="Calibri"/>
            </a:endParaRPr>
          </a:p>
          <a:p>
            <a:pPr marL="0" marR="0" lvl="0" indent="0" algn="l" rtl="0">
              <a:spcBef>
                <a:spcPts val="0"/>
              </a:spcBef>
              <a:spcAft>
                <a:spcPts val="0"/>
              </a:spcAft>
              <a:buNone/>
            </a:pPr>
            <a:endParaRPr sz="1600" b="1" dirty="0">
              <a:solidFill>
                <a:schemeClr val="dk2"/>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anim calcmode="lin" valueType="num">
                                      <p:cBhvr>
                                        <p:cTn id="7" dur="1000" fill="hold"/>
                                        <p:tgtEl>
                                          <p:spTgt spid="5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5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51">
                                            <p:txEl>
                                              <p:pRg st="0" end="0"/>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51">
                                            <p:txEl>
                                              <p:pRg st="1" end="1"/>
                                            </p:txEl>
                                          </p:spTgt>
                                        </p:tgtEl>
                                        <p:attrNameLst>
                                          <p:attrName>style.visibility</p:attrName>
                                        </p:attrNameLst>
                                      </p:cBhvr>
                                      <p:to>
                                        <p:strVal val="visible"/>
                                      </p:to>
                                    </p:set>
                                    <p:anim calcmode="lin" valueType="num">
                                      <p:cBhvr>
                                        <p:cTn id="12" dur="1000" fill="hold"/>
                                        <p:tgtEl>
                                          <p:spTgt spid="51">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51">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51">
                                            <p:txEl>
                                              <p:pRg st="1" end="1"/>
                                            </p:txEl>
                                          </p:spTgt>
                                        </p:tgtEl>
                                      </p:cBhvr>
                                    </p:animEffect>
                                  </p:childTnLst>
                                </p:cTn>
                              </p:par>
                              <p:par>
                                <p:cTn id="15" presetID="55" presetClass="entr" presetSubtype="0" fill="hold" nodeType="withEffect">
                                  <p:stCondLst>
                                    <p:cond delay="0"/>
                                  </p:stCondLst>
                                  <p:childTnLst>
                                    <p:set>
                                      <p:cBhvr>
                                        <p:cTn id="16" dur="1" fill="hold">
                                          <p:stCondLst>
                                            <p:cond delay="0"/>
                                          </p:stCondLst>
                                        </p:cTn>
                                        <p:tgtEl>
                                          <p:spTgt spid="51">
                                            <p:txEl>
                                              <p:pRg st="2" end="2"/>
                                            </p:txEl>
                                          </p:spTgt>
                                        </p:tgtEl>
                                        <p:attrNameLst>
                                          <p:attrName>style.visibility</p:attrName>
                                        </p:attrNameLst>
                                      </p:cBhvr>
                                      <p:to>
                                        <p:strVal val="visible"/>
                                      </p:to>
                                    </p:set>
                                    <p:anim calcmode="lin" valueType="num">
                                      <p:cBhvr>
                                        <p:cTn id="17" dur="1000" fill="hold"/>
                                        <p:tgtEl>
                                          <p:spTgt spid="51">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51">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51">
                                            <p:txEl>
                                              <p:pRg st="2" end="2"/>
                                            </p:txEl>
                                          </p:spTgt>
                                        </p:tgtEl>
                                      </p:cBhvr>
                                    </p:animEffect>
                                  </p:childTnLst>
                                </p:cTn>
                              </p:par>
                              <p:par>
                                <p:cTn id="20" presetID="55" presetClass="entr" presetSubtype="0" fill="hold" nodeType="withEffect">
                                  <p:stCondLst>
                                    <p:cond delay="0"/>
                                  </p:stCondLst>
                                  <p:childTnLst>
                                    <p:set>
                                      <p:cBhvr>
                                        <p:cTn id="21" dur="1" fill="hold">
                                          <p:stCondLst>
                                            <p:cond delay="0"/>
                                          </p:stCondLst>
                                        </p:cTn>
                                        <p:tgtEl>
                                          <p:spTgt spid="51">
                                            <p:txEl>
                                              <p:pRg st="3" end="3"/>
                                            </p:txEl>
                                          </p:spTgt>
                                        </p:tgtEl>
                                        <p:attrNameLst>
                                          <p:attrName>style.visibility</p:attrName>
                                        </p:attrNameLst>
                                      </p:cBhvr>
                                      <p:to>
                                        <p:strVal val="visible"/>
                                      </p:to>
                                    </p:set>
                                    <p:anim calcmode="lin" valueType="num">
                                      <p:cBhvr>
                                        <p:cTn id="22" dur="1000" fill="hold"/>
                                        <p:tgtEl>
                                          <p:spTgt spid="51">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51">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51">
                                            <p:txEl>
                                              <p:pRg st="3" end="3"/>
                                            </p:txEl>
                                          </p:spTgt>
                                        </p:tgtEl>
                                      </p:cBhvr>
                                    </p:animEffect>
                                  </p:childTnLst>
                                </p:cTn>
                              </p:par>
                              <p:par>
                                <p:cTn id="25" presetID="55" presetClass="entr" presetSubtype="0" fill="hold" nodeType="withEffect">
                                  <p:stCondLst>
                                    <p:cond delay="0"/>
                                  </p:stCondLst>
                                  <p:childTnLst>
                                    <p:set>
                                      <p:cBhvr>
                                        <p:cTn id="26" dur="1" fill="hold">
                                          <p:stCondLst>
                                            <p:cond delay="0"/>
                                          </p:stCondLst>
                                        </p:cTn>
                                        <p:tgtEl>
                                          <p:spTgt spid="51">
                                            <p:txEl>
                                              <p:pRg st="4" end="4"/>
                                            </p:txEl>
                                          </p:spTgt>
                                        </p:tgtEl>
                                        <p:attrNameLst>
                                          <p:attrName>style.visibility</p:attrName>
                                        </p:attrNameLst>
                                      </p:cBhvr>
                                      <p:to>
                                        <p:strVal val="visible"/>
                                      </p:to>
                                    </p:set>
                                    <p:anim calcmode="lin" valueType="num">
                                      <p:cBhvr>
                                        <p:cTn id="27" dur="1000" fill="hold"/>
                                        <p:tgtEl>
                                          <p:spTgt spid="51">
                                            <p:txEl>
                                              <p:pRg st="4" end="4"/>
                                            </p:txEl>
                                          </p:spTgt>
                                        </p:tgtEl>
                                        <p:attrNameLst>
                                          <p:attrName>ppt_w</p:attrName>
                                        </p:attrNameLst>
                                      </p:cBhvr>
                                      <p:tavLst>
                                        <p:tav tm="0">
                                          <p:val>
                                            <p:strVal val="#ppt_w*0.70"/>
                                          </p:val>
                                        </p:tav>
                                        <p:tav tm="100000">
                                          <p:val>
                                            <p:strVal val="#ppt_w"/>
                                          </p:val>
                                        </p:tav>
                                      </p:tavLst>
                                    </p:anim>
                                    <p:anim calcmode="lin" valueType="num">
                                      <p:cBhvr>
                                        <p:cTn id="28" dur="1000" fill="hold"/>
                                        <p:tgtEl>
                                          <p:spTgt spid="51">
                                            <p:txEl>
                                              <p:pRg st="4" end="4"/>
                                            </p:txEl>
                                          </p:spTgt>
                                        </p:tgtEl>
                                        <p:attrNameLst>
                                          <p:attrName>ppt_h</p:attrName>
                                        </p:attrNameLst>
                                      </p:cBhvr>
                                      <p:tavLst>
                                        <p:tav tm="0">
                                          <p:val>
                                            <p:strVal val="#ppt_h"/>
                                          </p:val>
                                        </p:tav>
                                        <p:tav tm="100000">
                                          <p:val>
                                            <p:strVal val="#ppt_h"/>
                                          </p:val>
                                        </p:tav>
                                      </p:tavLst>
                                    </p:anim>
                                    <p:animEffect transition="in" filter="fade">
                                      <p:cBhvr>
                                        <p:cTn id="29" dur="1000"/>
                                        <p:tgtEl>
                                          <p:spTgt spid="51">
                                            <p:txEl>
                                              <p:pRg st="4" end="4"/>
                                            </p:txEl>
                                          </p:spTgt>
                                        </p:tgtEl>
                                      </p:cBhvr>
                                    </p:animEffect>
                                  </p:childTnLst>
                                </p:cTn>
                              </p:par>
                              <p:par>
                                <p:cTn id="30" presetID="55" presetClass="entr" presetSubtype="0" fill="hold" nodeType="withEffect">
                                  <p:stCondLst>
                                    <p:cond delay="0"/>
                                  </p:stCondLst>
                                  <p:childTnLst>
                                    <p:set>
                                      <p:cBhvr>
                                        <p:cTn id="31" dur="1" fill="hold">
                                          <p:stCondLst>
                                            <p:cond delay="0"/>
                                          </p:stCondLst>
                                        </p:cTn>
                                        <p:tgtEl>
                                          <p:spTgt spid="51">
                                            <p:txEl>
                                              <p:pRg st="5" end="5"/>
                                            </p:txEl>
                                          </p:spTgt>
                                        </p:tgtEl>
                                        <p:attrNameLst>
                                          <p:attrName>style.visibility</p:attrName>
                                        </p:attrNameLst>
                                      </p:cBhvr>
                                      <p:to>
                                        <p:strVal val="visible"/>
                                      </p:to>
                                    </p:set>
                                    <p:anim calcmode="lin" valueType="num">
                                      <p:cBhvr>
                                        <p:cTn id="32" dur="1000" fill="hold"/>
                                        <p:tgtEl>
                                          <p:spTgt spid="51">
                                            <p:txEl>
                                              <p:pRg st="5" end="5"/>
                                            </p:txEl>
                                          </p:spTgt>
                                        </p:tgtEl>
                                        <p:attrNameLst>
                                          <p:attrName>ppt_w</p:attrName>
                                        </p:attrNameLst>
                                      </p:cBhvr>
                                      <p:tavLst>
                                        <p:tav tm="0">
                                          <p:val>
                                            <p:strVal val="#ppt_w*0.70"/>
                                          </p:val>
                                        </p:tav>
                                        <p:tav tm="100000">
                                          <p:val>
                                            <p:strVal val="#ppt_w"/>
                                          </p:val>
                                        </p:tav>
                                      </p:tavLst>
                                    </p:anim>
                                    <p:anim calcmode="lin" valueType="num">
                                      <p:cBhvr>
                                        <p:cTn id="33" dur="1000" fill="hold"/>
                                        <p:tgtEl>
                                          <p:spTgt spid="51">
                                            <p:txEl>
                                              <p:pRg st="5" end="5"/>
                                            </p:txEl>
                                          </p:spTgt>
                                        </p:tgtEl>
                                        <p:attrNameLst>
                                          <p:attrName>ppt_h</p:attrName>
                                        </p:attrNameLst>
                                      </p:cBhvr>
                                      <p:tavLst>
                                        <p:tav tm="0">
                                          <p:val>
                                            <p:strVal val="#ppt_h"/>
                                          </p:val>
                                        </p:tav>
                                        <p:tav tm="100000">
                                          <p:val>
                                            <p:strVal val="#ppt_h"/>
                                          </p:val>
                                        </p:tav>
                                      </p:tavLst>
                                    </p:anim>
                                    <p:animEffect transition="in" filter="fade">
                                      <p:cBhvr>
                                        <p:cTn id="34" dur="1000"/>
                                        <p:tgtEl>
                                          <p:spTgt spid="51">
                                            <p:txEl>
                                              <p:pRg st="5" end="5"/>
                                            </p:txEl>
                                          </p:spTgt>
                                        </p:tgtEl>
                                      </p:cBhvr>
                                    </p:animEffect>
                                  </p:childTnLst>
                                </p:cTn>
                              </p:par>
                              <p:par>
                                <p:cTn id="35" presetID="55" presetClass="entr" presetSubtype="0" fill="hold" nodeType="withEffect">
                                  <p:stCondLst>
                                    <p:cond delay="0"/>
                                  </p:stCondLst>
                                  <p:childTnLst>
                                    <p:set>
                                      <p:cBhvr>
                                        <p:cTn id="36" dur="1" fill="hold">
                                          <p:stCondLst>
                                            <p:cond delay="0"/>
                                          </p:stCondLst>
                                        </p:cTn>
                                        <p:tgtEl>
                                          <p:spTgt spid="51">
                                            <p:txEl>
                                              <p:pRg st="6" end="6"/>
                                            </p:txEl>
                                          </p:spTgt>
                                        </p:tgtEl>
                                        <p:attrNameLst>
                                          <p:attrName>style.visibility</p:attrName>
                                        </p:attrNameLst>
                                      </p:cBhvr>
                                      <p:to>
                                        <p:strVal val="visible"/>
                                      </p:to>
                                    </p:set>
                                    <p:anim calcmode="lin" valueType="num">
                                      <p:cBhvr>
                                        <p:cTn id="37" dur="1000" fill="hold"/>
                                        <p:tgtEl>
                                          <p:spTgt spid="51">
                                            <p:txEl>
                                              <p:pRg st="6" end="6"/>
                                            </p:txEl>
                                          </p:spTgt>
                                        </p:tgtEl>
                                        <p:attrNameLst>
                                          <p:attrName>ppt_w</p:attrName>
                                        </p:attrNameLst>
                                      </p:cBhvr>
                                      <p:tavLst>
                                        <p:tav tm="0">
                                          <p:val>
                                            <p:strVal val="#ppt_w*0.70"/>
                                          </p:val>
                                        </p:tav>
                                        <p:tav tm="100000">
                                          <p:val>
                                            <p:strVal val="#ppt_w"/>
                                          </p:val>
                                        </p:tav>
                                      </p:tavLst>
                                    </p:anim>
                                    <p:anim calcmode="lin" valueType="num">
                                      <p:cBhvr>
                                        <p:cTn id="38" dur="1000" fill="hold"/>
                                        <p:tgtEl>
                                          <p:spTgt spid="51">
                                            <p:txEl>
                                              <p:pRg st="6" end="6"/>
                                            </p:txEl>
                                          </p:spTgt>
                                        </p:tgtEl>
                                        <p:attrNameLst>
                                          <p:attrName>ppt_h</p:attrName>
                                        </p:attrNameLst>
                                      </p:cBhvr>
                                      <p:tavLst>
                                        <p:tav tm="0">
                                          <p:val>
                                            <p:strVal val="#ppt_h"/>
                                          </p:val>
                                        </p:tav>
                                        <p:tav tm="100000">
                                          <p:val>
                                            <p:strVal val="#ppt_h"/>
                                          </p:val>
                                        </p:tav>
                                      </p:tavLst>
                                    </p:anim>
                                    <p:animEffect transition="in" filter="fade">
                                      <p:cBhvr>
                                        <p:cTn id="39" dur="1000"/>
                                        <p:tgtEl>
                                          <p:spTgt spid="51">
                                            <p:txEl>
                                              <p:pRg st="6" end="6"/>
                                            </p:txEl>
                                          </p:spTgt>
                                        </p:tgtEl>
                                      </p:cBhvr>
                                    </p:animEffect>
                                  </p:childTnLst>
                                </p:cTn>
                              </p:par>
                              <p:par>
                                <p:cTn id="40" presetID="55" presetClass="entr" presetSubtype="0" fill="hold" nodeType="withEffect">
                                  <p:stCondLst>
                                    <p:cond delay="0"/>
                                  </p:stCondLst>
                                  <p:childTnLst>
                                    <p:set>
                                      <p:cBhvr>
                                        <p:cTn id="41" dur="1" fill="hold">
                                          <p:stCondLst>
                                            <p:cond delay="0"/>
                                          </p:stCondLst>
                                        </p:cTn>
                                        <p:tgtEl>
                                          <p:spTgt spid="51">
                                            <p:txEl>
                                              <p:pRg st="7" end="7"/>
                                            </p:txEl>
                                          </p:spTgt>
                                        </p:tgtEl>
                                        <p:attrNameLst>
                                          <p:attrName>style.visibility</p:attrName>
                                        </p:attrNameLst>
                                      </p:cBhvr>
                                      <p:to>
                                        <p:strVal val="visible"/>
                                      </p:to>
                                    </p:set>
                                    <p:anim calcmode="lin" valueType="num">
                                      <p:cBhvr>
                                        <p:cTn id="42" dur="1000" fill="hold"/>
                                        <p:tgtEl>
                                          <p:spTgt spid="51">
                                            <p:txEl>
                                              <p:pRg st="7" end="7"/>
                                            </p:txEl>
                                          </p:spTgt>
                                        </p:tgtEl>
                                        <p:attrNameLst>
                                          <p:attrName>ppt_w</p:attrName>
                                        </p:attrNameLst>
                                      </p:cBhvr>
                                      <p:tavLst>
                                        <p:tav tm="0">
                                          <p:val>
                                            <p:strVal val="#ppt_w*0.70"/>
                                          </p:val>
                                        </p:tav>
                                        <p:tav tm="100000">
                                          <p:val>
                                            <p:strVal val="#ppt_w"/>
                                          </p:val>
                                        </p:tav>
                                      </p:tavLst>
                                    </p:anim>
                                    <p:anim calcmode="lin" valueType="num">
                                      <p:cBhvr>
                                        <p:cTn id="43" dur="1000" fill="hold"/>
                                        <p:tgtEl>
                                          <p:spTgt spid="51">
                                            <p:txEl>
                                              <p:pRg st="7" end="7"/>
                                            </p:txEl>
                                          </p:spTgt>
                                        </p:tgtEl>
                                        <p:attrNameLst>
                                          <p:attrName>ppt_h</p:attrName>
                                        </p:attrNameLst>
                                      </p:cBhvr>
                                      <p:tavLst>
                                        <p:tav tm="0">
                                          <p:val>
                                            <p:strVal val="#ppt_h"/>
                                          </p:val>
                                        </p:tav>
                                        <p:tav tm="100000">
                                          <p:val>
                                            <p:strVal val="#ppt_h"/>
                                          </p:val>
                                        </p:tav>
                                      </p:tavLst>
                                    </p:anim>
                                    <p:animEffect transition="in" filter="fade">
                                      <p:cBhvr>
                                        <p:cTn id="44" dur="1000"/>
                                        <p:tgtEl>
                                          <p:spTgt spid="51">
                                            <p:txEl>
                                              <p:pRg st="7" end="7"/>
                                            </p:txEl>
                                          </p:spTgt>
                                        </p:tgtEl>
                                      </p:cBhvr>
                                    </p:animEffect>
                                  </p:childTnLst>
                                </p:cTn>
                              </p:par>
                              <p:par>
                                <p:cTn id="45" presetID="55" presetClass="entr" presetSubtype="0" fill="hold" nodeType="withEffect">
                                  <p:stCondLst>
                                    <p:cond delay="0"/>
                                  </p:stCondLst>
                                  <p:childTnLst>
                                    <p:set>
                                      <p:cBhvr>
                                        <p:cTn id="46" dur="1" fill="hold">
                                          <p:stCondLst>
                                            <p:cond delay="0"/>
                                          </p:stCondLst>
                                        </p:cTn>
                                        <p:tgtEl>
                                          <p:spTgt spid="51">
                                            <p:txEl>
                                              <p:pRg st="8" end="8"/>
                                            </p:txEl>
                                          </p:spTgt>
                                        </p:tgtEl>
                                        <p:attrNameLst>
                                          <p:attrName>style.visibility</p:attrName>
                                        </p:attrNameLst>
                                      </p:cBhvr>
                                      <p:to>
                                        <p:strVal val="visible"/>
                                      </p:to>
                                    </p:set>
                                    <p:anim calcmode="lin" valueType="num">
                                      <p:cBhvr>
                                        <p:cTn id="47" dur="1000" fill="hold"/>
                                        <p:tgtEl>
                                          <p:spTgt spid="51">
                                            <p:txEl>
                                              <p:pRg st="8" end="8"/>
                                            </p:txEl>
                                          </p:spTgt>
                                        </p:tgtEl>
                                        <p:attrNameLst>
                                          <p:attrName>ppt_w</p:attrName>
                                        </p:attrNameLst>
                                      </p:cBhvr>
                                      <p:tavLst>
                                        <p:tav tm="0">
                                          <p:val>
                                            <p:strVal val="#ppt_w*0.70"/>
                                          </p:val>
                                        </p:tav>
                                        <p:tav tm="100000">
                                          <p:val>
                                            <p:strVal val="#ppt_w"/>
                                          </p:val>
                                        </p:tav>
                                      </p:tavLst>
                                    </p:anim>
                                    <p:anim calcmode="lin" valueType="num">
                                      <p:cBhvr>
                                        <p:cTn id="48" dur="1000" fill="hold"/>
                                        <p:tgtEl>
                                          <p:spTgt spid="51">
                                            <p:txEl>
                                              <p:pRg st="8" end="8"/>
                                            </p:txEl>
                                          </p:spTgt>
                                        </p:tgtEl>
                                        <p:attrNameLst>
                                          <p:attrName>ppt_h</p:attrName>
                                        </p:attrNameLst>
                                      </p:cBhvr>
                                      <p:tavLst>
                                        <p:tav tm="0">
                                          <p:val>
                                            <p:strVal val="#ppt_h"/>
                                          </p:val>
                                        </p:tav>
                                        <p:tav tm="100000">
                                          <p:val>
                                            <p:strVal val="#ppt_h"/>
                                          </p:val>
                                        </p:tav>
                                      </p:tavLst>
                                    </p:anim>
                                    <p:animEffect transition="in" filter="fade">
                                      <p:cBhvr>
                                        <p:cTn id="49" dur="1000"/>
                                        <p:tgtEl>
                                          <p:spTgt spid="51">
                                            <p:txEl>
                                              <p:pRg st="8" end="8"/>
                                            </p:txEl>
                                          </p:spTgt>
                                        </p:tgtEl>
                                      </p:cBhvr>
                                    </p:animEffect>
                                  </p:childTnLst>
                                </p:cTn>
                              </p:par>
                              <p:par>
                                <p:cTn id="50" presetID="55" presetClass="entr" presetSubtype="0" fill="hold" nodeType="withEffect">
                                  <p:stCondLst>
                                    <p:cond delay="0"/>
                                  </p:stCondLst>
                                  <p:childTnLst>
                                    <p:set>
                                      <p:cBhvr>
                                        <p:cTn id="51" dur="1" fill="hold">
                                          <p:stCondLst>
                                            <p:cond delay="0"/>
                                          </p:stCondLst>
                                        </p:cTn>
                                        <p:tgtEl>
                                          <p:spTgt spid="51">
                                            <p:txEl>
                                              <p:pRg st="9" end="9"/>
                                            </p:txEl>
                                          </p:spTgt>
                                        </p:tgtEl>
                                        <p:attrNameLst>
                                          <p:attrName>style.visibility</p:attrName>
                                        </p:attrNameLst>
                                      </p:cBhvr>
                                      <p:to>
                                        <p:strVal val="visible"/>
                                      </p:to>
                                    </p:set>
                                    <p:anim calcmode="lin" valueType="num">
                                      <p:cBhvr>
                                        <p:cTn id="52" dur="1000" fill="hold"/>
                                        <p:tgtEl>
                                          <p:spTgt spid="51">
                                            <p:txEl>
                                              <p:pRg st="9" end="9"/>
                                            </p:txEl>
                                          </p:spTgt>
                                        </p:tgtEl>
                                        <p:attrNameLst>
                                          <p:attrName>ppt_w</p:attrName>
                                        </p:attrNameLst>
                                      </p:cBhvr>
                                      <p:tavLst>
                                        <p:tav tm="0">
                                          <p:val>
                                            <p:strVal val="#ppt_w*0.70"/>
                                          </p:val>
                                        </p:tav>
                                        <p:tav tm="100000">
                                          <p:val>
                                            <p:strVal val="#ppt_w"/>
                                          </p:val>
                                        </p:tav>
                                      </p:tavLst>
                                    </p:anim>
                                    <p:anim calcmode="lin" valueType="num">
                                      <p:cBhvr>
                                        <p:cTn id="53" dur="1000" fill="hold"/>
                                        <p:tgtEl>
                                          <p:spTgt spid="51">
                                            <p:txEl>
                                              <p:pRg st="9" end="9"/>
                                            </p:txEl>
                                          </p:spTgt>
                                        </p:tgtEl>
                                        <p:attrNameLst>
                                          <p:attrName>ppt_h</p:attrName>
                                        </p:attrNameLst>
                                      </p:cBhvr>
                                      <p:tavLst>
                                        <p:tav tm="0">
                                          <p:val>
                                            <p:strVal val="#ppt_h"/>
                                          </p:val>
                                        </p:tav>
                                        <p:tav tm="100000">
                                          <p:val>
                                            <p:strVal val="#ppt_h"/>
                                          </p:val>
                                        </p:tav>
                                      </p:tavLst>
                                    </p:anim>
                                    <p:animEffect transition="in" filter="fade">
                                      <p:cBhvr>
                                        <p:cTn id="54" dur="1000"/>
                                        <p:tgtEl>
                                          <p:spTgt spid="51">
                                            <p:txEl>
                                              <p:pRg st="9" end="9"/>
                                            </p:txEl>
                                          </p:spTgt>
                                        </p:tgtEl>
                                      </p:cBhvr>
                                    </p:animEffect>
                                  </p:childTnLst>
                                </p:cTn>
                              </p:par>
                              <p:par>
                                <p:cTn id="55" presetID="55" presetClass="entr" presetSubtype="0" fill="hold" nodeType="withEffect">
                                  <p:stCondLst>
                                    <p:cond delay="0"/>
                                  </p:stCondLst>
                                  <p:childTnLst>
                                    <p:set>
                                      <p:cBhvr>
                                        <p:cTn id="56" dur="1" fill="hold">
                                          <p:stCondLst>
                                            <p:cond delay="0"/>
                                          </p:stCondLst>
                                        </p:cTn>
                                        <p:tgtEl>
                                          <p:spTgt spid="51">
                                            <p:txEl>
                                              <p:pRg st="10" end="10"/>
                                            </p:txEl>
                                          </p:spTgt>
                                        </p:tgtEl>
                                        <p:attrNameLst>
                                          <p:attrName>style.visibility</p:attrName>
                                        </p:attrNameLst>
                                      </p:cBhvr>
                                      <p:to>
                                        <p:strVal val="visible"/>
                                      </p:to>
                                    </p:set>
                                    <p:anim calcmode="lin" valueType="num">
                                      <p:cBhvr>
                                        <p:cTn id="57" dur="1000" fill="hold"/>
                                        <p:tgtEl>
                                          <p:spTgt spid="51">
                                            <p:txEl>
                                              <p:pRg st="10" end="10"/>
                                            </p:txEl>
                                          </p:spTgt>
                                        </p:tgtEl>
                                        <p:attrNameLst>
                                          <p:attrName>ppt_w</p:attrName>
                                        </p:attrNameLst>
                                      </p:cBhvr>
                                      <p:tavLst>
                                        <p:tav tm="0">
                                          <p:val>
                                            <p:strVal val="#ppt_w*0.70"/>
                                          </p:val>
                                        </p:tav>
                                        <p:tav tm="100000">
                                          <p:val>
                                            <p:strVal val="#ppt_w"/>
                                          </p:val>
                                        </p:tav>
                                      </p:tavLst>
                                    </p:anim>
                                    <p:anim calcmode="lin" valueType="num">
                                      <p:cBhvr>
                                        <p:cTn id="58" dur="1000" fill="hold"/>
                                        <p:tgtEl>
                                          <p:spTgt spid="51">
                                            <p:txEl>
                                              <p:pRg st="10" end="10"/>
                                            </p:txEl>
                                          </p:spTgt>
                                        </p:tgtEl>
                                        <p:attrNameLst>
                                          <p:attrName>ppt_h</p:attrName>
                                        </p:attrNameLst>
                                      </p:cBhvr>
                                      <p:tavLst>
                                        <p:tav tm="0">
                                          <p:val>
                                            <p:strVal val="#ppt_h"/>
                                          </p:val>
                                        </p:tav>
                                        <p:tav tm="100000">
                                          <p:val>
                                            <p:strVal val="#ppt_h"/>
                                          </p:val>
                                        </p:tav>
                                      </p:tavLst>
                                    </p:anim>
                                    <p:animEffect transition="in" filter="fade">
                                      <p:cBhvr>
                                        <p:cTn id="59" dur="1000"/>
                                        <p:tgtEl>
                                          <p:spTgt spid="51">
                                            <p:txEl>
                                              <p:pRg st="10" end="10"/>
                                            </p:txEl>
                                          </p:spTgt>
                                        </p:tgtEl>
                                      </p:cBhvr>
                                    </p:animEffect>
                                  </p:childTnLst>
                                </p:cTn>
                              </p:par>
                              <p:par>
                                <p:cTn id="60" presetID="55" presetClass="entr" presetSubtype="0" fill="hold" nodeType="withEffect">
                                  <p:stCondLst>
                                    <p:cond delay="0"/>
                                  </p:stCondLst>
                                  <p:childTnLst>
                                    <p:set>
                                      <p:cBhvr>
                                        <p:cTn id="61" dur="1" fill="hold">
                                          <p:stCondLst>
                                            <p:cond delay="0"/>
                                          </p:stCondLst>
                                        </p:cTn>
                                        <p:tgtEl>
                                          <p:spTgt spid="51">
                                            <p:txEl>
                                              <p:pRg st="11" end="11"/>
                                            </p:txEl>
                                          </p:spTgt>
                                        </p:tgtEl>
                                        <p:attrNameLst>
                                          <p:attrName>style.visibility</p:attrName>
                                        </p:attrNameLst>
                                      </p:cBhvr>
                                      <p:to>
                                        <p:strVal val="visible"/>
                                      </p:to>
                                    </p:set>
                                    <p:anim calcmode="lin" valueType="num">
                                      <p:cBhvr>
                                        <p:cTn id="62" dur="1000" fill="hold"/>
                                        <p:tgtEl>
                                          <p:spTgt spid="51">
                                            <p:txEl>
                                              <p:pRg st="11" end="11"/>
                                            </p:txEl>
                                          </p:spTgt>
                                        </p:tgtEl>
                                        <p:attrNameLst>
                                          <p:attrName>ppt_w</p:attrName>
                                        </p:attrNameLst>
                                      </p:cBhvr>
                                      <p:tavLst>
                                        <p:tav tm="0">
                                          <p:val>
                                            <p:strVal val="#ppt_w*0.70"/>
                                          </p:val>
                                        </p:tav>
                                        <p:tav tm="100000">
                                          <p:val>
                                            <p:strVal val="#ppt_w"/>
                                          </p:val>
                                        </p:tav>
                                      </p:tavLst>
                                    </p:anim>
                                    <p:anim calcmode="lin" valueType="num">
                                      <p:cBhvr>
                                        <p:cTn id="63" dur="1000" fill="hold"/>
                                        <p:tgtEl>
                                          <p:spTgt spid="51">
                                            <p:txEl>
                                              <p:pRg st="11" end="11"/>
                                            </p:txEl>
                                          </p:spTgt>
                                        </p:tgtEl>
                                        <p:attrNameLst>
                                          <p:attrName>ppt_h</p:attrName>
                                        </p:attrNameLst>
                                      </p:cBhvr>
                                      <p:tavLst>
                                        <p:tav tm="0">
                                          <p:val>
                                            <p:strVal val="#ppt_h"/>
                                          </p:val>
                                        </p:tav>
                                        <p:tav tm="100000">
                                          <p:val>
                                            <p:strVal val="#ppt_h"/>
                                          </p:val>
                                        </p:tav>
                                      </p:tavLst>
                                    </p:anim>
                                    <p:animEffect transition="in" filter="fade">
                                      <p:cBhvr>
                                        <p:cTn id="64" dur="1000"/>
                                        <p:tgtEl>
                                          <p:spTgt spid="5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4" descr="Capture d’écran 2021-08-05 à 15.29.11.png"/>
          <p:cNvPicPr preferRelativeResize="0">
            <a:picLocks noGrp="1"/>
          </p:cNvPicPr>
          <p:nvPr>
            <p:ph type="body" idx="1"/>
          </p:nvPr>
        </p:nvPicPr>
        <p:blipFill rotWithShape="1">
          <a:blip r:embed="rId3">
            <a:alphaModFix/>
          </a:blip>
          <a:srcRect l="-37325" r="-37325"/>
          <a:stretch/>
        </p:blipFill>
        <p:spPr>
          <a:xfrm>
            <a:off x="-1550536" y="244792"/>
            <a:ext cx="12245072" cy="66132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p:tgtEl>
                                          <p:spTgt spid="66"/>
                                        </p:tgtEl>
                                        <p:attrNameLst>
                                          <p:attrName>ppt_w</p:attrName>
                                        </p:attrNameLst>
                                      </p:cBhvr>
                                      <p:tavLst>
                                        <p:tav tm="0">
                                          <p:val>
                                            <p:strVal val="0"/>
                                          </p:val>
                                        </p:tav>
                                        <p:tav tm="100000">
                                          <p:val>
                                            <p:strVal val="#ppt_w"/>
                                          </p:val>
                                        </p:tav>
                                      </p:tavLst>
                                    </p:anim>
                                    <p:anim calcmode="lin" valueType="num">
                                      <p:cBhvr additive="base">
                                        <p:cTn id="8" dur="500"/>
                                        <p:tgtEl>
                                          <p:spTgt spid="6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grpSp>
        <p:nvGrpSpPr>
          <p:cNvPr id="72" name="Google Shape;72;p5"/>
          <p:cNvGrpSpPr/>
          <p:nvPr/>
        </p:nvGrpSpPr>
        <p:grpSpPr>
          <a:xfrm>
            <a:off x="428857" y="485286"/>
            <a:ext cx="6086243" cy="565433"/>
            <a:chOff x="801127" y="403254"/>
            <a:chExt cx="4331352" cy="565433"/>
          </a:xfrm>
        </p:grpSpPr>
        <p:sp>
          <p:nvSpPr>
            <p:cNvPr id="73" name="Google Shape;73;p5"/>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74" name="Google Shape;74;p5"/>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Warm up </a:t>
              </a:r>
              <a:endParaRPr sz="1800">
                <a:solidFill>
                  <a:srgbClr val="FFFFFF"/>
                </a:solidFill>
                <a:latin typeface="Open Sans SemiBold"/>
                <a:ea typeface="Open Sans SemiBold"/>
                <a:cs typeface="Open Sans SemiBold"/>
                <a:sym typeface="Open Sans SemiBold"/>
              </a:endParaRPr>
            </a:p>
          </p:txBody>
        </p:sp>
      </p:grpSp>
      <p:sp>
        <p:nvSpPr>
          <p:cNvPr id="75" name="Google Shape;75;p5"/>
          <p:cNvSpPr txBox="1"/>
          <p:nvPr/>
        </p:nvSpPr>
        <p:spPr>
          <a:xfrm>
            <a:off x="5162976" y="1268216"/>
            <a:ext cx="3761933" cy="452427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fr-FR" sz="3600" dirty="0">
                <a:solidFill>
                  <a:schemeClr val="dk1"/>
                </a:solidFill>
                <a:latin typeface="Times"/>
                <a:ea typeface="Calibri"/>
                <a:cs typeface="Times"/>
                <a:sym typeface="Calibri"/>
              </a:rPr>
              <a:t> If </a:t>
            </a:r>
            <a:r>
              <a:rPr lang="fr-FR" sz="3600" dirty="0" err="1">
                <a:solidFill>
                  <a:schemeClr val="dk1"/>
                </a:solidFill>
                <a:latin typeface="Times"/>
                <a:ea typeface="Calibri"/>
                <a:cs typeface="Times"/>
                <a:sym typeface="Calibri"/>
              </a:rPr>
              <a:t>you</a:t>
            </a:r>
            <a:r>
              <a:rPr lang="fr-FR" sz="3600" dirty="0">
                <a:solidFill>
                  <a:schemeClr val="dk1"/>
                </a:solidFill>
                <a:latin typeface="Times"/>
                <a:ea typeface="Calibri"/>
                <a:cs typeface="Times"/>
                <a:sym typeface="Calibri"/>
              </a:rPr>
              <a:t> </a:t>
            </a:r>
            <a:r>
              <a:rPr lang="fr-FR" sz="3600" dirty="0" err="1">
                <a:solidFill>
                  <a:schemeClr val="dk1"/>
                </a:solidFill>
                <a:latin typeface="Times"/>
                <a:ea typeface="Calibri"/>
                <a:cs typeface="Times"/>
                <a:sym typeface="Calibri"/>
              </a:rPr>
              <a:t>could</a:t>
            </a:r>
            <a:r>
              <a:rPr lang="fr-FR" sz="3600" dirty="0">
                <a:solidFill>
                  <a:schemeClr val="dk1"/>
                </a:solidFill>
                <a:latin typeface="Times"/>
                <a:ea typeface="Calibri"/>
                <a:cs typeface="Times"/>
                <a:sym typeface="Calibri"/>
              </a:rPr>
              <a:t> </a:t>
            </a:r>
            <a:r>
              <a:rPr lang="fr-FR" sz="3600" dirty="0" err="1">
                <a:solidFill>
                  <a:schemeClr val="dk1"/>
                </a:solidFill>
                <a:latin typeface="Times"/>
                <a:ea typeface="Calibri"/>
                <a:cs typeface="Times"/>
                <a:sym typeface="Calibri"/>
              </a:rPr>
              <a:t>volunteer</a:t>
            </a:r>
            <a:r>
              <a:rPr lang="fr-FR" sz="3600" dirty="0">
                <a:solidFill>
                  <a:schemeClr val="dk1"/>
                </a:solidFill>
                <a:latin typeface="Times"/>
                <a:ea typeface="Calibri"/>
                <a:cs typeface="Times"/>
                <a:sym typeface="Calibri"/>
              </a:rPr>
              <a:t> for a </a:t>
            </a:r>
            <a:r>
              <a:rPr lang="fr-FR" sz="3600" dirty="0" err="1">
                <a:solidFill>
                  <a:schemeClr val="dk1"/>
                </a:solidFill>
                <a:latin typeface="Times"/>
                <a:ea typeface="Calibri"/>
                <a:cs typeface="Times"/>
                <a:sym typeface="Calibri"/>
              </a:rPr>
              <a:t>charity</a:t>
            </a:r>
            <a:r>
              <a:rPr lang="fr-FR" sz="3600" dirty="0">
                <a:solidFill>
                  <a:schemeClr val="dk1"/>
                </a:solidFill>
                <a:latin typeface="Times"/>
                <a:ea typeface="Calibri"/>
                <a:cs typeface="Times"/>
                <a:sym typeface="Calibri"/>
              </a:rPr>
              <a:t> or a cause, </a:t>
            </a:r>
            <a:r>
              <a:rPr lang="fr-FR" sz="3600" dirty="0" err="1">
                <a:solidFill>
                  <a:schemeClr val="dk1"/>
                </a:solidFill>
                <a:latin typeface="Times"/>
                <a:ea typeface="Calibri"/>
                <a:cs typeface="Times"/>
                <a:sym typeface="Calibri"/>
              </a:rPr>
              <a:t>what</a:t>
            </a:r>
            <a:r>
              <a:rPr lang="fr-FR" sz="3600" dirty="0">
                <a:solidFill>
                  <a:schemeClr val="dk1"/>
                </a:solidFill>
                <a:latin typeface="Times"/>
                <a:ea typeface="Calibri"/>
                <a:cs typeface="Times"/>
                <a:sym typeface="Calibri"/>
              </a:rPr>
              <a:t> </a:t>
            </a:r>
            <a:r>
              <a:rPr lang="fr-FR" sz="3600" dirty="0" err="1">
                <a:solidFill>
                  <a:schemeClr val="dk1"/>
                </a:solidFill>
                <a:latin typeface="Times"/>
                <a:ea typeface="Calibri"/>
                <a:cs typeface="Times"/>
                <a:sym typeface="Calibri"/>
              </a:rPr>
              <a:t>would</a:t>
            </a:r>
            <a:r>
              <a:rPr lang="fr-FR" sz="3600" dirty="0">
                <a:solidFill>
                  <a:schemeClr val="dk1"/>
                </a:solidFill>
                <a:latin typeface="Times"/>
                <a:ea typeface="Calibri"/>
                <a:cs typeface="Times"/>
                <a:sym typeface="Calibri"/>
              </a:rPr>
              <a:t> </a:t>
            </a:r>
            <a:r>
              <a:rPr lang="fr-FR" sz="3600" dirty="0" err="1">
                <a:solidFill>
                  <a:schemeClr val="dk1"/>
                </a:solidFill>
                <a:latin typeface="Times"/>
                <a:ea typeface="Calibri"/>
                <a:cs typeface="Times"/>
                <a:sym typeface="Calibri"/>
              </a:rPr>
              <a:t>you</a:t>
            </a:r>
            <a:r>
              <a:rPr lang="fr-FR" sz="3600" dirty="0">
                <a:solidFill>
                  <a:schemeClr val="dk1"/>
                </a:solidFill>
                <a:latin typeface="Times"/>
                <a:ea typeface="Calibri"/>
                <a:cs typeface="Times"/>
                <a:sym typeface="Calibri"/>
              </a:rPr>
              <a:t> </a:t>
            </a:r>
            <a:r>
              <a:rPr lang="fr-FR" sz="3600" dirty="0" err="1">
                <a:solidFill>
                  <a:schemeClr val="dk1"/>
                </a:solidFill>
                <a:latin typeface="Times"/>
                <a:ea typeface="Calibri"/>
                <a:cs typeface="Times"/>
                <a:sym typeface="Calibri"/>
              </a:rPr>
              <a:t>like</a:t>
            </a:r>
            <a:r>
              <a:rPr lang="fr-FR" sz="3600" dirty="0">
                <a:solidFill>
                  <a:schemeClr val="dk1"/>
                </a:solidFill>
                <a:latin typeface="Times"/>
                <a:ea typeface="Calibri"/>
                <a:cs typeface="Times"/>
                <a:sym typeface="Calibri"/>
              </a:rPr>
              <a:t> </a:t>
            </a:r>
            <a:r>
              <a:rPr lang="fr-FR" sz="3600" dirty="0" smtClean="0">
                <a:solidFill>
                  <a:schemeClr val="dk1"/>
                </a:solidFill>
                <a:latin typeface="Times"/>
                <a:ea typeface="Calibri"/>
                <a:cs typeface="Times"/>
                <a:sym typeface="Calibri"/>
              </a:rPr>
              <a:t>to </a:t>
            </a:r>
            <a:r>
              <a:rPr lang="fr-FR" sz="3600" dirty="0" err="1" smtClean="0">
                <a:solidFill>
                  <a:schemeClr val="dk1"/>
                </a:solidFill>
                <a:latin typeface="Times"/>
                <a:ea typeface="Calibri"/>
                <a:cs typeface="Times"/>
                <a:sym typeface="Calibri"/>
              </a:rPr>
              <a:t>volunteer</a:t>
            </a:r>
            <a:r>
              <a:rPr lang="fr-FR" sz="3600" dirty="0" smtClean="0">
                <a:solidFill>
                  <a:schemeClr val="dk1"/>
                </a:solidFill>
                <a:latin typeface="Times"/>
                <a:ea typeface="Calibri"/>
                <a:cs typeface="Times"/>
                <a:sym typeface="Calibri"/>
              </a:rPr>
              <a:t> </a:t>
            </a:r>
            <a:r>
              <a:rPr lang="fr-FR" sz="3600" dirty="0">
                <a:solidFill>
                  <a:schemeClr val="dk1"/>
                </a:solidFill>
                <a:latin typeface="Times"/>
                <a:ea typeface="Calibri"/>
                <a:cs typeface="Times"/>
                <a:sym typeface="Calibri"/>
              </a:rPr>
              <a:t>for?</a:t>
            </a:r>
            <a:endParaRPr sz="3600" dirty="0">
              <a:latin typeface="Times"/>
              <a:cs typeface="Times"/>
            </a:endParaRPr>
          </a:p>
          <a:p>
            <a:pPr marL="114300" marR="0" lvl="0" indent="0" algn="just" rtl="0">
              <a:spcBef>
                <a:spcPts val="0"/>
              </a:spcBef>
              <a:spcAft>
                <a:spcPts val="0"/>
              </a:spcAft>
              <a:buNone/>
            </a:pPr>
            <a:endParaRPr sz="3600" dirty="0">
              <a:solidFill>
                <a:srgbClr val="000000"/>
              </a:solidFill>
              <a:latin typeface="Times"/>
              <a:ea typeface="Calibri"/>
              <a:cs typeface="Times"/>
              <a:sym typeface="Calibri"/>
            </a:endParaRPr>
          </a:p>
          <a:p>
            <a:pPr marL="0" marR="0" lvl="0" indent="0" algn="just" rtl="0">
              <a:spcBef>
                <a:spcPts val="0"/>
              </a:spcBef>
              <a:spcAft>
                <a:spcPts val="0"/>
              </a:spcAft>
              <a:buNone/>
            </a:pPr>
            <a:endParaRPr sz="3600" dirty="0">
              <a:solidFill>
                <a:srgbClr val="000000"/>
              </a:solidFill>
              <a:latin typeface="Times"/>
              <a:ea typeface="Calibri"/>
              <a:cs typeface="Times"/>
              <a:sym typeface="Calibri"/>
            </a:endParaRPr>
          </a:p>
        </p:txBody>
      </p:sp>
      <p:pic>
        <p:nvPicPr>
          <p:cNvPr id="76" name="Google Shape;76;p5"/>
          <p:cNvPicPr preferRelativeResize="0"/>
          <p:nvPr/>
        </p:nvPicPr>
        <p:blipFill rotWithShape="1">
          <a:blip r:embed="rId3">
            <a:alphaModFix/>
          </a:blip>
          <a:srcRect/>
          <a:stretch/>
        </p:blipFill>
        <p:spPr>
          <a:xfrm>
            <a:off x="5875457" y="4647774"/>
            <a:ext cx="3268543" cy="2210226"/>
          </a:xfrm>
          <a:prstGeom prst="rect">
            <a:avLst/>
          </a:prstGeom>
          <a:noFill/>
          <a:ln>
            <a:noFill/>
          </a:ln>
        </p:spPr>
      </p:pic>
      <p:pic>
        <p:nvPicPr>
          <p:cNvPr id="77" name="Google Shape;77;p5" descr="volunteer-charity-and-relief-work-donation-help-concept-EN8AJX.jpg"/>
          <p:cNvPicPr preferRelativeResize="0"/>
          <p:nvPr/>
        </p:nvPicPr>
        <p:blipFill rotWithShape="1">
          <a:blip r:embed="rId4">
            <a:alphaModFix/>
          </a:blip>
          <a:srcRect/>
          <a:stretch/>
        </p:blipFill>
        <p:spPr>
          <a:xfrm>
            <a:off x="76201" y="1295400"/>
            <a:ext cx="4800599" cy="4881840"/>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500"/>
                                        <p:tgtEl>
                                          <p:spTgt spid="75"/>
                                        </p:tgtEl>
                                        <p:attrNameLst>
                                          <p:attrName>ppt_w</p:attrName>
                                        </p:attrNameLst>
                                      </p:cBhvr>
                                      <p:tavLst>
                                        <p:tav tm="0">
                                          <p:val>
                                            <p:strVal val="0"/>
                                          </p:val>
                                        </p:tav>
                                        <p:tav tm="100000">
                                          <p:val>
                                            <p:strVal val="#ppt_w"/>
                                          </p:val>
                                        </p:tav>
                                      </p:tavLst>
                                    </p:anim>
                                    <p:anim calcmode="lin" valueType="num">
                                      <p:cBhvr additive="base">
                                        <p:cTn id="8" dur="500"/>
                                        <p:tgtEl>
                                          <p:spTgt spid="7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77"/>
                                        </p:tgtEl>
                                        <p:attrNameLst>
                                          <p:attrName>style.visibility</p:attrName>
                                        </p:attrNameLst>
                                      </p:cBhvr>
                                      <p:to>
                                        <p:strVal val="visible"/>
                                      </p:to>
                                    </p:set>
                                    <p:anim calcmode="lin" valueType="num">
                                      <p:cBhvr additive="base">
                                        <p:cTn id="11" dur="500"/>
                                        <p:tgtEl>
                                          <p:spTgt spid="77"/>
                                        </p:tgtEl>
                                        <p:attrNameLst>
                                          <p:attrName>ppt_w</p:attrName>
                                        </p:attrNameLst>
                                      </p:cBhvr>
                                      <p:tavLst>
                                        <p:tav tm="0">
                                          <p:val>
                                            <p:strVal val="0"/>
                                          </p:val>
                                        </p:tav>
                                        <p:tav tm="100000">
                                          <p:val>
                                            <p:strVal val="#ppt_w"/>
                                          </p:val>
                                        </p:tav>
                                      </p:tavLst>
                                    </p:anim>
                                    <p:anim calcmode="lin" valueType="num">
                                      <p:cBhvr additive="base">
                                        <p:cTn id="12" dur="500"/>
                                        <p:tgtEl>
                                          <p:spTgt spid="7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grpSp>
        <p:nvGrpSpPr>
          <p:cNvPr id="83" name="Google Shape;83;p6"/>
          <p:cNvGrpSpPr/>
          <p:nvPr/>
        </p:nvGrpSpPr>
        <p:grpSpPr>
          <a:xfrm>
            <a:off x="428857" y="485286"/>
            <a:ext cx="6086243" cy="565433"/>
            <a:chOff x="801127" y="403254"/>
            <a:chExt cx="4331352" cy="565433"/>
          </a:xfrm>
        </p:grpSpPr>
        <p:sp>
          <p:nvSpPr>
            <p:cNvPr id="84" name="Google Shape;84;p6"/>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85" name="Google Shape;85;p6"/>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Warm up </a:t>
              </a:r>
              <a:endParaRPr sz="1800">
                <a:solidFill>
                  <a:srgbClr val="FFFFFF"/>
                </a:solidFill>
                <a:latin typeface="Open Sans SemiBold"/>
                <a:ea typeface="Open Sans SemiBold"/>
                <a:cs typeface="Open Sans SemiBold"/>
                <a:sym typeface="Open Sans SemiBold"/>
              </a:endParaRPr>
            </a:p>
          </p:txBody>
        </p:sp>
      </p:grpSp>
      <p:sp>
        <p:nvSpPr>
          <p:cNvPr id="86" name="Google Shape;86;p6"/>
          <p:cNvSpPr txBox="1"/>
          <p:nvPr/>
        </p:nvSpPr>
        <p:spPr>
          <a:xfrm>
            <a:off x="857202" y="1842102"/>
            <a:ext cx="5924598" cy="3477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4400">
                <a:solidFill>
                  <a:schemeClr val="dk1"/>
                </a:solidFill>
                <a:latin typeface="Calibri"/>
                <a:ea typeface="Calibri"/>
                <a:cs typeface="Calibri"/>
                <a:sym typeface="Calibri"/>
              </a:rPr>
              <a:t> Is it better to donate your         ,       or        to a cause? Why?</a:t>
            </a:r>
            <a:endParaRPr/>
          </a:p>
          <a:p>
            <a:pPr marL="0" marR="0" lvl="0" indent="0" algn="l" rtl="0">
              <a:spcBef>
                <a:spcPts val="0"/>
              </a:spcBef>
              <a:spcAft>
                <a:spcPts val="0"/>
              </a:spcAft>
              <a:buNone/>
            </a:pPr>
            <a:endParaRPr sz="4400">
              <a:solidFill>
                <a:schemeClr val="dk1"/>
              </a:solidFill>
              <a:latin typeface="Calibri"/>
              <a:ea typeface="Calibri"/>
              <a:cs typeface="Calibri"/>
              <a:sym typeface="Calibri"/>
            </a:endParaRPr>
          </a:p>
          <a:p>
            <a:pPr marL="0" marR="0" lvl="0" indent="0" algn="l" rtl="0">
              <a:spcBef>
                <a:spcPts val="0"/>
              </a:spcBef>
              <a:spcAft>
                <a:spcPts val="0"/>
              </a:spcAft>
              <a:buNone/>
            </a:pPr>
            <a:endParaRPr sz="4400">
              <a:solidFill>
                <a:schemeClr val="dk1"/>
              </a:solidFill>
              <a:latin typeface="Calibri"/>
              <a:ea typeface="Calibri"/>
              <a:cs typeface="Calibri"/>
              <a:sym typeface="Calibri"/>
            </a:endParaRPr>
          </a:p>
        </p:txBody>
      </p:sp>
      <p:pic>
        <p:nvPicPr>
          <p:cNvPr id="87" name="Google Shape;87;p6"/>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88" name="Google Shape;88;p6"/>
          <p:cNvSpPr txBox="1"/>
          <p:nvPr/>
        </p:nvSpPr>
        <p:spPr>
          <a:xfrm>
            <a:off x="2002636" y="2667000"/>
            <a:ext cx="119776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800">
                <a:solidFill>
                  <a:schemeClr val="dk1"/>
                </a:solidFill>
                <a:latin typeface="Calibri"/>
                <a:ea typeface="Calibri"/>
                <a:cs typeface="Calibri"/>
                <a:sym typeface="Calibri"/>
              </a:rPr>
              <a:t>money</a:t>
            </a:r>
            <a:endParaRPr sz="2800">
              <a:solidFill>
                <a:schemeClr val="dk1"/>
              </a:solidFill>
              <a:latin typeface="Calibri"/>
              <a:ea typeface="Calibri"/>
              <a:cs typeface="Calibri"/>
              <a:sym typeface="Calibri"/>
            </a:endParaRPr>
          </a:p>
        </p:txBody>
      </p:sp>
      <p:sp>
        <p:nvSpPr>
          <p:cNvPr id="89" name="Google Shape;89;p6"/>
          <p:cNvSpPr txBox="1"/>
          <p:nvPr/>
        </p:nvSpPr>
        <p:spPr>
          <a:xfrm>
            <a:off x="3264587" y="2667000"/>
            <a:ext cx="85021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800">
                <a:solidFill>
                  <a:schemeClr val="dk1"/>
                </a:solidFill>
                <a:latin typeface="Calibri"/>
                <a:ea typeface="Calibri"/>
                <a:cs typeface="Calibri"/>
                <a:sym typeface="Calibri"/>
              </a:rPr>
              <a:t>time </a:t>
            </a:r>
            <a:endParaRPr sz="2800">
              <a:solidFill>
                <a:schemeClr val="dk1"/>
              </a:solidFill>
              <a:latin typeface="Calibri"/>
              <a:ea typeface="Calibri"/>
              <a:cs typeface="Calibri"/>
              <a:sym typeface="Calibri"/>
            </a:endParaRPr>
          </a:p>
        </p:txBody>
      </p:sp>
      <p:sp>
        <p:nvSpPr>
          <p:cNvPr id="90" name="Google Shape;90;p6"/>
          <p:cNvSpPr txBox="1"/>
          <p:nvPr/>
        </p:nvSpPr>
        <p:spPr>
          <a:xfrm>
            <a:off x="4762814" y="2667000"/>
            <a:ext cx="875986"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800">
                <a:solidFill>
                  <a:schemeClr val="dk1"/>
                </a:solidFill>
                <a:latin typeface="Calibri"/>
                <a:ea typeface="Calibri"/>
                <a:cs typeface="Calibri"/>
                <a:sym typeface="Calibri"/>
              </a:rPr>
              <a:t>skills </a:t>
            </a:r>
            <a:endParaRPr sz="2800">
              <a:solidFill>
                <a:schemeClr val="dk1"/>
              </a:solidFill>
              <a:latin typeface="Calibri"/>
              <a:ea typeface="Calibri"/>
              <a:cs typeface="Calibri"/>
              <a:sym typeface="Calibri"/>
            </a:endParaRPr>
          </a:p>
        </p:txBody>
      </p:sp>
      <p:pic>
        <p:nvPicPr>
          <p:cNvPr id="91" name="Google Shape;91;p6" descr="What-is-Tunisia-Currency-Information-About-Tunisian-Dinar.jpg"/>
          <p:cNvPicPr preferRelativeResize="0"/>
          <p:nvPr/>
        </p:nvPicPr>
        <p:blipFill rotWithShape="1">
          <a:blip r:embed="rId4">
            <a:alphaModFix/>
          </a:blip>
          <a:srcRect/>
          <a:stretch/>
        </p:blipFill>
        <p:spPr>
          <a:xfrm>
            <a:off x="95250" y="4114800"/>
            <a:ext cx="2800350" cy="1752600"/>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pic>
        <p:nvPicPr>
          <p:cNvPr id="92" name="Google Shape;92;p6" descr="skills-recruiters-need-featured.png"/>
          <p:cNvPicPr preferRelativeResize="0"/>
          <p:nvPr/>
        </p:nvPicPr>
        <p:blipFill rotWithShape="1">
          <a:blip r:embed="rId5">
            <a:alphaModFix/>
          </a:blip>
          <a:srcRect/>
          <a:stretch/>
        </p:blipFill>
        <p:spPr>
          <a:xfrm>
            <a:off x="4724400" y="3886200"/>
            <a:ext cx="2405995" cy="1600200"/>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pic>
        <p:nvPicPr>
          <p:cNvPr id="93" name="Google Shape;93;p6" descr="mceclip03.jpg"/>
          <p:cNvPicPr preferRelativeResize="0"/>
          <p:nvPr/>
        </p:nvPicPr>
        <p:blipFill rotWithShape="1">
          <a:blip r:embed="rId6">
            <a:alphaModFix/>
          </a:blip>
          <a:srcRect/>
          <a:stretch/>
        </p:blipFill>
        <p:spPr>
          <a:xfrm>
            <a:off x="2895600" y="4648200"/>
            <a:ext cx="1981200" cy="1931601"/>
          </a:xfrm>
          <a:prstGeom prst="ellipse">
            <a:avLst/>
          </a:prstGeom>
          <a:noFill/>
          <a:ln w="635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fade">
                                      <p:cBhvr>
                                        <p:cTn id="10" dur="500"/>
                                        <p:tgtEl>
                                          <p:spTgt spid="9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9"/>
                                        </p:tgtEl>
                                        <p:attrNameLst>
                                          <p:attrName>style.visibility</p:attrName>
                                        </p:attrNameLst>
                                      </p:cBhvr>
                                      <p:to>
                                        <p:strVal val="visible"/>
                                      </p:to>
                                    </p:set>
                                    <p:animEffect transition="in" filter="fade">
                                      <p:cBhvr>
                                        <p:cTn id="15" dur="500"/>
                                        <p:tgtEl>
                                          <p:spTgt spid="89"/>
                                        </p:tgtEl>
                                      </p:cBhvr>
                                    </p:animEffect>
                                  </p:childTnLst>
                                </p:cTn>
                              </p:par>
                              <p:par>
                                <p:cTn id="16" presetID="10" presetClass="entr" presetSubtype="0" fill="hold" nodeType="withEffect">
                                  <p:stCondLst>
                                    <p:cond delay="0"/>
                                  </p:stCondLst>
                                  <p:childTnLst>
                                    <p:set>
                                      <p:cBhvr>
                                        <p:cTn id="17" dur="1" fill="hold">
                                          <p:stCondLst>
                                            <p:cond delay="0"/>
                                          </p:stCondLst>
                                        </p:cTn>
                                        <p:tgtEl>
                                          <p:spTgt spid="93"/>
                                        </p:tgtEl>
                                        <p:attrNameLst>
                                          <p:attrName>style.visibility</p:attrName>
                                        </p:attrNameLst>
                                      </p:cBhvr>
                                      <p:to>
                                        <p:strVal val="visible"/>
                                      </p:to>
                                    </p:set>
                                    <p:animEffect transition="in" filter="fade">
                                      <p:cBhvr>
                                        <p:cTn id="18" dur="500"/>
                                        <p:tgtEl>
                                          <p:spTgt spid="9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0"/>
                                        </p:tgtEl>
                                        <p:attrNameLst>
                                          <p:attrName>style.visibility</p:attrName>
                                        </p:attrNameLst>
                                      </p:cBhvr>
                                      <p:to>
                                        <p:strVal val="visible"/>
                                      </p:to>
                                    </p:set>
                                    <p:animEffect transition="in" filter="fade">
                                      <p:cBhvr>
                                        <p:cTn id="23" dur="500"/>
                                        <p:tgtEl>
                                          <p:spTgt spid="90"/>
                                        </p:tgtEl>
                                      </p:cBhvr>
                                    </p:animEffect>
                                  </p:childTnLst>
                                </p:cTn>
                              </p:par>
                              <p:par>
                                <p:cTn id="24" presetID="10" presetClass="entr" presetSubtype="0" fill="hold" nodeType="withEffect">
                                  <p:stCondLst>
                                    <p:cond delay="0"/>
                                  </p:stCondLst>
                                  <p:childTnLst>
                                    <p:set>
                                      <p:cBhvr>
                                        <p:cTn id="25" dur="1" fill="hold">
                                          <p:stCondLst>
                                            <p:cond delay="0"/>
                                          </p:stCondLst>
                                        </p:cTn>
                                        <p:tgtEl>
                                          <p:spTgt spid="92"/>
                                        </p:tgtEl>
                                        <p:attrNameLst>
                                          <p:attrName>style.visibility</p:attrName>
                                        </p:attrNameLst>
                                      </p:cBhvr>
                                      <p:to>
                                        <p:strVal val="visible"/>
                                      </p:to>
                                    </p:set>
                                    <p:animEffect transition="in" filter="fade">
                                      <p:cBhvr>
                                        <p:cTn id="26"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pSp>
        <p:nvGrpSpPr>
          <p:cNvPr id="99" name="Google Shape;99;p7"/>
          <p:cNvGrpSpPr/>
          <p:nvPr/>
        </p:nvGrpSpPr>
        <p:grpSpPr>
          <a:xfrm>
            <a:off x="428857" y="485286"/>
            <a:ext cx="6086243" cy="565433"/>
            <a:chOff x="801127" y="403254"/>
            <a:chExt cx="4331352" cy="565433"/>
          </a:xfrm>
        </p:grpSpPr>
        <p:sp>
          <p:nvSpPr>
            <p:cNvPr id="100" name="Google Shape;100;p7"/>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101" name="Google Shape;101;p7"/>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Warm up </a:t>
              </a:r>
              <a:endParaRPr sz="1800">
                <a:solidFill>
                  <a:srgbClr val="FFFFFF"/>
                </a:solidFill>
                <a:latin typeface="Open Sans SemiBold"/>
                <a:ea typeface="Open Sans SemiBold"/>
                <a:cs typeface="Open Sans SemiBold"/>
                <a:sym typeface="Open Sans SemiBold"/>
              </a:endParaRPr>
            </a:p>
          </p:txBody>
        </p:sp>
      </p:grpSp>
      <p:sp>
        <p:nvSpPr>
          <p:cNvPr id="102" name="Google Shape;102;p7"/>
          <p:cNvSpPr txBox="1"/>
          <p:nvPr/>
        </p:nvSpPr>
        <p:spPr>
          <a:xfrm>
            <a:off x="857224" y="2428868"/>
            <a:ext cx="6991398" cy="28007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4400">
                <a:solidFill>
                  <a:schemeClr val="dk1"/>
                </a:solidFill>
                <a:latin typeface="Calibri"/>
                <a:ea typeface="Calibri"/>
                <a:cs typeface="Calibri"/>
                <a:sym typeface="Calibri"/>
              </a:rPr>
              <a:t>What motivates people to volunteer their time for free?</a:t>
            </a:r>
            <a:endParaRPr/>
          </a:p>
          <a:p>
            <a:pPr marL="0" marR="0" lvl="0" indent="0" algn="l" rtl="0">
              <a:spcBef>
                <a:spcPts val="0"/>
              </a:spcBef>
              <a:spcAft>
                <a:spcPts val="0"/>
              </a:spcAft>
              <a:buNone/>
            </a:pPr>
            <a:endParaRPr sz="4400">
              <a:solidFill>
                <a:schemeClr val="dk1"/>
              </a:solidFill>
              <a:latin typeface="Calibri"/>
              <a:ea typeface="Calibri"/>
              <a:cs typeface="Calibri"/>
              <a:sym typeface="Calibri"/>
            </a:endParaRPr>
          </a:p>
          <a:p>
            <a:pPr marL="0" marR="0" lvl="0" indent="0" algn="l" rtl="0">
              <a:spcBef>
                <a:spcPts val="0"/>
              </a:spcBef>
              <a:spcAft>
                <a:spcPts val="0"/>
              </a:spcAft>
              <a:buNone/>
            </a:pPr>
            <a:endParaRPr sz="4400">
              <a:solidFill>
                <a:schemeClr val="dk1"/>
              </a:solidFill>
              <a:latin typeface="Calibri"/>
              <a:ea typeface="Calibri"/>
              <a:cs typeface="Calibri"/>
              <a:sym typeface="Calibri"/>
            </a:endParaRPr>
          </a:p>
        </p:txBody>
      </p:sp>
      <p:pic>
        <p:nvPicPr>
          <p:cNvPr id="103" name="Google Shape;103;p7"/>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10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109" name="Google Shape;109;p8"/>
          <p:cNvGrpSpPr/>
          <p:nvPr/>
        </p:nvGrpSpPr>
        <p:grpSpPr>
          <a:xfrm>
            <a:off x="428857" y="485286"/>
            <a:ext cx="6086243" cy="565433"/>
            <a:chOff x="801127" y="403254"/>
            <a:chExt cx="4331352" cy="565433"/>
          </a:xfrm>
        </p:grpSpPr>
        <p:sp>
          <p:nvSpPr>
            <p:cNvPr id="110" name="Google Shape;110;p8"/>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111" name="Google Shape;111;p8"/>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DEFINTION </a:t>
              </a:r>
              <a:endParaRPr sz="1800">
                <a:solidFill>
                  <a:srgbClr val="FFFFFF"/>
                </a:solidFill>
                <a:latin typeface="Open Sans SemiBold"/>
                <a:ea typeface="Open Sans SemiBold"/>
                <a:cs typeface="Open Sans SemiBold"/>
                <a:sym typeface="Open Sans SemiBold"/>
              </a:endParaRPr>
            </a:p>
          </p:txBody>
        </p:sp>
      </p:grpSp>
      <p:sp>
        <p:nvSpPr>
          <p:cNvPr id="112" name="Google Shape;112;p8"/>
          <p:cNvSpPr txBox="1"/>
          <p:nvPr/>
        </p:nvSpPr>
        <p:spPr>
          <a:xfrm>
            <a:off x="749886" y="1698998"/>
            <a:ext cx="5080809" cy="56938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2800" b="1" dirty="0">
                <a:solidFill>
                  <a:srgbClr val="953735"/>
                </a:solidFill>
                <a:latin typeface="Calibri"/>
                <a:ea typeface="Calibri"/>
                <a:cs typeface="Calibri"/>
                <a:sym typeface="Calibri"/>
              </a:rPr>
              <a:t>A </a:t>
            </a:r>
            <a:r>
              <a:rPr lang="fr-FR" sz="2800" b="1" dirty="0" err="1">
                <a:solidFill>
                  <a:srgbClr val="953735"/>
                </a:solidFill>
                <a:latin typeface="Calibri"/>
                <a:ea typeface="Calibri"/>
                <a:cs typeface="Calibri"/>
                <a:sym typeface="Calibri"/>
              </a:rPr>
              <a:t>volunteer</a:t>
            </a:r>
            <a:r>
              <a:rPr lang="fr-FR" sz="2800" dirty="0">
                <a:solidFill>
                  <a:srgbClr val="953735"/>
                </a:solidFill>
                <a:latin typeface="Calibri"/>
                <a:ea typeface="Calibri"/>
                <a:cs typeface="Calibri"/>
                <a:sym typeface="Calibri"/>
              </a:rPr>
              <a:t>: </a:t>
            </a:r>
            <a:r>
              <a:rPr lang="fr-FR" sz="2800" dirty="0">
                <a:solidFill>
                  <a:schemeClr val="dk1"/>
                </a:solidFill>
                <a:latin typeface="Calibri"/>
                <a:ea typeface="Calibri"/>
                <a:cs typeface="Calibri"/>
                <a:sym typeface="Calibri"/>
              </a:rPr>
              <a:t>a </a:t>
            </a:r>
            <a:r>
              <a:rPr lang="fr-FR" sz="2800" dirty="0" err="1">
                <a:solidFill>
                  <a:schemeClr val="dk1"/>
                </a:solidFill>
                <a:latin typeface="Calibri"/>
                <a:ea typeface="Calibri"/>
                <a:cs typeface="Calibri"/>
                <a:sym typeface="Calibri"/>
              </a:rPr>
              <a:t>person</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who</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does</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something</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especially</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helping</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other</a:t>
            </a:r>
            <a:r>
              <a:rPr lang="fr-FR" sz="2800" dirty="0">
                <a:solidFill>
                  <a:schemeClr val="dk1"/>
                </a:solidFill>
                <a:latin typeface="Calibri"/>
                <a:ea typeface="Calibri"/>
                <a:cs typeface="Calibri"/>
                <a:sym typeface="Calibri"/>
              </a:rPr>
              <a:t> people, </a:t>
            </a:r>
            <a:r>
              <a:rPr lang="fr-FR" sz="2800" dirty="0" err="1">
                <a:solidFill>
                  <a:schemeClr val="dk1"/>
                </a:solidFill>
                <a:latin typeface="Calibri"/>
                <a:ea typeface="Calibri"/>
                <a:cs typeface="Calibri"/>
                <a:sym typeface="Calibri"/>
              </a:rPr>
              <a:t>willingly</a:t>
            </a:r>
            <a:r>
              <a:rPr lang="fr-FR" sz="2800" dirty="0">
                <a:solidFill>
                  <a:schemeClr val="dk1"/>
                </a:solidFill>
                <a:latin typeface="Calibri"/>
                <a:ea typeface="Calibri"/>
                <a:cs typeface="Calibri"/>
                <a:sym typeface="Calibri"/>
              </a:rPr>
              <a:t> and </a:t>
            </a:r>
            <a:r>
              <a:rPr lang="fr-FR" sz="2800" dirty="0" err="1">
                <a:solidFill>
                  <a:schemeClr val="dk1"/>
                </a:solidFill>
                <a:latin typeface="Calibri"/>
                <a:ea typeface="Calibri"/>
                <a:cs typeface="Calibri"/>
                <a:sym typeface="Calibri"/>
              </a:rPr>
              <a:t>without</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being</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forced</a:t>
            </a:r>
            <a:r>
              <a:rPr lang="fr-FR" sz="2800" dirty="0">
                <a:solidFill>
                  <a:schemeClr val="dk1"/>
                </a:solidFill>
                <a:latin typeface="Calibri"/>
                <a:ea typeface="Calibri"/>
                <a:cs typeface="Calibri"/>
                <a:sym typeface="Calibri"/>
              </a:rPr>
              <a:t> or </a:t>
            </a:r>
            <a:r>
              <a:rPr lang="fr-FR" sz="2800" dirty="0" err="1">
                <a:solidFill>
                  <a:schemeClr val="dk1"/>
                </a:solidFill>
                <a:latin typeface="Calibri"/>
                <a:ea typeface="Calibri"/>
                <a:cs typeface="Calibri"/>
                <a:sym typeface="Calibri"/>
              </a:rPr>
              <a:t>paid</a:t>
            </a:r>
            <a:r>
              <a:rPr lang="fr-FR" sz="2800" dirty="0">
                <a:solidFill>
                  <a:schemeClr val="dk1"/>
                </a:solidFill>
                <a:latin typeface="Calibri"/>
                <a:ea typeface="Calibri"/>
                <a:cs typeface="Calibri"/>
                <a:sym typeface="Calibri"/>
              </a:rPr>
              <a:t> to do </a:t>
            </a:r>
            <a:r>
              <a:rPr lang="fr-FR" sz="2800" dirty="0" err="1">
                <a:solidFill>
                  <a:schemeClr val="dk1"/>
                </a:solidFill>
                <a:latin typeface="Calibri"/>
                <a:ea typeface="Calibri"/>
                <a:cs typeface="Calibri"/>
                <a:sym typeface="Calibri"/>
              </a:rPr>
              <a:t>it</a:t>
            </a:r>
            <a:r>
              <a:rPr lang="fr-FR" sz="2800" dirty="0">
                <a:solidFill>
                  <a:schemeClr val="dk1"/>
                </a:solidFill>
                <a:latin typeface="Calibri"/>
                <a:ea typeface="Calibri"/>
                <a:cs typeface="Calibri"/>
                <a:sym typeface="Calibri"/>
              </a:rPr>
              <a:t>.</a:t>
            </a:r>
            <a:endParaRPr sz="2800" dirty="0"/>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2800" b="1" dirty="0">
                <a:solidFill>
                  <a:srgbClr val="953735"/>
                </a:solidFill>
                <a:latin typeface="Calibri"/>
                <a:ea typeface="Calibri"/>
                <a:cs typeface="Calibri"/>
                <a:sym typeface="Calibri"/>
              </a:rPr>
              <a:t>To </a:t>
            </a:r>
            <a:r>
              <a:rPr lang="fr-FR" sz="2800" b="1" dirty="0" err="1">
                <a:solidFill>
                  <a:srgbClr val="953735"/>
                </a:solidFill>
                <a:latin typeface="Calibri"/>
                <a:ea typeface="Calibri"/>
                <a:cs typeface="Calibri"/>
                <a:sym typeface="Calibri"/>
              </a:rPr>
              <a:t>volunteer</a:t>
            </a:r>
            <a:r>
              <a:rPr lang="fr-FR" sz="2800" b="1" dirty="0">
                <a:solidFill>
                  <a:srgbClr val="953735"/>
                </a:solidFill>
                <a:latin typeface="Calibri"/>
                <a:ea typeface="Calibri"/>
                <a:cs typeface="Calibri"/>
                <a:sym typeface="Calibri"/>
              </a:rPr>
              <a:t>: </a:t>
            </a:r>
            <a:r>
              <a:rPr lang="fr-FR" sz="2800" dirty="0">
                <a:solidFill>
                  <a:schemeClr val="dk1"/>
                </a:solidFill>
                <a:latin typeface="Calibri"/>
                <a:ea typeface="Calibri"/>
                <a:cs typeface="Calibri"/>
                <a:sym typeface="Calibri"/>
              </a:rPr>
              <a:t>to </a:t>
            </a:r>
            <a:r>
              <a:rPr lang="fr-FR" sz="2800" dirty="0" err="1">
                <a:solidFill>
                  <a:schemeClr val="dk1"/>
                </a:solidFill>
                <a:latin typeface="Calibri"/>
                <a:ea typeface="Calibri"/>
                <a:cs typeface="Calibri"/>
                <a:sym typeface="Calibri"/>
              </a:rPr>
              <a:t>offer</a:t>
            </a:r>
            <a:r>
              <a:rPr lang="fr-FR" sz="2800" dirty="0">
                <a:solidFill>
                  <a:schemeClr val="dk1"/>
                </a:solidFill>
                <a:latin typeface="Calibri"/>
                <a:ea typeface="Calibri"/>
                <a:cs typeface="Calibri"/>
                <a:sym typeface="Calibri"/>
              </a:rPr>
              <a:t> to do </a:t>
            </a:r>
            <a:r>
              <a:rPr lang="fr-FR" sz="2800" dirty="0" err="1">
                <a:solidFill>
                  <a:schemeClr val="dk1"/>
                </a:solidFill>
                <a:latin typeface="Calibri"/>
                <a:ea typeface="Calibri"/>
                <a:cs typeface="Calibri"/>
                <a:sym typeface="Calibri"/>
              </a:rPr>
              <a:t>something</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that</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you</a:t>
            </a:r>
            <a:r>
              <a:rPr lang="fr-FR" sz="2800" dirty="0">
                <a:solidFill>
                  <a:schemeClr val="dk1"/>
                </a:solidFill>
                <a:latin typeface="Calibri"/>
                <a:ea typeface="Calibri"/>
                <a:cs typeface="Calibri"/>
                <a:sym typeface="Calibri"/>
              </a:rPr>
              <a:t> do not have to do, </a:t>
            </a:r>
            <a:r>
              <a:rPr lang="fr-FR" sz="2800" dirty="0" err="1">
                <a:solidFill>
                  <a:schemeClr val="dk1"/>
                </a:solidFill>
                <a:latin typeface="Calibri"/>
                <a:ea typeface="Calibri"/>
                <a:cs typeface="Calibri"/>
                <a:sym typeface="Calibri"/>
              </a:rPr>
              <a:t>often</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without</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having</a:t>
            </a:r>
            <a:r>
              <a:rPr lang="fr-FR" sz="2800" dirty="0">
                <a:solidFill>
                  <a:schemeClr val="dk1"/>
                </a:solidFill>
                <a:latin typeface="Calibri"/>
                <a:ea typeface="Calibri"/>
                <a:cs typeface="Calibri"/>
                <a:sym typeface="Calibri"/>
              </a:rPr>
              <a:t> been </a:t>
            </a:r>
            <a:r>
              <a:rPr lang="fr-FR" sz="2800" dirty="0" err="1">
                <a:solidFill>
                  <a:schemeClr val="dk1"/>
                </a:solidFill>
                <a:latin typeface="Calibri"/>
                <a:ea typeface="Calibri"/>
                <a:cs typeface="Calibri"/>
                <a:sym typeface="Calibri"/>
              </a:rPr>
              <a:t>asked</a:t>
            </a:r>
            <a:r>
              <a:rPr lang="fr-FR" sz="2800" dirty="0">
                <a:solidFill>
                  <a:schemeClr val="dk1"/>
                </a:solidFill>
                <a:latin typeface="Calibri"/>
                <a:ea typeface="Calibri"/>
                <a:cs typeface="Calibri"/>
                <a:sym typeface="Calibri"/>
              </a:rPr>
              <a:t> to do </a:t>
            </a:r>
            <a:r>
              <a:rPr lang="fr-FR" sz="2800" dirty="0" err="1">
                <a:solidFill>
                  <a:schemeClr val="dk1"/>
                </a:solidFill>
                <a:latin typeface="Calibri"/>
                <a:ea typeface="Calibri"/>
                <a:cs typeface="Calibri"/>
                <a:sym typeface="Calibri"/>
              </a:rPr>
              <a:t>it</a:t>
            </a:r>
            <a:r>
              <a:rPr lang="fr-FR" sz="2800" dirty="0">
                <a:solidFill>
                  <a:schemeClr val="dk1"/>
                </a:solidFill>
                <a:latin typeface="Calibri"/>
                <a:ea typeface="Calibri"/>
                <a:cs typeface="Calibri"/>
                <a:sym typeface="Calibri"/>
              </a:rPr>
              <a:t> and/or </a:t>
            </a:r>
            <a:r>
              <a:rPr lang="fr-FR" sz="2800" dirty="0" err="1">
                <a:solidFill>
                  <a:schemeClr val="dk1"/>
                </a:solidFill>
                <a:latin typeface="Calibri"/>
                <a:ea typeface="Calibri"/>
                <a:cs typeface="Calibri"/>
                <a:sym typeface="Calibri"/>
              </a:rPr>
              <a:t>without</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expecting</a:t>
            </a:r>
            <a:r>
              <a:rPr lang="fr-FR" sz="2800" dirty="0">
                <a:solidFill>
                  <a:schemeClr val="dk1"/>
                </a:solidFill>
                <a:latin typeface="Calibri"/>
                <a:ea typeface="Calibri"/>
                <a:cs typeface="Calibri"/>
                <a:sym typeface="Calibri"/>
              </a:rPr>
              <a:t> </a:t>
            </a:r>
            <a:r>
              <a:rPr lang="fr-FR" sz="2800" dirty="0" err="1">
                <a:solidFill>
                  <a:schemeClr val="dk1"/>
                </a:solidFill>
                <a:latin typeface="Calibri"/>
                <a:ea typeface="Calibri"/>
                <a:cs typeface="Calibri"/>
                <a:sym typeface="Calibri"/>
              </a:rPr>
              <a:t>payment</a:t>
            </a:r>
            <a:r>
              <a:rPr lang="fr-FR" sz="2800" dirty="0">
                <a:solidFill>
                  <a:schemeClr val="dk1"/>
                </a:solidFill>
                <a:latin typeface="Calibri"/>
                <a:ea typeface="Calibri"/>
                <a:cs typeface="Calibri"/>
                <a:sym typeface="Calibri"/>
              </a:rPr>
              <a:t>:</a:t>
            </a:r>
            <a:endParaRPr sz="2800" dirty="0"/>
          </a:p>
          <a:p>
            <a:pPr marL="114300" marR="0" lvl="0" indent="0" algn="l" rtl="0">
              <a:spcBef>
                <a:spcPts val="0"/>
              </a:spcBef>
              <a:spcAft>
                <a:spcPts val="0"/>
              </a:spcAft>
              <a:buNone/>
            </a:pPr>
            <a:endParaRPr sz="2800" dirty="0">
              <a:solidFill>
                <a:srgbClr val="000000"/>
              </a:solidFill>
              <a:latin typeface="Calibri"/>
              <a:ea typeface="Calibri"/>
              <a:cs typeface="Calibri"/>
              <a:sym typeface="Calibri"/>
            </a:endParaRPr>
          </a:p>
          <a:p>
            <a:pPr marL="0" marR="0" lvl="0" indent="0" algn="l" rtl="0">
              <a:spcBef>
                <a:spcPts val="0"/>
              </a:spcBef>
              <a:spcAft>
                <a:spcPts val="0"/>
              </a:spcAft>
              <a:buNone/>
            </a:pPr>
            <a:endParaRPr sz="2800" dirty="0">
              <a:solidFill>
                <a:srgbClr val="000000"/>
              </a:solidFill>
              <a:latin typeface="Calibri"/>
              <a:ea typeface="Calibri"/>
              <a:cs typeface="Calibri"/>
              <a:sym typeface="Calibri"/>
            </a:endParaRPr>
          </a:p>
        </p:txBody>
      </p:sp>
      <p:pic>
        <p:nvPicPr>
          <p:cNvPr id="113" name="Google Shape;113;p8"/>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grpSp>
        <p:nvGrpSpPr>
          <p:cNvPr id="119" name="Google Shape;119;p9"/>
          <p:cNvGrpSpPr/>
          <p:nvPr/>
        </p:nvGrpSpPr>
        <p:grpSpPr>
          <a:xfrm>
            <a:off x="428857" y="485286"/>
            <a:ext cx="6086243" cy="565433"/>
            <a:chOff x="801127" y="403254"/>
            <a:chExt cx="4331352" cy="565433"/>
          </a:xfrm>
        </p:grpSpPr>
        <p:sp>
          <p:nvSpPr>
            <p:cNvPr id="120" name="Google Shape;120;p9"/>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121" name="Google Shape;121;p9"/>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What is volunteering? </a:t>
              </a:r>
              <a:endParaRPr sz="1800">
                <a:solidFill>
                  <a:srgbClr val="FFFFFF"/>
                </a:solidFill>
                <a:latin typeface="Open Sans SemiBold"/>
                <a:ea typeface="Open Sans SemiBold"/>
                <a:cs typeface="Open Sans SemiBold"/>
                <a:sym typeface="Open Sans SemiBold"/>
              </a:endParaRPr>
            </a:p>
          </p:txBody>
        </p:sp>
      </p:grpSp>
      <p:sp>
        <p:nvSpPr>
          <p:cNvPr id="122" name="Google Shape;122;p9"/>
          <p:cNvSpPr txBox="1"/>
          <p:nvPr/>
        </p:nvSpPr>
        <p:spPr>
          <a:xfrm>
            <a:off x="69275" y="1842102"/>
            <a:ext cx="5943600"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dirty="0" err="1">
                <a:solidFill>
                  <a:schemeClr val="dk2"/>
                </a:solidFill>
                <a:latin typeface="Calibri"/>
                <a:ea typeface="Calibri"/>
                <a:cs typeface="Calibri"/>
                <a:sym typeface="Calibri"/>
              </a:rPr>
              <a:t>Volunteering</a:t>
            </a:r>
            <a:r>
              <a:rPr lang="fr-FR" sz="1800" b="1" dirty="0">
                <a:solidFill>
                  <a:schemeClr val="dk2"/>
                </a:solidFill>
                <a:latin typeface="Calibri"/>
                <a:ea typeface="Calibri"/>
                <a:cs typeface="Calibri"/>
                <a:sym typeface="Calibri"/>
              </a:rPr>
              <a:t> </a:t>
            </a:r>
            <a:r>
              <a:rPr lang="fr-FR" sz="1800" b="1" dirty="0" err="1">
                <a:solidFill>
                  <a:schemeClr val="dk2"/>
                </a:solidFill>
                <a:latin typeface="Calibri"/>
                <a:ea typeface="Calibri"/>
                <a:cs typeface="Calibri"/>
                <a:sym typeface="Calibri"/>
              </a:rPr>
              <a:t>is</a:t>
            </a:r>
            <a:r>
              <a:rPr lang="fr-FR" sz="1800" b="1" dirty="0">
                <a:solidFill>
                  <a:schemeClr val="dk2"/>
                </a:solidFill>
                <a:latin typeface="Calibri"/>
                <a:ea typeface="Calibri"/>
                <a:cs typeface="Calibri"/>
                <a:sym typeface="Calibri"/>
              </a:rPr>
              <a:t> time </a:t>
            </a:r>
            <a:r>
              <a:rPr lang="fr-FR" sz="1800" b="1" dirty="0" err="1">
                <a:solidFill>
                  <a:schemeClr val="dk2"/>
                </a:solidFill>
                <a:latin typeface="Calibri"/>
                <a:ea typeface="Calibri"/>
                <a:cs typeface="Calibri"/>
                <a:sym typeface="Calibri"/>
              </a:rPr>
              <a:t>willingly</a:t>
            </a:r>
            <a:r>
              <a:rPr lang="fr-FR" sz="1800" b="1" dirty="0">
                <a:solidFill>
                  <a:schemeClr val="dk2"/>
                </a:solidFill>
                <a:latin typeface="Calibri"/>
                <a:ea typeface="Calibri"/>
                <a:cs typeface="Calibri"/>
                <a:sym typeface="Calibri"/>
              </a:rPr>
              <a:t> </a:t>
            </a:r>
            <a:r>
              <a:rPr lang="fr-FR" sz="1800" b="1" dirty="0" err="1">
                <a:solidFill>
                  <a:schemeClr val="dk2"/>
                </a:solidFill>
                <a:latin typeface="Calibri"/>
                <a:ea typeface="Calibri"/>
                <a:cs typeface="Calibri"/>
                <a:sym typeface="Calibri"/>
              </a:rPr>
              <a:t>given</a:t>
            </a:r>
            <a:r>
              <a:rPr lang="fr-FR" sz="1800" b="1" dirty="0">
                <a:solidFill>
                  <a:schemeClr val="dk2"/>
                </a:solidFill>
                <a:latin typeface="Calibri"/>
                <a:ea typeface="Calibri"/>
                <a:cs typeface="Calibri"/>
                <a:sym typeface="Calibri"/>
              </a:rPr>
              <a:t> for the </a:t>
            </a:r>
            <a:r>
              <a:rPr lang="fr-FR" sz="1800" b="1" dirty="0" err="1">
                <a:solidFill>
                  <a:schemeClr val="dk2"/>
                </a:solidFill>
                <a:latin typeface="Calibri"/>
                <a:ea typeface="Calibri"/>
                <a:cs typeface="Calibri"/>
                <a:sym typeface="Calibri"/>
              </a:rPr>
              <a:t>common</a:t>
            </a:r>
            <a:r>
              <a:rPr lang="fr-FR" sz="1800" b="1" dirty="0">
                <a:solidFill>
                  <a:schemeClr val="dk2"/>
                </a:solidFill>
                <a:latin typeface="Calibri"/>
                <a:ea typeface="Calibri"/>
                <a:cs typeface="Calibri"/>
                <a:sym typeface="Calibri"/>
              </a:rPr>
              <a:t> good and </a:t>
            </a:r>
            <a:r>
              <a:rPr lang="fr-FR" sz="1800" b="1" dirty="0" err="1">
                <a:solidFill>
                  <a:schemeClr val="dk2"/>
                </a:solidFill>
                <a:latin typeface="Calibri"/>
                <a:ea typeface="Calibri"/>
                <a:cs typeface="Calibri"/>
                <a:sym typeface="Calibri"/>
              </a:rPr>
              <a:t>without</a:t>
            </a:r>
            <a:r>
              <a:rPr lang="fr-FR" sz="1800" b="1" dirty="0">
                <a:solidFill>
                  <a:schemeClr val="dk2"/>
                </a:solidFill>
                <a:latin typeface="Calibri"/>
                <a:ea typeface="Calibri"/>
                <a:cs typeface="Calibri"/>
                <a:sym typeface="Calibri"/>
              </a:rPr>
              <a:t> </a:t>
            </a:r>
            <a:r>
              <a:rPr lang="fr-FR" sz="1800" b="1" dirty="0" err="1">
                <a:solidFill>
                  <a:schemeClr val="dk2"/>
                </a:solidFill>
                <a:latin typeface="Calibri"/>
                <a:ea typeface="Calibri"/>
                <a:cs typeface="Calibri"/>
                <a:sym typeface="Calibri"/>
              </a:rPr>
              <a:t>financial</a:t>
            </a:r>
            <a:r>
              <a:rPr lang="fr-FR" sz="1800" b="1" dirty="0">
                <a:solidFill>
                  <a:schemeClr val="dk2"/>
                </a:solidFill>
                <a:latin typeface="Calibri"/>
                <a:ea typeface="Calibri"/>
                <a:cs typeface="Calibri"/>
                <a:sym typeface="Calibri"/>
              </a:rPr>
              <a:t> gain.</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fr-FR" sz="1800" dirty="0" err="1">
                <a:solidFill>
                  <a:schemeClr val="dk1"/>
                </a:solidFill>
                <a:latin typeface="Calibri"/>
                <a:ea typeface="Calibri"/>
                <a:cs typeface="Calibri"/>
                <a:sym typeface="Calibri"/>
              </a:rPr>
              <a:t>Volunteering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means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giving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time and </a:t>
            </a:r>
            <a:r>
              <a:rPr lang="fr-FR" sz="1800" dirty="0" err="1">
                <a:solidFill>
                  <a:schemeClr val="dk1"/>
                </a:solidFill>
                <a:latin typeface="Calibri"/>
                <a:ea typeface="Calibri"/>
                <a:cs typeface="Calibri"/>
                <a:sym typeface="Calibri"/>
              </a:rPr>
              <a:t>abilities</a:t>
            </a:r>
            <a:r>
              <a:rPr lang="fr-FR" sz="1800" dirty="0">
                <a:solidFill>
                  <a:schemeClr val="dk1"/>
                </a:solidFill>
                <a:latin typeface="Calibri"/>
                <a:ea typeface="Calibri"/>
                <a:cs typeface="Calibri"/>
                <a:sym typeface="Calibri"/>
              </a:rPr>
              <a:t> to </a:t>
            </a:r>
            <a:r>
              <a:rPr lang="fr-FR" sz="1800" dirty="0" err="1">
                <a:solidFill>
                  <a:schemeClr val="dk1"/>
                </a:solidFill>
                <a:latin typeface="Calibri"/>
                <a:ea typeface="Calibri"/>
                <a:cs typeface="Calibri"/>
                <a:sym typeface="Calibri"/>
              </a:rPr>
              <a:t>aid</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others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usually</a:t>
            </a:r>
            <a:r>
              <a:rPr lang="fr-FR" sz="1800" dirty="0">
                <a:solidFill>
                  <a:schemeClr val="dk1"/>
                </a:solidFill>
                <a:latin typeface="Calibri"/>
                <a:ea typeface="Calibri"/>
                <a:cs typeface="Calibri"/>
                <a:sym typeface="Calibri"/>
              </a:rPr>
              <a:t> a non-profit </a:t>
            </a:r>
            <a:r>
              <a:rPr lang="fr-FR" sz="1800" dirty="0" err="1">
                <a:solidFill>
                  <a:schemeClr val="dk1"/>
                </a:solidFill>
                <a:latin typeface="Calibri"/>
                <a:ea typeface="Calibri"/>
                <a:cs typeface="Calibri"/>
                <a:sym typeface="Calibri"/>
              </a:rPr>
              <a:t>organization</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without</a:t>
            </a:r>
            <a:r>
              <a:rPr lang="fr-FR" sz="1800" dirty="0">
                <a:solidFill>
                  <a:schemeClr val="dk1"/>
                </a:solidFill>
                <a:latin typeface="Calibri"/>
                <a:ea typeface="Calibri"/>
                <a:cs typeface="Calibri"/>
                <a:sym typeface="Calibri"/>
              </a:rPr>
              <a:t> the </a:t>
            </a:r>
            <a:r>
              <a:rPr lang="fr-FR" sz="1800" dirty="0" err="1">
                <a:solidFill>
                  <a:schemeClr val="dk1"/>
                </a:solidFill>
                <a:latin typeface="Calibri"/>
                <a:ea typeface="Calibri"/>
                <a:cs typeface="Calibri"/>
                <a:sym typeface="Calibri"/>
              </a:rPr>
              <a:t>want</a:t>
            </a:r>
            <a:r>
              <a:rPr lang="fr-FR" sz="1800" dirty="0">
                <a:solidFill>
                  <a:schemeClr val="dk1"/>
                </a:solidFill>
                <a:latin typeface="Calibri"/>
                <a:ea typeface="Calibri"/>
                <a:cs typeface="Calibri"/>
                <a:sym typeface="Calibri"/>
              </a:rPr>
              <a:t> of </a:t>
            </a:r>
            <a:r>
              <a:rPr lang="fr-FR" sz="1800" dirty="0" err="1">
                <a:solidFill>
                  <a:schemeClr val="dk1"/>
                </a:solidFill>
                <a:latin typeface="Calibri"/>
                <a:ea typeface="Calibri"/>
                <a:cs typeface="Calibri"/>
                <a:sym typeface="Calibri"/>
              </a:rPr>
              <a:t>financial</a:t>
            </a:r>
            <a:r>
              <a:rPr lang="fr-FR" sz="1800" dirty="0">
                <a:solidFill>
                  <a:schemeClr val="dk1"/>
                </a:solidFill>
                <a:latin typeface="Calibri"/>
                <a:ea typeface="Calibri"/>
                <a:cs typeface="Calibri"/>
                <a:sym typeface="Calibri"/>
              </a:rPr>
              <a:t> compensation.</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fr-FR" sz="1800" dirty="0" err="1">
                <a:solidFill>
                  <a:schemeClr val="dk1"/>
                </a:solidFill>
                <a:latin typeface="Calibri"/>
                <a:ea typeface="Calibri"/>
                <a:cs typeface="Calibri"/>
                <a:sym typeface="Calibri"/>
              </a:rPr>
              <a:t>Volunteering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is</a:t>
            </a:r>
            <a:r>
              <a:rPr lang="fr-FR" sz="1800" dirty="0">
                <a:solidFill>
                  <a:schemeClr val="dk1"/>
                </a:solidFill>
                <a:latin typeface="Calibri"/>
                <a:ea typeface="Calibri"/>
                <a:cs typeface="Calibri"/>
                <a:sym typeface="Calibri"/>
              </a:rPr>
              <a:t> a </a:t>
            </a:r>
            <a:r>
              <a:rPr lang="fr-FR" sz="1800" dirty="0" err="1">
                <a:solidFill>
                  <a:schemeClr val="dk1"/>
                </a:solidFill>
                <a:latin typeface="Calibri"/>
                <a:ea typeface="Calibri"/>
                <a:cs typeface="Calibri"/>
                <a:sym typeface="Calibri"/>
              </a:rPr>
              <a:t>voluntary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act</a:t>
            </a:r>
            <a:r>
              <a:rPr lang="fr-FR" sz="1800" dirty="0">
                <a:solidFill>
                  <a:schemeClr val="dk1"/>
                </a:solidFill>
                <a:latin typeface="Calibri"/>
                <a:ea typeface="Calibri"/>
                <a:cs typeface="Calibri"/>
                <a:sym typeface="Calibri"/>
              </a:rPr>
              <a:t> of an </a:t>
            </a:r>
            <a:r>
              <a:rPr lang="fr-FR" sz="1800" dirty="0" err="1">
                <a:solidFill>
                  <a:schemeClr val="dk1"/>
                </a:solidFill>
                <a:latin typeface="Calibri"/>
                <a:ea typeface="Calibri"/>
                <a:cs typeface="Calibri"/>
                <a:sym typeface="Calibri"/>
              </a:rPr>
              <a:t>individual</a:t>
            </a:r>
            <a:r>
              <a:rPr lang="fr-FR" sz="1800" dirty="0">
                <a:solidFill>
                  <a:schemeClr val="dk1"/>
                </a:solidFill>
                <a:latin typeface="Calibri"/>
                <a:ea typeface="Calibri"/>
                <a:cs typeface="Calibri"/>
                <a:sym typeface="Calibri"/>
              </a:rPr>
              <a:t> or group </a:t>
            </a:r>
            <a:r>
              <a:rPr lang="fr-FR" sz="1800" dirty="0" err="1">
                <a:solidFill>
                  <a:schemeClr val="dk1"/>
                </a:solidFill>
                <a:latin typeface="Calibri"/>
                <a:ea typeface="Calibri"/>
                <a:cs typeface="Calibri"/>
                <a:sym typeface="Calibri"/>
              </a:rPr>
              <a:t>freely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giving</a:t>
            </a:r>
            <a:r>
              <a:rPr lang="fr-FR" sz="1800" dirty="0">
                <a:solidFill>
                  <a:schemeClr val="dk1"/>
                </a:solidFill>
                <a:latin typeface="Calibri"/>
                <a:ea typeface="Calibri"/>
                <a:cs typeface="Calibri"/>
                <a:sym typeface="Calibri"/>
              </a:rPr>
              <a:t> time and labour for </a:t>
            </a:r>
            <a:r>
              <a:rPr lang="fr-FR" sz="1800" dirty="0" err="1">
                <a:solidFill>
                  <a:schemeClr val="dk1"/>
                </a:solidFill>
                <a:latin typeface="Calibri"/>
                <a:ea typeface="Calibri"/>
                <a:cs typeface="Calibri"/>
                <a:sym typeface="Calibri"/>
              </a:rPr>
              <a:t>community</a:t>
            </a:r>
            <a:r>
              <a:rPr lang="fr-FR" sz="1800" dirty="0">
                <a:solidFill>
                  <a:schemeClr val="dk1"/>
                </a:solidFill>
                <a:latin typeface="Calibri"/>
                <a:ea typeface="Calibri"/>
                <a:cs typeface="Calibri"/>
                <a:sym typeface="Calibri"/>
              </a:rPr>
              <a:t> service. </a:t>
            </a:r>
            <a:r>
              <a:rPr lang="fr-FR" sz="1800" dirty="0" err="1">
                <a:solidFill>
                  <a:schemeClr val="dk1"/>
                </a:solidFill>
                <a:latin typeface="Calibri"/>
                <a:ea typeface="Calibri"/>
                <a:cs typeface="Calibri"/>
                <a:sym typeface="Calibri"/>
              </a:rPr>
              <a:t>Many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volunteers</a:t>
            </a:r>
            <a:r>
              <a:rPr lang="fr-FR" sz="1800" dirty="0">
                <a:solidFill>
                  <a:schemeClr val="dk1"/>
                </a:solidFill>
                <a:latin typeface="Calibri"/>
                <a:ea typeface="Calibri"/>
                <a:cs typeface="Calibri"/>
                <a:sym typeface="Calibri"/>
              </a:rPr>
              <a:t> are </a:t>
            </a:r>
            <a:r>
              <a:rPr lang="fr-FR" sz="1800" dirty="0" err="1">
                <a:solidFill>
                  <a:schemeClr val="dk1"/>
                </a:solidFill>
                <a:latin typeface="Calibri"/>
                <a:ea typeface="Calibri"/>
                <a:cs typeface="Calibri"/>
                <a:sym typeface="Calibri"/>
              </a:rPr>
              <a:t>specifically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trained</a:t>
            </a:r>
            <a:r>
              <a:rPr lang="fr-FR" sz="1800" dirty="0">
                <a:solidFill>
                  <a:schemeClr val="dk1"/>
                </a:solidFill>
                <a:latin typeface="Calibri"/>
                <a:ea typeface="Calibri"/>
                <a:cs typeface="Calibri"/>
                <a:sym typeface="Calibri"/>
              </a:rPr>
              <a:t> in the areas </a:t>
            </a:r>
            <a:r>
              <a:rPr lang="fr-FR" sz="1800" dirty="0" err="1">
                <a:solidFill>
                  <a:schemeClr val="dk1"/>
                </a:solidFill>
                <a:latin typeface="Calibri"/>
                <a:ea typeface="Calibri"/>
                <a:cs typeface="Calibri"/>
                <a:sym typeface="Calibri"/>
              </a:rPr>
              <a:t>they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work</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such</a:t>
            </a:r>
            <a:r>
              <a:rPr lang="fr-FR" sz="1800" dirty="0">
                <a:solidFill>
                  <a:schemeClr val="dk1"/>
                </a:solidFill>
                <a:latin typeface="Calibri"/>
                <a:ea typeface="Calibri"/>
                <a:cs typeface="Calibri"/>
                <a:sym typeface="Calibri"/>
              </a:rPr>
              <a:t> as </a:t>
            </a:r>
            <a:r>
              <a:rPr lang="fr-FR" sz="1800" dirty="0" err="1">
                <a:solidFill>
                  <a:schemeClr val="dk1"/>
                </a:solidFill>
                <a:latin typeface="Calibri"/>
                <a:ea typeface="Calibri"/>
                <a:cs typeface="Calibri"/>
                <a:sym typeface="Calibri"/>
              </a:rPr>
              <a:t>medicine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education</a:t>
            </a:r>
            <a:r>
              <a:rPr lang="fr-FR" sz="1800" dirty="0">
                <a:solidFill>
                  <a:schemeClr val="dk1"/>
                </a:solidFill>
                <a:latin typeface="Calibri"/>
                <a:ea typeface="Calibri"/>
                <a:cs typeface="Calibri"/>
                <a:sym typeface="Calibri"/>
              </a:rPr>
              <a:t>, or emergency </a:t>
            </a:r>
            <a:r>
              <a:rPr lang="fr-FR" sz="1800" dirty="0" err="1">
                <a:solidFill>
                  <a:schemeClr val="dk1"/>
                </a:solidFill>
                <a:latin typeface="Calibri"/>
                <a:ea typeface="Calibri"/>
                <a:cs typeface="Calibri"/>
                <a:sym typeface="Calibri"/>
              </a:rPr>
              <a:t>rescue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Others</a:t>
            </a:r>
            <a:r>
              <a:rPr lang="fr-FR" sz="1800" dirty="0">
                <a:solidFill>
                  <a:schemeClr val="dk1"/>
                </a:solidFill>
                <a:latin typeface="Calibri"/>
                <a:ea typeface="Calibri"/>
                <a:cs typeface="Calibri"/>
                <a:sym typeface="Calibri"/>
              </a:rPr>
              <a:t> serve on an as-</a:t>
            </a:r>
            <a:r>
              <a:rPr lang="fr-FR" sz="1800" dirty="0" err="1">
                <a:solidFill>
                  <a:schemeClr val="dk1"/>
                </a:solidFill>
                <a:latin typeface="Calibri"/>
                <a:ea typeface="Calibri"/>
                <a:cs typeface="Calibri"/>
                <a:sym typeface="Calibri"/>
              </a:rPr>
              <a:t>needed</a:t>
            </a:r>
            <a:r>
              <a:rPr lang="fr-FR" sz="1800" dirty="0">
                <a:solidFill>
                  <a:schemeClr val="dk1"/>
                </a:solidFill>
                <a:latin typeface="Calibri"/>
                <a:ea typeface="Calibri"/>
                <a:cs typeface="Calibri"/>
                <a:sym typeface="Calibri"/>
              </a:rPr>
              <a:t> basis, </a:t>
            </a:r>
            <a:r>
              <a:rPr lang="fr-FR" sz="1800" dirty="0" err="1">
                <a:solidFill>
                  <a:schemeClr val="dk1"/>
                </a:solidFill>
                <a:latin typeface="Calibri"/>
                <a:ea typeface="Calibri"/>
                <a:cs typeface="Calibri"/>
                <a:sym typeface="Calibri"/>
              </a:rPr>
              <a:t>such</a:t>
            </a:r>
            <a:r>
              <a:rPr lang="fr-FR" sz="1800" dirty="0">
                <a:solidFill>
                  <a:schemeClr val="dk1"/>
                </a:solidFill>
                <a:latin typeface="Calibri"/>
                <a:ea typeface="Calibri"/>
                <a:cs typeface="Calibri"/>
                <a:sym typeface="Calibri"/>
              </a:rPr>
              <a:t> as in </a:t>
            </a:r>
            <a:r>
              <a:rPr lang="fr-FR" sz="1800" dirty="0" err="1">
                <a:solidFill>
                  <a:schemeClr val="dk1"/>
                </a:solidFill>
                <a:latin typeface="Calibri"/>
                <a:ea typeface="Calibri"/>
                <a:cs typeface="Calibri"/>
                <a:sym typeface="Calibri"/>
              </a:rPr>
              <a:t>response</a:t>
            </a:r>
            <a:r>
              <a:rPr lang="fr-FR" sz="1800" dirty="0">
                <a:solidFill>
                  <a:schemeClr val="dk1"/>
                </a:solidFill>
                <a:latin typeface="Calibri"/>
                <a:ea typeface="Calibri"/>
                <a:cs typeface="Calibri"/>
                <a:sym typeface="Calibri"/>
              </a:rPr>
              <a:t> to a </a:t>
            </a:r>
            <a:r>
              <a:rPr lang="fr-FR" sz="1800" dirty="0" err="1">
                <a:solidFill>
                  <a:schemeClr val="dk1"/>
                </a:solidFill>
                <a:latin typeface="Calibri"/>
                <a:ea typeface="Calibri"/>
                <a:cs typeface="Calibri"/>
                <a:sym typeface="Calibri"/>
              </a:rPr>
              <a:t>natural</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disaster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Nowadays</a:t>
            </a:r>
            <a:r>
              <a:rPr lang="fr-FR" sz="1800" dirty="0">
                <a:solidFill>
                  <a:schemeClr val="dk1"/>
                </a:solidFill>
                <a:latin typeface="Calibri"/>
                <a:ea typeface="Calibri"/>
                <a:cs typeface="Calibri"/>
                <a:sym typeface="Calibri"/>
              </a:rPr>
              <a:t>, one </a:t>
            </a:r>
            <a:r>
              <a:rPr lang="fr-FR" sz="1800" dirty="0" err="1">
                <a:solidFill>
                  <a:schemeClr val="dk1"/>
                </a:solidFill>
                <a:latin typeface="Calibri"/>
                <a:ea typeface="Calibri"/>
                <a:cs typeface="Calibri"/>
                <a:sym typeface="Calibri"/>
              </a:rPr>
              <a:t>common</a:t>
            </a:r>
            <a:r>
              <a:rPr lang="fr-FR" sz="1800" dirty="0">
                <a:solidFill>
                  <a:schemeClr val="dk1"/>
                </a:solidFill>
                <a:latin typeface="Calibri"/>
                <a:ea typeface="Calibri"/>
                <a:cs typeface="Calibri"/>
                <a:sym typeface="Calibri"/>
              </a:rPr>
              <a:t> type of </a:t>
            </a:r>
            <a:r>
              <a:rPr lang="fr-FR" sz="1800" dirty="0" err="1">
                <a:solidFill>
                  <a:schemeClr val="dk1"/>
                </a:solidFill>
                <a:latin typeface="Calibri"/>
                <a:ea typeface="Calibri"/>
                <a:cs typeface="Calibri"/>
                <a:sym typeface="Calibri"/>
              </a:rPr>
              <a:t>volunteer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is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volunteer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tourism</a:t>
            </a:r>
            <a:r>
              <a:rPr lang="fr-FR"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3" name="Google Shape;123;p9"/>
          <p:cNvPicPr preferRelativeResize="0"/>
          <p:nvPr/>
        </p:nvPicPr>
        <p:blipFill rotWithShape="1">
          <a:blip r:embed="rId3">
            <a:alphaModFix/>
          </a:blip>
          <a:srcRect/>
          <a:stretch/>
        </p:blipFill>
        <p:spPr>
          <a:xfrm>
            <a:off x="5875457" y="4647774"/>
            <a:ext cx="3268543" cy="2210226"/>
          </a:xfrm>
          <a:prstGeom prst="rect">
            <a:avLst/>
          </a:prstGeom>
          <a:noFill/>
          <a:ln>
            <a:noFill/>
          </a:ln>
        </p:spPr>
      </p:pic>
      <p:pic>
        <p:nvPicPr>
          <p:cNvPr id="2"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4531" y="1246501"/>
            <a:ext cx="3476958" cy="271925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pSp>
        <p:nvGrpSpPr>
          <p:cNvPr id="129" name="Google Shape;129;p10"/>
          <p:cNvGrpSpPr/>
          <p:nvPr/>
        </p:nvGrpSpPr>
        <p:grpSpPr>
          <a:xfrm>
            <a:off x="428857" y="485286"/>
            <a:ext cx="6086243" cy="565433"/>
            <a:chOff x="801127" y="403254"/>
            <a:chExt cx="4331352" cy="565433"/>
          </a:xfrm>
        </p:grpSpPr>
        <p:sp>
          <p:nvSpPr>
            <p:cNvPr id="130" name="Google Shape;130;p10"/>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131" name="Google Shape;131;p10"/>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Areas of volunteering </a:t>
              </a:r>
              <a:endParaRPr sz="1800">
                <a:solidFill>
                  <a:srgbClr val="FFFFFF"/>
                </a:solidFill>
                <a:latin typeface="Open Sans SemiBold"/>
                <a:ea typeface="Open Sans SemiBold"/>
                <a:cs typeface="Open Sans SemiBold"/>
                <a:sym typeface="Open Sans SemiBold"/>
              </a:endParaRPr>
            </a:p>
          </p:txBody>
        </p:sp>
      </p:grpSp>
      <p:pic>
        <p:nvPicPr>
          <p:cNvPr id="132" name="Google Shape;132;p10"/>
          <p:cNvPicPr preferRelativeResize="0"/>
          <p:nvPr/>
        </p:nvPicPr>
        <p:blipFill rotWithShape="1">
          <a:blip r:embed="rId3">
            <a:alphaModFix/>
          </a:blip>
          <a:srcRect/>
          <a:stretch/>
        </p:blipFill>
        <p:spPr>
          <a:xfrm>
            <a:off x="982326" y="1894844"/>
            <a:ext cx="4518660" cy="3012440"/>
          </a:xfrm>
          <a:prstGeom prst="roundRect">
            <a:avLst>
              <a:gd name="adj" fmla="val 16667"/>
            </a:avLst>
          </a:prstGeom>
          <a:noFill/>
          <a:ln>
            <a:noFill/>
          </a:ln>
        </p:spPr>
      </p:pic>
      <p:sp>
        <p:nvSpPr>
          <p:cNvPr id="133" name="Google Shape;133;p10"/>
          <p:cNvSpPr txBox="1"/>
          <p:nvPr/>
        </p:nvSpPr>
        <p:spPr>
          <a:xfrm>
            <a:off x="982326" y="1424511"/>
            <a:ext cx="24143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2"/>
                </a:solidFill>
                <a:latin typeface="Calibri"/>
                <a:ea typeface="Calibri"/>
                <a:cs typeface="Calibri"/>
                <a:sym typeface="Calibri"/>
              </a:rPr>
              <a:t>Soup Kitchen</a:t>
            </a:r>
            <a:endParaRPr sz="1800" b="1">
              <a:solidFill>
                <a:schemeClr val="dk2"/>
              </a:solidFill>
              <a:latin typeface="Calibri"/>
              <a:ea typeface="Calibri"/>
              <a:cs typeface="Calibri"/>
              <a:sym typeface="Calibri"/>
            </a:endParaRPr>
          </a:p>
        </p:txBody>
      </p:sp>
      <p:sp>
        <p:nvSpPr>
          <p:cNvPr id="134" name="Google Shape;134;p10"/>
          <p:cNvSpPr txBox="1"/>
          <p:nvPr/>
        </p:nvSpPr>
        <p:spPr>
          <a:xfrm>
            <a:off x="982326" y="5085008"/>
            <a:ext cx="352127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400">
                <a:solidFill>
                  <a:schemeClr val="dk1"/>
                </a:solidFill>
                <a:latin typeface="Calibri"/>
                <a:ea typeface="Calibri"/>
                <a:cs typeface="Calibri"/>
                <a:sym typeface="Calibri"/>
              </a:rPr>
              <a:t>Help to serve food to people in need</a:t>
            </a:r>
            <a:r>
              <a:rPr lang="fr-FR"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5" name="Google Shape;135;p10"/>
          <p:cNvPicPr preferRelativeResize="0"/>
          <p:nvPr/>
        </p:nvPicPr>
        <p:blipFill rotWithShape="1">
          <a:blip r:embed="rId4">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10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1"/>
          <p:cNvSpPr/>
          <p:nvPr/>
        </p:nvSpPr>
        <p:spPr>
          <a:xfrm>
            <a:off x="428857" y="485286"/>
            <a:ext cx="6086243"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pic>
        <p:nvPicPr>
          <p:cNvPr id="142" name="Google Shape;142;p11"/>
          <p:cNvPicPr preferRelativeResize="0"/>
          <p:nvPr/>
        </p:nvPicPr>
        <p:blipFill rotWithShape="1">
          <a:blip r:embed="rId3">
            <a:alphaModFix/>
          </a:blip>
          <a:srcRect/>
          <a:stretch/>
        </p:blipFill>
        <p:spPr>
          <a:xfrm>
            <a:off x="966427" y="1855590"/>
            <a:ext cx="4518660" cy="3012440"/>
          </a:xfrm>
          <a:prstGeom prst="roundRect">
            <a:avLst>
              <a:gd name="adj" fmla="val 16667"/>
            </a:avLst>
          </a:prstGeom>
          <a:noFill/>
          <a:ln>
            <a:noFill/>
          </a:ln>
        </p:spPr>
      </p:pic>
      <p:sp>
        <p:nvSpPr>
          <p:cNvPr id="143" name="Google Shape;143;p11"/>
          <p:cNvSpPr txBox="1"/>
          <p:nvPr/>
        </p:nvSpPr>
        <p:spPr>
          <a:xfrm>
            <a:off x="966427" y="1385257"/>
            <a:ext cx="24143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2"/>
                </a:solidFill>
                <a:latin typeface="Calibri"/>
                <a:ea typeface="Calibri"/>
                <a:cs typeface="Calibri"/>
                <a:sym typeface="Calibri"/>
              </a:rPr>
              <a:t>Op-Shop volunteering</a:t>
            </a:r>
            <a:endParaRPr sz="1800" b="1">
              <a:solidFill>
                <a:schemeClr val="dk2"/>
              </a:solidFill>
              <a:latin typeface="Calibri"/>
              <a:ea typeface="Calibri"/>
              <a:cs typeface="Calibri"/>
              <a:sym typeface="Calibri"/>
            </a:endParaRPr>
          </a:p>
        </p:txBody>
      </p:sp>
      <p:sp>
        <p:nvSpPr>
          <p:cNvPr id="144" name="Google Shape;144;p11"/>
          <p:cNvSpPr txBox="1"/>
          <p:nvPr/>
        </p:nvSpPr>
        <p:spPr>
          <a:xfrm>
            <a:off x="966427" y="5045754"/>
            <a:ext cx="3521279" cy="800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400">
                <a:solidFill>
                  <a:schemeClr val="dk1"/>
                </a:solidFill>
                <a:latin typeface="Calibri"/>
                <a:ea typeface="Calibri"/>
                <a:cs typeface="Calibri"/>
                <a:sym typeface="Calibri"/>
              </a:rPr>
              <a:t>Collecting, sorting and selling donated goods in charity stores.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11"/>
          <p:cNvSpPr/>
          <p:nvPr/>
        </p:nvSpPr>
        <p:spPr>
          <a:xfrm>
            <a:off x="857202" y="520274"/>
            <a:ext cx="3453111"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Areas of volunteering </a:t>
            </a:r>
            <a:endParaRPr sz="1800">
              <a:solidFill>
                <a:srgbClr val="FFFFFF"/>
              </a:solidFill>
              <a:latin typeface="Open Sans SemiBold"/>
              <a:ea typeface="Open Sans SemiBold"/>
              <a:cs typeface="Open Sans SemiBold"/>
              <a:sym typeface="Open Sans SemiBold"/>
            </a:endParaRPr>
          </a:p>
        </p:txBody>
      </p:sp>
      <p:pic>
        <p:nvPicPr>
          <p:cNvPr id="146" name="Google Shape;146;p11"/>
          <p:cNvPicPr preferRelativeResize="0"/>
          <p:nvPr/>
        </p:nvPicPr>
        <p:blipFill rotWithShape="1">
          <a:blip r:embed="rId4">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10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2"/>
          <p:cNvSpPr/>
          <p:nvPr/>
        </p:nvSpPr>
        <p:spPr>
          <a:xfrm>
            <a:off x="428857" y="485286"/>
            <a:ext cx="6086243"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pic>
        <p:nvPicPr>
          <p:cNvPr id="153" name="Google Shape;153;p12"/>
          <p:cNvPicPr preferRelativeResize="0"/>
          <p:nvPr/>
        </p:nvPicPr>
        <p:blipFill rotWithShape="1">
          <a:blip r:embed="rId3">
            <a:alphaModFix/>
          </a:blip>
          <a:srcRect/>
          <a:stretch/>
        </p:blipFill>
        <p:spPr>
          <a:xfrm>
            <a:off x="871426" y="1894844"/>
            <a:ext cx="4505978" cy="3007980"/>
          </a:xfrm>
          <a:prstGeom prst="roundRect">
            <a:avLst>
              <a:gd name="adj" fmla="val 16667"/>
            </a:avLst>
          </a:prstGeom>
          <a:noFill/>
          <a:ln>
            <a:noFill/>
          </a:ln>
        </p:spPr>
      </p:pic>
      <p:sp>
        <p:nvSpPr>
          <p:cNvPr id="154" name="Google Shape;154;p12"/>
          <p:cNvSpPr txBox="1"/>
          <p:nvPr/>
        </p:nvSpPr>
        <p:spPr>
          <a:xfrm>
            <a:off x="865085" y="1219200"/>
            <a:ext cx="43165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2"/>
                </a:solidFill>
                <a:latin typeface="Calibri"/>
                <a:ea typeface="Calibri"/>
                <a:cs typeface="Calibri"/>
                <a:sym typeface="Calibri"/>
              </a:rPr>
              <a:t>Helping in community organisation’s offices</a:t>
            </a:r>
            <a:endParaRPr sz="1800" b="1">
              <a:solidFill>
                <a:schemeClr val="dk2"/>
              </a:solidFill>
              <a:latin typeface="Calibri"/>
              <a:ea typeface="Calibri"/>
              <a:cs typeface="Calibri"/>
              <a:sym typeface="Calibri"/>
            </a:endParaRPr>
          </a:p>
        </p:txBody>
      </p:sp>
      <p:sp>
        <p:nvSpPr>
          <p:cNvPr id="155" name="Google Shape;155;p12"/>
          <p:cNvSpPr txBox="1"/>
          <p:nvPr/>
        </p:nvSpPr>
        <p:spPr>
          <a:xfrm>
            <a:off x="865085" y="5082778"/>
            <a:ext cx="3521279" cy="9848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400">
                <a:solidFill>
                  <a:schemeClr val="dk1"/>
                </a:solidFill>
                <a:latin typeface="Calibri"/>
                <a:ea typeface="Calibri"/>
                <a:cs typeface="Calibri"/>
                <a:sym typeface="Calibri"/>
              </a:rPr>
              <a:t>Answer phones, do bookkeeping or filing for charities and not for profits.</a:t>
            </a: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6" name="Google Shape;156;p12"/>
          <p:cNvSpPr/>
          <p:nvPr/>
        </p:nvSpPr>
        <p:spPr>
          <a:xfrm>
            <a:off x="857202" y="520274"/>
            <a:ext cx="3453111"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Areas of volunteering </a:t>
            </a:r>
            <a:endParaRPr sz="1800">
              <a:solidFill>
                <a:srgbClr val="FFFFFF"/>
              </a:solidFill>
              <a:latin typeface="Open Sans SemiBold"/>
              <a:ea typeface="Open Sans SemiBold"/>
              <a:cs typeface="Open Sans SemiBold"/>
              <a:sym typeface="Open Sans SemiBold"/>
            </a:endParaRPr>
          </a:p>
        </p:txBody>
      </p:sp>
      <p:pic>
        <p:nvPicPr>
          <p:cNvPr id="157" name="Google Shape;157;p12"/>
          <p:cNvPicPr preferRelativeResize="0"/>
          <p:nvPr/>
        </p:nvPicPr>
        <p:blipFill rotWithShape="1">
          <a:blip r:embed="rId4">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10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3"/>
          <p:cNvSpPr/>
          <p:nvPr/>
        </p:nvSpPr>
        <p:spPr>
          <a:xfrm>
            <a:off x="428857" y="485286"/>
            <a:ext cx="6086243"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pic>
        <p:nvPicPr>
          <p:cNvPr id="164" name="Google Shape;164;p13"/>
          <p:cNvPicPr preferRelativeResize="0"/>
          <p:nvPr/>
        </p:nvPicPr>
        <p:blipFill rotWithShape="1">
          <a:blip r:embed="rId3">
            <a:alphaModFix/>
          </a:blip>
          <a:srcRect/>
          <a:stretch/>
        </p:blipFill>
        <p:spPr>
          <a:xfrm>
            <a:off x="865368" y="1840054"/>
            <a:ext cx="4512838" cy="3012440"/>
          </a:xfrm>
          <a:prstGeom prst="roundRect">
            <a:avLst>
              <a:gd name="adj" fmla="val 16667"/>
            </a:avLst>
          </a:prstGeom>
          <a:noFill/>
          <a:ln>
            <a:noFill/>
          </a:ln>
        </p:spPr>
      </p:pic>
      <p:sp>
        <p:nvSpPr>
          <p:cNvPr id="165" name="Google Shape;165;p13"/>
          <p:cNvSpPr txBox="1"/>
          <p:nvPr/>
        </p:nvSpPr>
        <p:spPr>
          <a:xfrm>
            <a:off x="857202" y="1413575"/>
            <a:ext cx="4521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2"/>
                </a:solidFill>
                <a:latin typeface="Calibri"/>
                <a:ea typeface="Calibri"/>
                <a:cs typeface="Calibri"/>
                <a:sym typeface="Calibri"/>
              </a:rPr>
              <a:t>Helping with the environment</a:t>
            </a:r>
            <a:endParaRPr sz="1800" b="1">
              <a:solidFill>
                <a:schemeClr val="dk2"/>
              </a:solidFill>
              <a:latin typeface="Calibri"/>
              <a:ea typeface="Calibri"/>
              <a:cs typeface="Calibri"/>
              <a:sym typeface="Calibri"/>
            </a:endParaRPr>
          </a:p>
        </p:txBody>
      </p:sp>
      <p:sp>
        <p:nvSpPr>
          <p:cNvPr id="166" name="Google Shape;166;p13"/>
          <p:cNvSpPr txBox="1"/>
          <p:nvPr/>
        </p:nvSpPr>
        <p:spPr>
          <a:xfrm>
            <a:off x="865368" y="4953000"/>
            <a:ext cx="352127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400">
                <a:solidFill>
                  <a:schemeClr val="dk1"/>
                </a:solidFill>
                <a:latin typeface="Calibri"/>
                <a:ea typeface="Calibri"/>
                <a:cs typeface="Calibri"/>
                <a:sym typeface="Calibri"/>
              </a:rPr>
              <a:t>Taking part in tree planting. </a:t>
            </a: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7" name="Google Shape;167;p13"/>
          <p:cNvSpPr/>
          <p:nvPr/>
        </p:nvSpPr>
        <p:spPr>
          <a:xfrm>
            <a:off x="857202" y="520274"/>
            <a:ext cx="3453111"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Areas of volunteering </a:t>
            </a:r>
            <a:endParaRPr sz="1800">
              <a:solidFill>
                <a:srgbClr val="FFFFFF"/>
              </a:solidFill>
              <a:latin typeface="Open Sans SemiBold"/>
              <a:ea typeface="Open Sans SemiBold"/>
              <a:cs typeface="Open Sans SemiBold"/>
              <a:sym typeface="Open Sans SemiBold"/>
            </a:endParaRPr>
          </a:p>
        </p:txBody>
      </p:sp>
      <p:pic>
        <p:nvPicPr>
          <p:cNvPr id="168" name="Google Shape;168;p13"/>
          <p:cNvPicPr preferRelativeResize="0"/>
          <p:nvPr/>
        </p:nvPicPr>
        <p:blipFill rotWithShape="1">
          <a:blip r:embed="rId4">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10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4"/>
          <p:cNvSpPr/>
          <p:nvPr/>
        </p:nvSpPr>
        <p:spPr>
          <a:xfrm>
            <a:off x="428857" y="485286"/>
            <a:ext cx="6086243"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pic>
        <p:nvPicPr>
          <p:cNvPr id="175" name="Google Shape;175;p14"/>
          <p:cNvPicPr preferRelativeResize="0"/>
          <p:nvPr/>
        </p:nvPicPr>
        <p:blipFill rotWithShape="1">
          <a:blip r:embed="rId3">
            <a:alphaModFix/>
          </a:blip>
          <a:srcRect/>
          <a:stretch/>
        </p:blipFill>
        <p:spPr>
          <a:xfrm>
            <a:off x="950284" y="1830288"/>
            <a:ext cx="4512838" cy="3008558"/>
          </a:xfrm>
          <a:prstGeom prst="roundRect">
            <a:avLst>
              <a:gd name="adj" fmla="val 16667"/>
            </a:avLst>
          </a:prstGeom>
          <a:noFill/>
          <a:ln>
            <a:noFill/>
          </a:ln>
        </p:spPr>
      </p:pic>
      <p:sp>
        <p:nvSpPr>
          <p:cNvPr id="176" name="Google Shape;176;p14"/>
          <p:cNvSpPr txBox="1"/>
          <p:nvPr/>
        </p:nvSpPr>
        <p:spPr>
          <a:xfrm>
            <a:off x="947373" y="1358014"/>
            <a:ext cx="24143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2"/>
                </a:solidFill>
                <a:latin typeface="Calibri"/>
                <a:ea typeface="Calibri"/>
                <a:cs typeface="Calibri"/>
                <a:sym typeface="Calibri"/>
              </a:rPr>
              <a:t>Elderly support</a:t>
            </a:r>
            <a:endParaRPr sz="1800" b="1">
              <a:solidFill>
                <a:schemeClr val="dk2"/>
              </a:solidFill>
              <a:latin typeface="Calibri"/>
              <a:ea typeface="Calibri"/>
              <a:cs typeface="Calibri"/>
              <a:sym typeface="Calibri"/>
            </a:endParaRPr>
          </a:p>
        </p:txBody>
      </p:sp>
      <p:sp>
        <p:nvSpPr>
          <p:cNvPr id="177" name="Google Shape;177;p14"/>
          <p:cNvSpPr txBox="1"/>
          <p:nvPr/>
        </p:nvSpPr>
        <p:spPr>
          <a:xfrm>
            <a:off x="947373" y="5018511"/>
            <a:ext cx="3521279" cy="1015663"/>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1"/>
              </a:buClr>
              <a:buSzPts val="1400"/>
              <a:buFont typeface="Calibri"/>
              <a:buNone/>
            </a:pPr>
            <a:r>
              <a:rPr lang="fr-FR" sz="1400">
                <a:solidFill>
                  <a:schemeClr val="dk1"/>
                </a:solidFill>
                <a:latin typeface="Calibri"/>
                <a:ea typeface="Calibri"/>
                <a:cs typeface="Calibri"/>
                <a:sym typeface="Calibri"/>
              </a:rPr>
              <a:t>Help older people with their shopping, or take them out for a walk.  Visit and talk with them at home or in aged care centres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14"/>
          <p:cNvSpPr/>
          <p:nvPr/>
        </p:nvSpPr>
        <p:spPr>
          <a:xfrm>
            <a:off x="857202" y="520274"/>
            <a:ext cx="3453111"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Areas of volunteering </a:t>
            </a:r>
            <a:endParaRPr sz="1800">
              <a:solidFill>
                <a:srgbClr val="FFFFFF"/>
              </a:solidFill>
              <a:latin typeface="Open Sans SemiBold"/>
              <a:ea typeface="Open Sans SemiBold"/>
              <a:cs typeface="Open Sans SemiBold"/>
              <a:sym typeface="Open Sans SemiBold"/>
            </a:endParaRPr>
          </a:p>
        </p:txBody>
      </p:sp>
      <p:pic>
        <p:nvPicPr>
          <p:cNvPr id="179" name="Google Shape;179;p14"/>
          <p:cNvPicPr preferRelativeResize="0"/>
          <p:nvPr/>
        </p:nvPicPr>
        <p:blipFill rotWithShape="1">
          <a:blip r:embed="rId4">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fade">
                                      <p:cBhvr>
                                        <p:cTn id="7" dur="10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5"/>
          <p:cNvSpPr/>
          <p:nvPr/>
        </p:nvSpPr>
        <p:spPr>
          <a:xfrm>
            <a:off x="428857" y="485286"/>
            <a:ext cx="6086243"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pic>
        <p:nvPicPr>
          <p:cNvPr id="186" name="Google Shape;186;p15"/>
          <p:cNvPicPr preferRelativeResize="0"/>
          <p:nvPr/>
        </p:nvPicPr>
        <p:blipFill rotWithShape="1">
          <a:blip r:embed="rId3">
            <a:alphaModFix/>
          </a:blip>
          <a:srcRect/>
          <a:stretch/>
        </p:blipFill>
        <p:spPr>
          <a:xfrm>
            <a:off x="990600" y="1776274"/>
            <a:ext cx="4512838" cy="3007980"/>
          </a:xfrm>
          <a:prstGeom prst="roundRect">
            <a:avLst>
              <a:gd name="adj" fmla="val 16667"/>
            </a:avLst>
          </a:prstGeom>
          <a:noFill/>
          <a:ln>
            <a:noFill/>
          </a:ln>
        </p:spPr>
      </p:pic>
      <p:sp>
        <p:nvSpPr>
          <p:cNvPr id="187" name="Google Shape;187;p15"/>
          <p:cNvSpPr txBox="1"/>
          <p:nvPr/>
        </p:nvSpPr>
        <p:spPr>
          <a:xfrm>
            <a:off x="987689" y="1303711"/>
            <a:ext cx="24143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2"/>
                </a:solidFill>
                <a:latin typeface="Calibri"/>
                <a:ea typeface="Calibri"/>
                <a:cs typeface="Calibri"/>
                <a:sym typeface="Calibri"/>
              </a:rPr>
              <a:t>Helping with animals</a:t>
            </a:r>
            <a:endParaRPr sz="1800" b="1">
              <a:solidFill>
                <a:schemeClr val="dk2"/>
              </a:solidFill>
              <a:latin typeface="Calibri"/>
              <a:ea typeface="Calibri"/>
              <a:cs typeface="Calibri"/>
              <a:sym typeface="Calibri"/>
            </a:endParaRPr>
          </a:p>
        </p:txBody>
      </p:sp>
      <p:sp>
        <p:nvSpPr>
          <p:cNvPr id="188" name="Google Shape;188;p15"/>
          <p:cNvSpPr txBox="1"/>
          <p:nvPr/>
        </p:nvSpPr>
        <p:spPr>
          <a:xfrm>
            <a:off x="987689" y="4964208"/>
            <a:ext cx="352127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400">
                <a:solidFill>
                  <a:schemeClr val="dk1"/>
                </a:solidFill>
                <a:latin typeface="Calibri"/>
                <a:ea typeface="Calibri"/>
                <a:cs typeface="Calibri"/>
                <a:sym typeface="Calibri"/>
              </a:rPr>
              <a:t>Helping hurt animals and homeless animals. </a:t>
            </a: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15"/>
          <p:cNvSpPr/>
          <p:nvPr/>
        </p:nvSpPr>
        <p:spPr>
          <a:xfrm>
            <a:off x="857202" y="520274"/>
            <a:ext cx="3453111"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Areas of volunteering </a:t>
            </a:r>
            <a:endParaRPr sz="1800">
              <a:solidFill>
                <a:srgbClr val="FFFFFF"/>
              </a:solidFill>
              <a:latin typeface="Open Sans SemiBold"/>
              <a:ea typeface="Open Sans SemiBold"/>
              <a:cs typeface="Open Sans SemiBold"/>
              <a:sym typeface="Open Sans SemiBold"/>
            </a:endParaRPr>
          </a:p>
        </p:txBody>
      </p:sp>
      <p:pic>
        <p:nvPicPr>
          <p:cNvPr id="190" name="Google Shape;190;p15"/>
          <p:cNvPicPr preferRelativeResize="0"/>
          <p:nvPr/>
        </p:nvPicPr>
        <p:blipFill rotWithShape="1">
          <a:blip r:embed="rId4">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p:cTn id="7" dur="10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6"/>
          <p:cNvSpPr/>
          <p:nvPr/>
        </p:nvSpPr>
        <p:spPr>
          <a:xfrm>
            <a:off x="428857" y="485286"/>
            <a:ext cx="6086243"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197" name="Google Shape;197;p16"/>
          <p:cNvSpPr txBox="1"/>
          <p:nvPr/>
        </p:nvSpPr>
        <p:spPr>
          <a:xfrm>
            <a:off x="922017" y="1319886"/>
            <a:ext cx="24143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2"/>
                </a:solidFill>
                <a:latin typeface="Calibri"/>
                <a:ea typeface="Calibri"/>
                <a:cs typeface="Calibri"/>
                <a:sym typeface="Calibri"/>
              </a:rPr>
              <a:t>Tutoring</a:t>
            </a:r>
            <a:r>
              <a:rPr lang="fr-FR" sz="1600" b="1">
                <a:solidFill>
                  <a:schemeClr val="lt2"/>
                </a:solidFill>
                <a:latin typeface="Calibri"/>
                <a:ea typeface="Calibri"/>
                <a:cs typeface="Calibri"/>
                <a:sym typeface="Calibri"/>
              </a:rPr>
              <a:t> </a:t>
            </a:r>
            <a:endParaRPr sz="1600" b="1">
              <a:solidFill>
                <a:schemeClr val="lt2"/>
              </a:solidFill>
              <a:latin typeface="Calibri"/>
              <a:ea typeface="Calibri"/>
              <a:cs typeface="Calibri"/>
              <a:sym typeface="Calibri"/>
            </a:endParaRPr>
          </a:p>
        </p:txBody>
      </p:sp>
      <p:sp>
        <p:nvSpPr>
          <p:cNvPr id="198" name="Google Shape;198;p16"/>
          <p:cNvSpPr txBox="1"/>
          <p:nvPr/>
        </p:nvSpPr>
        <p:spPr>
          <a:xfrm>
            <a:off x="925428" y="4908536"/>
            <a:ext cx="3521279" cy="1015663"/>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1"/>
              </a:buClr>
              <a:buSzPts val="1400"/>
              <a:buFont typeface="Calibri"/>
              <a:buNone/>
            </a:pPr>
            <a:r>
              <a:rPr lang="fr-FR" sz="1400">
                <a:solidFill>
                  <a:schemeClr val="dk1"/>
                </a:solidFill>
                <a:latin typeface="Calibri"/>
                <a:ea typeface="Calibri"/>
                <a:cs typeface="Calibri"/>
                <a:sym typeface="Calibri"/>
              </a:rPr>
              <a:t>Helping people to learn how to use computers, mobile phones and tablets or helping in a homework club.</a:t>
            </a: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99" name="Google Shape;199;p16"/>
          <p:cNvPicPr preferRelativeResize="0"/>
          <p:nvPr/>
        </p:nvPicPr>
        <p:blipFill rotWithShape="1">
          <a:blip r:embed="rId3">
            <a:alphaModFix/>
          </a:blip>
          <a:srcRect b="10476"/>
          <a:stretch/>
        </p:blipFill>
        <p:spPr>
          <a:xfrm>
            <a:off x="914068" y="1740429"/>
            <a:ext cx="4534558" cy="3060000"/>
          </a:xfrm>
          <a:prstGeom prst="roundRect">
            <a:avLst>
              <a:gd name="adj" fmla="val 16667"/>
            </a:avLst>
          </a:prstGeom>
          <a:noFill/>
          <a:ln>
            <a:noFill/>
          </a:ln>
        </p:spPr>
      </p:pic>
      <p:sp>
        <p:nvSpPr>
          <p:cNvPr id="200" name="Google Shape;200;p16"/>
          <p:cNvSpPr/>
          <p:nvPr/>
        </p:nvSpPr>
        <p:spPr>
          <a:xfrm>
            <a:off x="857202" y="520274"/>
            <a:ext cx="3453111"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Areas of volunteering </a:t>
            </a:r>
            <a:endParaRPr sz="1800">
              <a:solidFill>
                <a:srgbClr val="FFFFFF"/>
              </a:solidFill>
              <a:latin typeface="Open Sans SemiBold"/>
              <a:ea typeface="Open Sans SemiBold"/>
              <a:cs typeface="Open Sans SemiBold"/>
              <a:sym typeface="Open Sans SemiBold"/>
            </a:endParaRPr>
          </a:p>
        </p:txBody>
      </p:sp>
      <p:pic>
        <p:nvPicPr>
          <p:cNvPr id="201" name="Google Shape;201;p16"/>
          <p:cNvPicPr preferRelativeResize="0"/>
          <p:nvPr/>
        </p:nvPicPr>
        <p:blipFill rotWithShape="1">
          <a:blip r:embed="rId4">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10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7"/>
          <p:cNvSpPr/>
          <p:nvPr/>
        </p:nvSpPr>
        <p:spPr>
          <a:xfrm>
            <a:off x="428857" y="485286"/>
            <a:ext cx="6086243"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pic>
        <p:nvPicPr>
          <p:cNvPr id="208" name="Google Shape;208;p17"/>
          <p:cNvPicPr preferRelativeResize="0"/>
          <p:nvPr/>
        </p:nvPicPr>
        <p:blipFill rotWithShape="1">
          <a:blip r:embed="rId3">
            <a:alphaModFix/>
          </a:blip>
          <a:srcRect/>
          <a:stretch/>
        </p:blipFill>
        <p:spPr>
          <a:xfrm>
            <a:off x="898146" y="1863787"/>
            <a:ext cx="4511970" cy="3007980"/>
          </a:xfrm>
          <a:prstGeom prst="roundRect">
            <a:avLst>
              <a:gd name="adj" fmla="val 16667"/>
            </a:avLst>
          </a:prstGeom>
          <a:noFill/>
          <a:ln>
            <a:noFill/>
          </a:ln>
        </p:spPr>
      </p:pic>
      <p:sp>
        <p:nvSpPr>
          <p:cNvPr id="209" name="Google Shape;209;p17"/>
          <p:cNvSpPr txBox="1"/>
          <p:nvPr/>
        </p:nvSpPr>
        <p:spPr>
          <a:xfrm>
            <a:off x="894801" y="1391224"/>
            <a:ext cx="24143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2"/>
                </a:solidFill>
                <a:latin typeface="Calibri"/>
                <a:ea typeface="Calibri"/>
                <a:cs typeface="Calibri"/>
                <a:sym typeface="Calibri"/>
              </a:rPr>
              <a:t>Volunteering in Sports</a:t>
            </a:r>
            <a:endParaRPr sz="1800" b="1">
              <a:solidFill>
                <a:schemeClr val="dk2"/>
              </a:solidFill>
              <a:latin typeface="Calibri"/>
              <a:ea typeface="Calibri"/>
              <a:cs typeface="Calibri"/>
              <a:sym typeface="Calibri"/>
            </a:endParaRPr>
          </a:p>
        </p:txBody>
      </p:sp>
      <p:sp>
        <p:nvSpPr>
          <p:cNvPr id="210" name="Google Shape;210;p17"/>
          <p:cNvSpPr txBox="1"/>
          <p:nvPr/>
        </p:nvSpPr>
        <p:spPr>
          <a:xfrm>
            <a:off x="894801" y="5051721"/>
            <a:ext cx="352127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400">
                <a:solidFill>
                  <a:schemeClr val="dk1"/>
                </a:solidFill>
                <a:latin typeface="Calibri"/>
                <a:ea typeface="Calibri"/>
                <a:cs typeface="Calibri"/>
                <a:sym typeface="Calibri"/>
              </a:rPr>
              <a:t>Helping with local sports groups</a:t>
            </a:r>
            <a:r>
              <a:rPr lang="fr-FR"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1" name="Google Shape;211;p17"/>
          <p:cNvSpPr/>
          <p:nvPr/>
        </p:nvSpPr>
        <p:spPr>
          <a:xfrm>
            <a:off x="857202" y="520274"/>
            <a:ext cx="3453111"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Areas of volunteering </a:t>
            </a:r>
            <a:endParaRPr sz="1800">
              <a:solidFill>
                <a:srgbClr val="FFFFFF"/>
              </a:solidFill>
              <a:latin typeface="Open Sans SemiBold"/>
              <a:ea typeface="Open Sans SemiBold"/>
              <a:cs typeface="Open Sans SemiBold"/>
              <a:sym typeface="Open Sans SemiBold"/>
            </a:endParaRPr>
          </a:p>
        </p:txBody>
      </p:sp>
      <p:pic>
        <p:nvPicPr>
          <p:cNvPr id="212" name="Google Shape;212;p17"/>
          <p:cNvPicPr preferRelativeResize="0"/>
          <p:nvPr/>
        </p:nvPicPr>
        <p:blipFill rotWithShape="1">
          <a:blip r:embed="rId4">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10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268283" y="1575193"/>
            <a:ext cx="9568782" cy="4351338"/>
          </a:xfrm>
        </p:spPr>
        <p:txBody>
          <a:bodyPr>
            <a:normAutofit/>
          </a:bodyPr>
          <a:lstStyle/>
          <a:p>
            <a:pPr marL="114300" indent="0" algn="ctr">
              <a:buNone/>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What </a:t>
            </a:r>
            <a: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work you'd be most interested in doing for your </a:t>
            </a: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community?</a:t>
            </a:r>
          </a:p>
          <a:p>
            <a:pPr algn="ctr"/>
            <a:endPar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pPr marL="114300" indent="0" algn="ctr">
              <a:buNone/>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Let’s find out! </a:t>
            </a:r>
            <a:r>
              <a:rPr lang="fr-FR" sz="4400"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a:t>
            </a:r>
            <a:r>
              <a:rPr lang="en-US" sz="4400"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ake</a:t>
            </a: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this quiz!</a:t>
            </a:r>
            <a:endParaRPr lang="fr-FR"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245798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500" fill="hold"/>
                                        <p:tgtEl>
                                          <p:spTgt spid="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
                                            <p:txEl>
                                              <p:pRg st="2" end="2"/>
                                            </p:txEl>
                                          </p:spTgt>
                                        </p:tgtEl>
                                        <p:attrNameLst>
                                          <p:attrName>ppt_y</p:attrName>
                                        </p:attrNameLst>
                                      </p:cBhvr>
                                      <p:tavLst>
                                        <p:tav tm="0">
                                          <p:val>
                                            <p:strVal val="#ppt_y"/>
                                          </p:val>
                                        </p:tav>
                                        <p:tav tm="100000">
                                          <p:val>
                                            <p:strVal val="#ppt_y"/>
                                          </p:val>
                                        </p:tav>
                                      </p:tavLst>
                                    </p:anim>
                                    <p:anim calcmode="lin" valueType="num">
                                      <p:cBhvr>
                                        <p:cTn id="16" dur="500" fill="hold"/>
                                        <p:tgtEl>
                                          <p:spTgt spid="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grpSp>
        <p:nvGrpSpPr>
          <p:cNvPr id="218" name="Google Shape;218;p18"/>
          <p:cNvGrpSpPr/>
          <p:nvPr/>
        </p:nvGrpSpPr>
        <p:grpSpPr>
          <a:xfrm>
            <a:off x="428857" y="228600"/>
            <a:ext cx="6086243" cy="822119"/>
            <a:chOff x="801127" y="146568"/>
            <a:chExt cx="4331352" cy="822119"/>
          </a:xfrm>
        </p:grpSpPr>
        <p:sp>
          <p:nvSpPr>
            <p:cNvPr id="219" name="Google Shape;219;p18"/>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220" name="Google Shape;220;p18"/>
            <p:cNvSpPr/>
            <p:nvPr/>
          </p:nvSpPr>
          <p:spPr>
            <a:xfrm>
              <a:off x="1105964" y="146568"/>
              <a:ext cx="2457450" cy="715089"/>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FFFFFF"/>
                </a:solidFill>
                <a:latin typeface="Open Sans SemiBold"/>
                <a:ea typeface="Open Sans SemiBold"/>
                <a:cs typeface="Open Sans SemiBold"/>
                <a:sym typeface="Open Sans SemiBold"/>
              </a:endParaRPr>
            </a:p>
            <a:p>
              <a:pPr marL="0" marR="0" lvl="0" indent="0" algn="l" rtl="0">
                <a:spcBef>
                  <a:spcPts val="0"/>
                </a:spcBef>
                <a:spcAft>
                  <a:spcPts val="0"/>
                </a:spcAft>
                <a:buNone/>
              </a:pPr>
              <a:r>
                <a:rPr lang="fr-FR" sz="1800" dirty="0">
                  <a:solidFill>
                    <a:srgbClr val="FFFFFF"/>
                  </a:solidFill>
                  <a:latin typeface="Open Sans SemiBold"/>
                  <a:ea typeface="Open Sans SemiBold"/>
                  <a:cs typeface="Open Sans SemiBold"/>
                  <a:sym typeface="Open Sans SemiBold"/>
                </a:rPr>
                <a:t> </a:t>
              </a:r>
              <a:r>
                <a:rPr lang="fr-FR" sz="1800" dirty="0" err="1">
                  <a:solidFill>
                    <a:srgbClr val="FFFFFF"/>
                  </a:solidFill>
                  <a:latin typeface="Open Sans SemiBold"/>
                  <a:ea typeface="Open Sans SemiBold"/>
                  <a:cs typeface="Open Sans SemiBold"/>
                  <a:sym typeface="Open Sans SemiBold"/>
                </a:rPr>
                <a:t>Volunteer</a:t>
              </a:r>
              <a:r>
                <a:rPr lang="fr-FR" sz="1800" dirty="0">
                  <a:solidFill>
                    <a:srgbClr val="FFFFFF"/>
                  </a:solidFill>
                  <a:latin typeface="Open Sans SemiBold"/>
                  <a:ea typeface="Open Sans SemiBold"/>
                  <a:cs typeface="Open Sans SemiBold"/>
                  <a:sym typeface="Open Sans SemiBold"/>
                </a:rPr>
                <a:t> </a:t>
              </a:r>
              <a:r>
                <a:rPr lang="fr-FR" sz="1800" dirty="0" err="1">
                  <a:solidFill>
                    <a:srgbClr val="FFFFFF"/>
                  </a:solidFill>
                  <a:latin typeface="Open Sans SemiBold"/>
                  <a:ea typeface="Open Sans SemiBold"/>
                  <a:cs typeface="Open Sans SemiBold"/>
                  <a:sym typeface="Open Sans SemiBold"/>
                </a:rPr>
                <a:t>Personality</a:t>
              </a:r>
              <a:r>
                <a:rPr lang="fr-FR" sz="1800" dirty="0">
                  <a:solidFill>
                    <a:srgbClr val="FFFFFF"/>
                  </a:solidFill>
                  <a:latin typeface="Open Sans SemiBold"/>
                  <a:ea typeface="Open Sans SemiBold"/>
                  <a:cs typeface="Open Sans SemiBold"/>
                  <a:sym typeface="Open Sans SemiBold"/>
                </a:rPr>
                <a:t> Quiz </a:t>
              </a:r>
              <a:endParaRPr dirty="0"/>
            </a:p>
          </p:txBody>
        </p:sp>
      </p:grpSp>
      <p:sp>
        <p:nvSpPr>
          <p:cNvPr id="221" name="Google Shape;221;p18"/>
          <p:cNvSpPr txBox="1"/>
          <p:nvPr/>
        </p:nvSpPr>
        <p:spPr>
          <a:xfrm>
            <a:off x="381000" y="1371600"/>
            <a:ext cx="5943600" cy="44012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b="1">
                <a:solidFill>
                  <a:schemeClr val="dk1"/>
                </a:solidFill>
                <a:latin typeface="Calibri"/>
                <a:ea typeface="Calibri"/>
                <a:cs typeface="Calibri"/>
                <a:sym typeface="Calibri"/>
              </a:rPr>
              <a:t> 1. In a working situation, which would you most likely do?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a. Work outdoors or with animals.</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b. Teach and mentor others.</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c. Work as a team, or collaborate with others.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d. Work by yourself with numbers and data. </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b="1">
                <a:solidFill>
                  <a:schemeClr val="dk1"/>
                </a:solidFill>
                <a:latin typeface="Calibri"/>
                <a:ea typeface="Calibri"/>
                <a:cs typeface="Calibri"/>
                <a:sym typeface="Calibri"/>
              </a:rPr>
              <a:t>2. Which word best describes you?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a. Active.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b. Enthusiastic.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c. Creative.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d. Organized .</a:t>
            </a:r>
            <a:endParaRPr sz="2000">
              <a:solidFill>
                <a:srgbClr val="000000"/>
              </a:solidFill>
              <a:latin typeface="Calibri"/>
              <a:ea typeface="Calibri"/>
              <a:cs typeface="Calibri"/>
              <a:sym typeface="Calibri"/>
            </a:endParaRPr>
          </a:p>
        </p:txBody>
      </p:sp>
      <p:pic>
        <p:nvPicPr>
          <p:cNvPr id="222" name="Google Shape;222;p18"/>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28" name="Google Shape;228;p19"/>
          <p:cNvGrpSpPr/>
          <p:nvPr/>
        </p:nvGrpSpPr>
        <p:grpSpPr>
          <a:xfrm>
            <a:off x="428857" y="228600"/>
            <a:ext cx="6086243" cy="822119"/>
            <a:chOff x="801127" y="146568"/>
            <a:chExt cx="4331352" cy="822119"/>
          </a:xfrm>
        </p:grpSpPr>
        <p:sp>
          <p:nvSpPr>
            <p:cNvPr id="229" name="Google Shape;229;p19"/>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230" name="Google Shape;230;p19"/>
            <p:cNvSpPr/>
            <p:nvPr/>
          </p:nvSpPr>
          <p:spPr>
            <a:xfrm>
              <a:off x="1105964" y="146568"/>
              <a:ext cx="2457450" cy="715089"/>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FFFFFF"/>
                </a:solidFill>
                <a:latin typeface="Open Sans SemiBold"/>
                <a:ea typeface="Open Sans SemiBold"/>
                <a:cs typeface="Open Sans SemiBold"/>
                <a:sym typeface="Open Sans SemiBold"/>
              </a:endParaRPr>
            </a:p>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 Volunteer Personality Quiz </a:t>
              </a:r>
              <a:endParaRPr/>
            </a:p>
          </p:txBody>
        </p:sp>
      </p:grpSp>
      <p:sp>
        <p:nvSpPr>
          <p:cNvPr id="231" name="Google Shape;231;p19"/>
          <p:cNvSpPr txBox="1"/>
          <p:nvPr/>
        </p:nvSpPr>
        <p:spPr>
          <a:xfrm>
            <a:off x="381000" y="1371600"/>
            <a:ext cx="5943600" cy="44012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b="1">
                <a:solidFill>
                  <a:schemeClr val="dk1"/>
                </a:solidFill>
                <a:latin typeface="Calibri"/>
                <a:ea typeface="Calibri"/>
                <a:cs typeface="Calibri"/>
                <a:sym typeface="Calibri"/>
              </a:rPr>
              <a:t> 3. If you could meet one of these people who would it be?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a. Marshawn Lynch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b. Nelson Mandela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c. Lady Gaga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d. Mark Zuckerberg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b="1">
                <a:solidFill>
                  <a:schemeClr val="dk1"/>
                </a:solidFill>
                <a:latin typeface="Calibri"/>
                <a:ea typeface="Calibri"/>
                <a:cs typeface="Calibri"/>
                <a:sym typeface="Calibri"/>
              </a:rPr>
              <a:t>4. What would your favorite class of the day be?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a. Physical Education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b. Social Studies/Contemporary World Problems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c. Ceramics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d. Math </a:t>
            </a:r>
            <a:endParaRPr/>
          </a:p>
          <a:p>
            <a:pPr marL="0" marR="0" lvl="0" indent="0" algn="l" rtl="0">
              <a:spcBef>
                <a:spcPts val="0"/>
              </a:spcBef>
              <a:spcAft>
                <a:spcPts val="0"/>
              </a:spcAft>
              <a:buNone/>
            </a:pPr>
            <a:endParaRPr sz="2000">
              <a:solidFill>
                <a:srgbClr val="000000"/>
              </a:solidFill>
              <a:latin typeface="Calibri"/>
              <a:ea typeface="Calibri"/>
              <a:cs typeface="Calibri"/>
              <a:sym typeface="Calibri"/>
            </a:endParaRPr>
          </a:p>
        </p:txBody>
      </p:sp>
      <p:pic>
        <p:nvPicPr>
          <p:cNvPr id="232" name="Google Shape;232;p19"/>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grpSp>
        <p:nvGrpSpPr>
          <p:cNvPr id="238" name="Google Shape;238;p20"/>
          <p:cNvGrpSpPr/>
          <p:nvPr/>
        </p:nvGrpSpPr>
        <p:grpSpPr>
          <a:xfrm>
            <a:off x="428857" y="228600"/>
            <a:ext cx="6086243" cy="822119"/>
            <a:chOff x="801127" y="146568"/>
            <a:chExt cx="4331352" cy="822119"/>
          </a:xfrm>
        </p:grpSpPr>
        <p:sp>
          <p:nvSpPr>
            <p:cNvPr id="239" name="Google Shape;239;p20"/>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240" name="Google Shape;240;p20"/>
            <p:cNvSpPr/>
            <p:nvPr/>
          </p:nvSpPr>
          <p:spPr>
            <a:xfrm>
              <a:off x="1105964" y="146568"/>
              <a:ext cx="2457450" cy="715089"/>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FFFFFF"/>
                </a:solidFill>
                <a:latin typeface="Open Sans SemiBold"/>
                <a:ea typeface="Open Sans SemiBold"/>
                <a:cs typeface="Open Sans SemiBold"/>
                <a:sym typeface="Open Sans SemiBold"/>
              </a:endParaRPr>
            </a:p>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 Volunteer Personality Quiz </a:t>
              </a:r>
              <a:endParaRPr/>
            </a:p>
          </p:txBody>
        </p:sp>
      </p:grpSp>
      <p:sp>
        <p:nvSpPr>
          <p:cNvPr id="241" name="Google Shape;241;p20"/>
          <p:cNvSpPr txBox="1"/>
          <p:nvPr/>
        </p:nvSpPr>
        <p:spPr>
          <a:xfrm>
            <a:off x="381000" y="1371600"/>
            <a:ext cx="5943600" cy="50167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fr-FR" sz="2000" b="1">
                <a:solidFill>
                  <a:schemeClr val="dk1"/>
                </a:solidFill>
                <a:latin typeface="Calibri"/>
                <a:ea typeface="Calibri"/>
                <a:cs typeface="Calibri"/>
                <a:sym typeface="Calibri"/>
              </a:rPr>
              <a:t>5.  When faced with a problem, what is the first thing you usually do?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a. Come up with a strategy to solve the problem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b. Gather information to try and find out what caused the problem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c. Visualize the problem, and how you may be able to solve it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d. Figure out the details of the problem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rgbClr val="000000"/>
              </a:solidFill>
              <a:latin typeface="Calibri"/>
              <a:ea typeface="Calibri"/>
              <a:cs typeface="Calibri"/>
              <a:sym typeface="Calibri"/>
            </a:endParaRPr>
          </a:p>
          <a:p>
            <a:pPr marL="0" marR="0" lvl="0" indent="0" algn="l" rtl="0">
              <a:spcBef>
                <a:spcPts val="0"/>
              </a:spcBef>
              <a:spcAft>
                <a:spcPts val="0"/>
              </a:spcAft>
              <a:buNone/>
            </a:pPr>
            <a:r>
              <a:rPr lang="fr-FR" sz="2000" b="1">
                <a:solidFill>
                  <a:schemeClr val="dk1"/>
                </a:solidFill>
                <a:latin typeface="Calibri"/>
                <a:ea typeface="Calibri"/>
                <a:cs typeface="Calibri"/>
                <a:sym typeface="Calibri"/>
              </a:rPr>
              <a:t>6. How do you like to spend your summer vacation?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a. Camping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b. Spending time with friends and relatives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c. Taking and editing photos </a:t>
            </a:r>
            <a:endParaRPr/>
          </a:p>
          <a:p>
            <a:pPr marL="0" marR="0" lvl="0" indent="0" algn="l" rtl="0">
              <a:spcBef>
                <a:spcPts val="0"/>
              </a:spcBef>
              <a:spcAft>
                <a:spcPts val="0"/>
              </a:spcAft>
              <a:buNone/>
            </a:pPr>
            <a:r>
              <a:rPr lang="fr-FR" sz="2000">
                <a:solidFill>
                  <a:schemeClr val="dk1"/>
                </a:solidFill>
                <a:latin typeface="Calibri"/>
                <a:ea typeface="Calibri"/>
                <a:cs typeface="Calibri"/>
                <a:sym typeface="Calibri"/>
              </a:rPr>
              <a:t>d. Taking a Class of Interest </a:t>
            </a:r>
            <a:endParaRPr/>
          </a:p>
          <a:p>
            <a:pPr marL="0" marR="0" lvl="0" indent="0" algn="l" rtl="0">
              <a:spcBef>
                <a:spcPts val="0"/>
              </a:spcBef>
              <a:spcAft>
                <a:spcPts val="0"/>
              </a:spcAft>
              <a:buNone/>
            </a:pPr>
            <a:endParaRPr sz="2000">
              <a:solidFill>
                <a:srgbClr val="000000"/>
              </a:solidFill>
              <a:latin typeface="Calibri"/>
              <a:ea typeface="Calibri"/>
              <a:cs typeface="Calibri"/>
              <a:sym typeface="Calibri"/>
            </a:endParaRPr>
          </a:p>
        </p:txBody>
      </p:sp>
      <p:pic>
        <p:nvPicPr>
          <p:cNvPr id="242" name="Google Shape;242;p20"/>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pSp>
        <p:nvGrpSpPr>
          <p:cNvPr id="248" name="Google Shape;248;p21"/>
          <p:cNvGrpSpPr/>
          <p:nvPr/>
        </p:nvGrpSpPr>
        <p:grpSpPr>
          <a:xfrm>
            <a:off x="428857" y="228600"/>
            <a:ext cx="6086243" cy="822119"/>
            <a:chOff x="801127" y="146568"/>
            <a:chExt cx="4331352" cy="822119"/>
          </a:xfrm>
        </p:grpSpPr>
        <p:sp>
          <p:nvSpPr>
            <p:cNvPr id="249" name="Google Shape;249;p21"/>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250" name="Google Shape;250;p21"/>
            <p:cNvSpPr/>
            <p:nvPr/>
          </p:nvSpPr>
          <p:spPr>
            <a:xfrm>
              <a:off x="1105964" y="146568"/>
              <a:ext cx="2457450" cy="715089"/>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FFFFFF"/>
                </a:solidFill>
                <a:latin typeface="Open Sans SemiBold"/>
                <a:ea typeface="Open Sans SemiBold"/>
                <a:cs typeface="Open Sans SemiBold"/>
                <a:sym typeface="Open Sans SemiBold"/>
              </a:endParaRPr>
            </a:p>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 Volunteer Personality Quiz </a:t>
              </a:r>
              <a:endParaRPr/>
            </a:p>
          </p:txBody>
        </p:sp>
      </p:grpSp>
      <p:sp>
        <p:nvSpPr>
          <p:cNvPr id="251" name="Google Shape;251;p21"/>
          <p:cNvSpPr txBox="1"/>
          <p:nvPr/>
        </p:nvSpPr>
        <p:spPr>
          <a:xfrm>
            <a:off x="428596" y="1000108"/>
            <a:ext cx="8120090" cy="72019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dirty="0">
                <a:solidFill>
                  <a:schemeClr val="dk1"/>
                </a:solidFill>
                <a:latin typeface="Calibri"/>
                <a:ea typeface="Calibri"/>
                <a:cs typeface="Calibri"/>
                <a:sym typeface="Calibri"/>
              </a:rPr>
              <a:t>7. </a:t>
            </a:r>
            <a:r>
              <a:rPr lang="fr-FR" sz="1800" b="1" dirty="0" err="1">
                <a:solidFill>
                  <a:schemeClr val="dk1"/>
                </a:solidFill>
                <a:latin typeface="Calibri"/>
                <a:ea typeface="Calibri"/>
                <a:cs typeface="Calibri"/>
                <a:sym typeface="Calibri"/>
              </a:rPr>
              <a:t>During</a:t>
            </a:r>
            <a:r>
              <a:rPr lang="fr-FR" sz="1800" b="1" dirty="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Spring</a:t>
            </a:r>
            <a:r>
              <a:rPr lang="fr-FR" sz="1800" b="1" dirty="0">
                <a:solidFill>
                  <a:schemeClr val="dk1"/>
                </a:solidFill>
                <a:latin typeface="Calibri"/>
                <a:ea typeface="Calibri"/>
                <a:cs typeface="Calibri"/>
                <a:sym typeface="Calibri"/>
              </a:rPr>
              <a:t> Break, </a:t>
            </a:r>
            <a:r>
              <a:rPr lang="fr-FR" sz="1800" b="1" dirty="0" err="1">
                <a:solidFill>
                  <a:schemeClr val="dk1"/>
                </a:solidFill>
                <a:latin typeface="Calibri"/>
                <a:ea typeface="Calibri"/>
                <a:cs typeface="Calibri"/>
                <a:sym typeface="Calibri"/>
              </a:rPr>
              <a:t>would</a:t>
            </a:r>
            <a:r>
              <a:rPr lang="fr-FR" sz="1800" b="1" dirty="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you</a:t>
            </a:r>
            <a:r>
              <a:rPr lang="fr-FR" sz="1800" b="1" dirty="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rather</a:t>
            </a:r>
            <a:r>
              <a:rPr lang="fr-FR" sz="1800" b="1"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a. </a:t>
            </a:r>
            <a:r>
              <a:rPr lang="fr-FR" sz="1800" dirty="0" err="1">
                <a:solidFill>
                  <a:schemeClr val="dk1"/>
                </a:solidFill>
                <a:latin typeface="Calibri"/>
                <a:ea typeface="Calibri"/>
                <a:cs typeface="Calibri"/>
                <a:sym typeface="Calibri"/>
              </a:rPr>
              <a:t>Take</a:t>
            </a:r>
            <a:r>
              <a:rPr lang="fr-FR" sz="1800" dirty="0">
                <a:solidFill>
                  <a:schemeClr val="dk1"/>
                </a:solidFill>
                <a:latin typeface="Calibri"/>
                <a:ea typeface="Calibri"/>
                <a:cs typeface="Calibri"/>
                <a:sym typeface="Calibri"/>
              </a:rPr>
              <a:t> a trip to Costa Rica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b. </a:t>
            </a:r>
            <a:r>
              <a:rPr lang="fr-FR" sz="1800" dirty="0" err="1">
                <a:solidFill>
                  <a:schemeClr val="dk1"/>
                </a:solidFill>
                <a:latin typeface="Calibri"/>
                <a:ea typeface="Calibri"/>
                <a:cs typeface="Calibri"/>
                <a:sym typeface="Calibri"/>
              </a:rPr>
              <a:t>Volunteer</a:t>
            </a:r>
            <a:r>
              <a:rPr lang="fr-FR" sz="1800" dirty="0">
                <a:solidFill>
                  <a:schemeClr val="dk1"/>
                </a:solidFill>
                <a:latin typeface="Calibri"/>
                <a:ea typeface="Calibri"/>
                <a:cs typeface="Calibri"/>
                <a:sym typeface="Calibri"/>
              </a:rPr>
              <a:t> to </a:t>
            </a:r>
            <a:r>
              <a:rPr lang="fr-FR" sz="1800" dirty="0" err="1">
                <a:solidFill>
                  <a:schemeClr val="dk1"/>
                </a:solidFill>
                <a:latin typeface="Calibri"/>
                <a:ea typeface="Calibri"/>
                <a:cs typeface="Calibri"/>
                <a:sym typeface="Calibri"/>
              </a:rPr>
              <a:t>build</a:t>
            </a:r>
            <a:r>
              <a:rPr lang="fr-FR" sz="1800" dirty="0">
                <a:solidFill>
                  <a:schemeClr val="dk1"/>
                </a:solidFill>
                <a:latin typeface="Calibri"/>
                <a:ea typeface="Calibri"/>
                <a:cs typeface="Calibri"/>
                <a:sym typeface="Calibri"/>
              </a:rPr>
              <a:t> homes </a:t>
            </a:r>
            <a:r>
              <a:rPr lang="fr-FR" sz="1800" dirty="0" err="1">
                <a:solidFill>
                  <a:schemeClr val="dk1"/>
                </a:solidFill>
                <a:latin typeface="Calibri"/>
                <a:ea typeface="Calibri"/>
                <a:cs typeface="Calibri"/>
                <a:sym typeface="Calibri"/>
              </a:rPr>
              <a:t>with</a:t>
            </a:r>
            <a:r>
              <a:rPr lang="fr-FR" sz="1800" dirty="0">
                <a:solidFill>
                  <a:schemeClr val="dk1"/>
                </a:solidFill>
                <a:latin typeface="Calibri"/>
                <a:ea typeface="Calibri"/>
                <a:cs typeface="Calibri"/>
                <a:sym typeface="Calibri"/>
              </a:rPr>
              <a:t> Habitat for </a:t>
            </a:r>
            <a:r>
              <a:rPr lang="fr-FR" sz="1800" dirty="0" err="1">
                <a:solidFill>
                  <a:schemeClr val="dk1"/>
                </a:solidFill>
                <a:latin typeface="Calibri"/>
                <a:ea typeface="Calibri"/>
                <a:cs typeface="Calibri"/>
                <a:sym typeface="Calibri"/>
              </a:rPr>
              <a:t>Humanity</a:t>
            </a:r>
            <a:r>
              <a:rPr lang="fr-FR"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c. </a:t>
            </a:r>
            <a:r>
              <a:rPr lang="fr-FR" sz="1800" dirty="0" err="1">
                <a:solidFill>
                  <a:schemeClr val="dk1"/>
                </a:solidFill>
                <a:latin typeface="Calibri"/>
                <a:ea typeface="Calibri"/>
                <a:cs typeface="Calibri"/>
                <a:sym typeface="Calibri"/>
              </a:rPr>
              <a:t>Visit</a:t>
            </a:r>
            <a:r>
              <a:rPr lang="fr-FR" sz="1800" dirty="0">
                <a:solidFill>
                  <a:schemeClr val="dk1"/>
                </a:solidFill>
                <a:latin typeface="Calibri"/>
                <a:ea typeface="Calibri"/>
                <a:cs typeface="Calibri"/>
                <a:sym typeface="Calibri"/>
              </a:rPr>
              <a:t> a </a:t>
            </a:r>
            <a:r>
              <a:rPr lang="fr-FR" sz="1800" dirty="0" err="1">
                <a:solidFill>
                  <a:schemeClr val="dk1"/>
                </a:solidFill>
                <a:latin typeface="Calibri"/>
                <a:ea typeface="Calibri"/>
                <a:cs typeface="Calibri"/>
                <a:sym typeface="Calibri"/>
              </a:rPr>
              <a:t>museum</a:t>
            </a:r>
            <a:r>
              <a:rPr lang="fr-FR" sz="1800" dirty="0">
                <a:solidFill>
                  <a:schemeClr val="dk1"/>
                </a:solidFill>
                <a:latin typeface="Calibri"/>
                <a:ea typeface="Calibri"/>
                <a:cs typeface="Calibri"/>
                <a:sym typeface="Calibri"/>
              </a:rPr>
              <a:t>, or go </a:t>
            </a:r>
            <a:r>
              <a:rPr lang="fr-FR" sz="1800" dirty="0" err="1">
                <a:solidFill>
                  <a:schemeClr val="dk1"/>
                </a:solidFill>
                <a:latin typeface="Calibri"/>
                <a:ea typeface="Calibri"/>
                <a:cs typeface="Calibri"/>
                <a:sym typeface="Calibri"/>
              </a:rPr>
              <a:t>see</a:t>
            </a:r>
            <a:r>
              <a:rPr lang="fr-FR" sz="1800" dirty="0">
                <a:solidFill>
                  <a:schemeClr val="dk1"/>
                </a:solidFill>
                <a:latin typeface="Calibri"/>
                <a:ea typeface="Calibri"/>
                <a:cs typeface="Calibri"/>
                <a:sym typeface="Calibri"/>
              </a:rPr>
              <a:t> a </a:t>
            </a:r>
            <a:r>
              <a:rPr lang="fr-FR" sz="1800" dirty="0" err="1">
                <a:solidFill>
                  <a:schemeClr val="dk1"/>
                </a:solidFill>
                <a:latin typeface="Calibri"/>
                <a:ea typeface="Calibri"/>
                <a:cs typeface="Calibri"/>
                <a:sym typeface="Calibri"/>
              </a:rPr>
              <a:t>play</a:t>
            </a:r>
            <a:r>
              <a:rPr lang="fr-FR"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d. </a:t>
            </a:r>
            <a:r>
              <a:rPr lang="fr-FR" sz="1800" dirty="0" err="1">
                <a:solidFill>
                  <a:schemeClr val="dk1"/>
                </a:solidFill>
                <a:latin typeface="Calibri"/>
                <a:ea typeface="Calibri"/>
                <a:cs typeface="Calibri"/>
                <a:sym typeface="Calibri"/>
              </a:rPr>
              <a:t>Research</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Genealogy</a:t>
            </a:r>
            <a:r>
              <a:rPr lang="fr-FR"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dirty="0">
                <a:solidFill>
                  <a:schemeClr val="dk1"/>
                </a:solidFill>
                <a:latin typeface="Calibri"/>
                <a:ea typeface="Calibri"/>
                <a:cs typeface="Calibri"/>
                <a:sym typeface="Calibri"/>
              </a:rPr>
              <a:t>8. </a:t>
            </a:r>
            <a:r>
              <a:rPr lang="fr-FR" sz="1800" b="1" dirty="0" err="1">
                <a:solidFill>
                  <a:schemeClr val="dk1"/>
                </a:solidFill>
                <a:latin typeface="Calibri"/>
                <a:ea typeface="Calibri"/>
                <a:cs typeface="Calibri"/>
                <a:sym typeface="Calibri"/>
              </a:rPr>
              <a:t>Which</a:t>
            </a:r>
            <a:r>
              <a:rPr lang="fr-FR" sz="1800" b="1" dirty="0">
                <a:solidFill>
                  <a:schemeClr val="dk1"/>
                </a:solidFill>
                <a:latin typeface="Calibri"/>
                <a:ea typeface="Calibri"/>
                <a:cs typeface="Calibri"/>
                <a:sym typeface="Calibri"/>
              </a:rPr>
              <a:t> item </a:t>
            </a:r>
            <a:r>
              <a:rPr lang="fr-FR" sz="1800" b="1" dirty="0" err="1">
                <a:solidFill>
                  <a:schemeClr val="dk1"/>
                </a:solidFill>
                <a:latin typeface="Calibri"/>
                <a:ea typeface="Calibri"/>
                <a:cs typeface="Calibri"/>
                <a:sym typeface="Calibri"/>
              </a:rPr>
              <a:t>would</a:t>
            </a:r>
            <a:r>
              <a:rPr lang="fr-FR" sz="1800" b="1" dirty="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you</a:t>
            </a:r>
            <a:r>
              <a:rPr lang="fr-FR" sz="1800" b="1" dirty="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rather</a:t>
            </a:r>
            <a:r>
              <a:rPr lang="fr-FR" sz="1800" b="1" dirty="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receive</a:t>
            </a:r>
            <a:r>
              <a:rPr lang="fr-FR" sz="1800" b="1" dirty="0">
                <a:solidFill>
                  <a:schemeClr val="dk1"/>
                </a:solidFill>
                <a:latin typeface="Calibri"/>
                <a:ea typeface="Calibri"/>
                <a:cs typeface="Calibri"/>
                <a:sym typeface="Calibri"/>
              </a:rPr>
              <a:t> as a gift for </a:t>
            </a:r>
            <a:r>
              <a:rPr lang="fr-FR" sz="1800" b="1" dirty="0" err="1">
                <a:solidFill>
                  <a:schemeClr val="dk1"/>
                </a:solidFill>
                <a:latin typeface="Calibri"/>
                <a:ea typeface="Calibri"/>
                <a:cs typeface="Calibri"/>
                <a:sym typeface="Calibri"/>
              </a:rPr>
              <a:t>your</a:t>
            </a:r>
            <a:r>
              <a:rPr lang="fr-FR" sz="1800" b="1" dirty="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Birthday</a:t>
            </a:r>
            <a:r>
              <a:rPr lang="fr-FR" sz="1800" b="1"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a. Sports </a:t>
            </a:r>
            <a:r>
              <a:rPr lang="fr-FR" sz="1800" dirty="0" err="1">
                <a:solidFill>
                  <a:schemeClr val="dk1"/>
                </a:solidFill>
                <a:latin typeface="Calibri"/>
                <a:ea typeface="Calibri"/>
                <a:cs typeface="Calibri"/>
                <a:sym typeface="Calibri"/>
              </a:rPr>
              <a:t>equipment</a:t>
            </a:r>
            <a:r>
              <a:rPr lang="fr-FR"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b. Donations to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favorite </a:t>
            </a:r>
            <a:r>
              <a:rPr lang="fr-FR" sz="1800" dirty="0" err="1">
                <a:solidFill>
                  <a:schemeClr val="dk1"/>
                </a:solidFill>
                <a:latin typeface="Calibri"/>
                <a:ea typeface="Calibri"/>
                <a:cs typeface="Calibri"/>
                <a:sym typeface="Calibri"/>
              </a:rPr>
              <a:t>charity</a:t>
            </a:r>
            <a:r>
              <a:rPr lang="fr-FR" sz="1800" dirty="0">
                <a:solidFill>
                  <a:schemeClr val="dk1"/>
                </a:solidFill>
                <a:latin typeface="Calibri"/>
                <a:ea typeface="Calibri"/>
                <a:cs typeface="Calibri"/>
                <a:sym typeface="Calibri"/>
              </a:rPr>
              <a:t>, made in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name</a:t>
            </a:r>
            <a:r>
              <a:rPr lang="fr-FR"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c. Music and Art supplies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d. </a:t>
            </a:r>
            <a:r>
              <a:rPr lang="fr-FR" sz="1800" dirty="0" err="1">
                <a:solidFill>
                  <a:schemeClr val="dk1"/>
                </a:solidFill>
                <a:latin typeface="Calibri"/>
                <a:ea typeface="Calibri"/>
                <a:cs typeface="Calibri"/>
                <a:sym typeface="Calibri"/>
              </a:rPr>
              <a:t>Latest</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Technological</a:t>
            </a:r>
            <a:r>
              <a:rPr lang="fr-FR" sz="1800" dirty="0">
                <a:solidFill>
                  <a:schemeClr val="dk1"/>
                </a:solidFill>
                <a:latin typeface="Calibri"/>
                <a:ea typeface="Calibri"/>
                <a:cs typeface="Calibri"/>
                <a:sym typeface="Calibri"/>
              </a:rPr>
              <a:t> Gadget </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dirty="0">
                <a:solidFill>
                  <a:schemeClr val="dk1"/>
                </a:solidFill>
                <a:latin typeface="Calibri"/>
                <a:ea typeface="Calibri"/>
                <a:cs typeface="Calibri"/>
                <a:sym typeface="Calibri"/>
              </a:rPr>
              <a:t>9</a:t>
            </a:r>
            <a:r>
              <a:rPr lang="fr-FR" sz="1800" b="1" dirty="0" smtClean="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Your</a:t>
            </a:r>
            <a:r>
              <a:rPr lang="fr-FR" sz="1800" b="1" dirty="0">
                <a:solidFill>
                  <a:schemeClr val="dk1"/>
                </a:solidFill>
                <a:latin typeface="Calibri"/>
                <a:ea typeface="Calibri"/>
                <a:cs typeface="Calibri"/>
                <a:sym typeface="Calibri"/>
              </a:rPr>
              <a:t> </a:t>
            </a:r>
            <a:r>
              <a:rPr lang="fr-FR" sz="1800" b="1" dirty="0" err="1">
                <a:solidFill>
                  <a:schemeClr val="dk1"/>
                </a:solidFill>
                <a:latin typeface="Calibri"/>
                <a:ea typeface="Calibri"/>
                <a:cs typeface="Calibri"/>
                <a:sym typeface="Calibri"/>
              </a:rPr>
              <a:t>idea</a:t>
            </a:r>
            <a:r>
              <a:rPr lang="fr-FR" sz="1800" b="1" dirty="0">
                <a:solidFill>
                  <a:schemeClr val="dk1"/>
                </a:solidFill>
                <a:latin typeface="Calibri"/>
                <a:ea typeface="Calibri"/>
                <a:cs typeface="Calibri"/>
                <a:sym typeface="Calibri"/>
              </a:rPr>
              <a:t> of a </a:t>
            </a:r>
            <a:r>
              <a:rPr lang="fr-FR" sz="1800" b="1" dirty="0" err="1">
                <a:solidFill>
                  <a:schemeClr val="dk1"/>
                </a:solidFill>
                <a:latin typeface="Calibri"/>
                <a:ea typeface="Calibri"/>
                <a:cs typeface="Calibri"/>
                <a:sym typeface="Calibri"/>
              </a:rPr>
              <a:t>great</a:t>
            </a:r>
            <a:r>
              <a:rPr lang="fr-FR" sz="1800" b="1" dirty="0">
                <a:solidFill>
                  <a:schemeClr val="dk1"/>
                </a:solidFill>
                <a:latin typeface="Calibri"/>
                <a:ea typeface="Calibri"/>
                <a:cs typeface="Calibri"/>
                <a:sym typeface="Calibri"/>
              </a:rPr>
              <a:t> job?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a. Professional </a:t>
            </a:r>
            <a:r>
              <a:rPr lang="fr-FR" sz="1800" dirty="0" err="1">
                <a:solidFill>
                  <a:schemeClr val="dk1"/>
                </a:solidFill>
                <a:latin typeface="Calibri"/>
                <a:ea typeface="Calibri"/>
                <a:cs typeface="Calibri"/>
                <a:sym typeface="Calibri"/>
              </a:rPr>
              <a:t>athlete</a:t>
            </a:r>
            <a:r>
              <a:rPr lang="fr-FR"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b. Grants Manager for Gates </a:t>
            </a:r>
            <a:r>
              <a:rPr lang="fr-FR" sz="1800" dirty="0" err="1">
                <a:solidFill>
                  <a:schemeClr val="dk1"/>
                </a:solidFill>
                <a:latin typeface="Calibri"/>
                <a:ea typeface="Calibri"/>
                <a:cs typeface="Calibri"/>
                <a:sym typeface="Calibri"/>
              </a:rPr>
              <a:t>Foundation</a:t>
            </a:r>
            <a:r>
              <a:rPr lang="fr-FR"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c. </a:t>
            </a:r>
            <a:r>
              <a:rPr lang="fr-FR" sz="1800" dirty="0" err="1">
                <a:solidFill>
                  <a:schemeClr val="dk1"/>
                </a:solidFill>
                <a:latin typeface="Calibri"/>
                <a:ea typeface="Calibri"/>
                <a:cs typeface="Calibri"/>
                <a:sym typeface="Calibri"/>
              </a:rPr>
              <a:t>Photographer</a:t>
            </a:r>
            <a:r>
              <a:rPr lang="fr-FR" sz="1800" dirty="0">
                <a:solidFill>
                  <a:schemeClr val="dk1"/>
                </a:solidFill>
                <a:latin typeface="Calibri"/>
                <a:ea typeface="Calibri"/>
                <a:cs typeface="Calibri"/>
                <a:sym typeface="Calibri"/>
              </a:rPr>
              <a:t> for National </a:t>
            </a:r>
            <a:r>
              <a:rPr lang="fr-FR" sz="1800" dirty="0" err="1">
                <a:solidFill>
                  <a:schemeClr val="dk1"/>
                </a:solidFill>
                <a:latin typeface="Calibri"/>
                <a:ea typeface="Calibri"/>
                <a:cs typeface="Calibri"/>
                <a:sym typeface="Calibri"/>
              </a:rPr>
              <a:t>Geographic</a:t>
            </a:r>
            <a:r>
              <a:rPr lang="fr-FR"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fr-FR" sz="1800" dirty="0">
                <a:solidFill>
                  <a:schemeClr val="dk1"/>
                </a:solidFill>
                <a:latin typeface="Calibri"/>
                <a:ea typeface="Calibri"/>
                <a:cs typeface="Calibri"/>
                <a:sym typeface="Calibri"/>
              </a:rPr>
              <a:t>d. </a:t>
            </a:r>
            <a:r>
              <a:rPr lang="fr-FR" sz="1800" dirty="0" err="1">
                <a:solidFill>
                  <a:schemeClr val="dk1"/>
                </a:solidFill>
                <a:latin typeface="Calibri"/>
                <a:ea typeface="Calibri"/>
                <a:cs typeface="Calibri"/>
                <a:sym typeface="Calibri"/>
              </a:rPr>
              <a:t>Executive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with</a:t>
            </a:r>
            <a:r>
              <a:rPr lang="fr-FR" sz="1800" dirty="0">
                <a:solidFill>
                  <a:schemeClr val="dk1"/>
                </a:solidFill>
                <a:latin typeface="Calibri"/>
                <a:ea typeface="Calibri"/>
                <a:cs typeface="Calibri"/>
                <a:sym typeface="Calibri"/>
              </a:rPr>
              <a:t> Microsoft/ Apple or Google </a:t>
            </a:r>
            <a:endParaRPr sz="1800" dirty="0">
              <a:solidFill>
                <a:srgbClr val="000000"/>
              </a:solidFill>
              <a:latin typeface="Calibri"/>
              <a:ea typeface="Calibri"/>
              <a:cs typeface="Calibri"/>
              <a:sym typeface="Calibri"/>
            </a:endParaRP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p:txBody>
      </p:sp>
      <p:pic>
        <p:nvPicPr>
          <p:cNvPr id="252" name="Google Shape;252;p21"/>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22"/>
          <p:cNvPicPr preferRelativeResize="0"/>
          <p:nvPr/>
        </p:nvPicPr>
        <p:blipFill rotWithShape="1">
          <a:blip r:embed="rId3">
            <a:alphaModFix/>
          </a:blip>
          <a:srcRect/>
          <a:stretch/>
        </p:blipFill>
        <p:spPr>
          <a:xfrm>
            <a:off x="5875457" y="4647774"/>
            <a:ext cx="3268543" cy="2210226"/>
          </a:xfrm>
          <a:prstGeom prst="rect">
            <a:avLst/>
          </a:prstGeom>
          <a:noFill/>
          <a:ln>
            <a:noFill/>
          </a:ln>
        </p:spPr>
      </p:pic>
      <p:pic>
        <p:nvPicPr>
          <p:cNvPr id="259" name="Google Shape;259;p22" descr="Capture d’écran 2021-09-21 à 15.38.09.png"/>
          <p:cNvPicPr preferRelativeResize="0"/>
          <p:nvPr/>
        </p:nvPicPr>
        <p:blipFill rotWithShape="1">
          <a:blip r:embed="rId4">
            <a:alphaModFix/>
          </a:blip>
          <a:srcRect/>
          <a:stretch/>
        </p:blipFill>
        <p:spPr>
          <a:xfrm>
            <a:off x="0" y="0"/>
            <a:ext cx="9144000" cy="685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5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3"/>
          <p:cNvSpPr txBox="1"/>
          <p:nvPr/>
        </p:nvSpPr>
        <p:spPr>
          <a:xfrm>
            <a:off x="381000" y="1371600"/>
            <a:ext cx="6400800" cy="42165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3600">
                <a:solidFill>
                  <a:schemeClr val="dk1"/>
                </a:solidFill>
                <a:latin typeface="Calibri"/>
                <a:ea typeface="Calibri"/>
                <a:cs typeface="Calibri"/>
                <a:sym typeface="Calibri"/>
              </a:rPr>
              <a:t>Have you, or anyone you know, benefited from volunteers?</a:t>
            </a:r>
            <a:endParaRPr/>
          </a:p>
          <a:p>
            <a:pPr marL="0" marR="0" lvl="0" indent="0" algn="ctr" rtl="0">
              <a:spcBef>
                <a:spcPts val="0"/>
              </a:spcBef>
              <a:spcAft>
                <a:spcPts val="0"/>
              </a:spcAft>
              <a:buNone/>
            </a:pPr>
            <a:endParaRPr sz="3600">
              <a:solidFill>
                <a:schemeClr val="dk1"/>
              </a:solidFill>
              <a:latin typeface="Calibri"/>
              <a:ea typeface="Calibri"/>
              <a:cs typeface="Calibri"/>
              <a:sym typeface="Calibri"/>
            </a:endParaRPr>
          </a:p>
          <a:p>
            <a:pPr marL="0" marR="0" lvl="0" indent="0" algn="ctr" rtl="0">
              <a:spcBef>
                <a:spcPts val="0"/>
              </a:spcBef>
              <a:spcAft>
                <a:spcPts val="0"/>
              </a:spcAft>
              <a:buNone/>
            </a:pPr>
            <a:r>
              <a:rPr lang="fr-FR" sz="3600">
                <a:solidFill>
                  <a:schemeClr val="dk1"/>
                </a:solidFill>
                <a:latin typeface="Calibri"/>
                <a:ea typeface="Calibri"/>
                <a:cs typeface="Calibri"/>
                <a:sym typeface="Calibri"/>
              </a:rPr>
              <a:t>What are the benefits of volunteering for the volunteer?</a:t>
            </a:r>
            <a:endParaRPr/>
          </a:p>
          <a:p>
            <a:pPr marL="0" marR="0" lvl="0" indent="0" algn="ctr" rtl="0">
              <a:spcBef>
                <a:spcPts val="0"/>
              </a:spcBef>
              <a:spcAft>
                <a:spcPts val="0"/>
              </a:spcAft>
              <a:buNone/>
            </a:pPr>
            <a:endParaRPr sz="4400">
              <a:solidFill>
                <a:schemeClr val="dk1"/>
              </a:solidFill>
              <a:latin typeface="Calibri"/>
              <a:ea typeface="Calibri"/>
              <a:cs typeface="Calibri"/>
              <a:sym typeface="Calibri"/>
            </a:endParaRPr>
          </a:p>
          <a:p>
            <a:pPr marL="0" marR="0" lvl="0" indent="0" algn="ctr" rtl="0">
              <a:spcBef>
                <a:spcPts val="0"/>
              </a:spcBef>
              <a:spcAft>
                <a:spcPts val="0"/>
              </a:spcAft>
              <a:buNone/>
            </a:pPr>
            <a:endParaRPr sz="4400">
              <a:solidFill>
                <a:schemeClr val="dk1"/>
              </a:solidFill>
              <a:latin typeface="Calibri"/>
              <a:ea typeface="Calibri"/>
              <a:cs typeface="Calibri"/>
              <a:sym typeface="Calibri"/>
            </a:endParaRPr>
          </a:p>
        </p:txBody>
      </p:sp>
      <p:pic>
        <p:nvPicPr>
          <p:cNvPr id="266" name="Google Shape;266;p23"/>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animEffect transition="in" filter="fade">
                                      <p:cBhvr>
                                        <p:cTn id="7" dur="600"/>
                                        <p:tgtEl>
                                          <p:spTgt spid="2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5">
                                            <p:txEl>
                                              <p:pRg st="1" end="1"/>
                                            </p:txEl>
                                          </p:spTgt>
                                        </p:tgtEl>
                                        <p:attrNameLst>
                                          <p:attrName>style.visibility</p:attrName>
                                        </p:attrNameLst>
                                      </p:cBhvr>
                                      <p:to>
                                        <p:strVal val="visible"/>
                                      </p:to>
                                    </p:set>
                                    <p:animEffect transition="in" filter="fade">
                                      <p:cBhvr>
                                        <p:cTn id="12" dur="600"/>
                                        <p:tgtEl>
                                          <p:spTgt spid="2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5">
                                            <p:txEl>
                                              <p:pRg st="2" end="2"/>
                                            </p:txEl>
                                          </p:spTgt>
                                        </p:tgtEl>
                                        <p:attrNameLst>
                                          <p:attrName>style.visibility</p:attrName>
                                        </p:attrNameLst>
                                      </p:cBhvr>
                                      <p:to>
                                        <p:strVal val="visible"/>
                                      </p:to>
                                    </p:set>
                                    <p:animEffect transition="in" filter="fade">
                                      <p:cBhvr>
                                        <p:cTn id="17" dur="600"/>
                                        <p:tgtEl>
                                          <p:spTgt spid="2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5">
                                            <p:txEl>
                                              <p:pRg st="3" end="3"/>
                                            </p:txEl>
                                          </p:spTgt>
                                        </p:tgtEl>
                                        <p:attrNameLst>
                                          <p:attrName>style.visibility</p:attrName>
                                        </p:attrNameLst>
                                      </p:cBhvr>
                                      <p:to>
                                        <p:strVal val="visible"/>
                                      </p:to>
                                    </p:set>
                                    <p:animEffect transition="in" filter="fade">
                                      <p:cBhvr>
                                        <p:cTn id="22" dur="600"/>
                                        <p:tgtEl>
                                          <p:spTgt spid="2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5">
                                            <p:txEl>
                                              <p:pRg st="4" end="4"/>
                                            </p:txEl>
                                          </p:spTgt>
                                        </p:tgtEl>
                                        <p:attrNameLst>
                                          <p:attrName>style.visibility</p:attrName>
                                        </p:attrNameLst>
                                      </p:cBhvr>
                                      <p:to>
                                        <p:strVal val="visible"/>
                                      </p:to>
                                    </p:set>
                                    <p:animEffect transition="in" filter="fade">
                                      <p:cBhvr>
                                        <p:cTn id="27" dur="600"/>
                                        <p:tgtEl>
                                          <p:spTgt spid="26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grpSp>
        <p:nvGrpSpPr>
          <p:cNvPr id="272" name="Google Shape;272;p24"/>
          <p:cNvGrpSpPr/>
          <p:nvPr/>
        </p:nvGrpSpPr>
        <p:grpSpPr>
          <a:xfrm>
            <a:off x="428857" y="485286"/>
            <a:ext cx="6086243" cy="565433"/>
            <a:chOff x="801127" y="403254"/>
            <a:chExt cx="4331352" cy="565433"/>
          </a:xfrm>
        </p:grpSpPr>
        <p:sp>
          <p:nvSpPr>
            <p:cNvPr id="273" name="Google Shape;273;p24"/>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274" name="Google Shape;274;p24"/>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Benefits of volunteering</a:t>
              </a:r>
              <a:endParaRPr sz="1800">
                <a:solidFill>
                  <a:srgbClr val="FFFFFF"/>
                </a:solidFill>
                <a:latin typeface="Open Sans SemiBold"/>
                <a:ea typeface="Open Sans SemiBold"/>
                <a:cs typeface="Open Sans SemiBold"/>
                <a:sym typeface="Open Sans SemiBold"/>
              </a:endParaRPr>
            </a:p>
          </p:txBody>
        </p:sp>
      </p:grpSp>
      <p:sp>
        <p:nvSpPr>
          <p:cNvPr id="275" name="Google Shape;275;p24"/>
          <p:cNvSpPr txBox="1"/>
          <p:nvPr/>
        </p:nvSpPr>
        <p:spPr>
          <a:xfrm>
            <a:off x="152400" y="1842102"/>
            <a:ext cx="5943600" cy="3693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dirty="0">
                <a:solidFill>
                  <a:schemeClr val="dk1"/>
                </a:solidFill>
                <a:latin typeface="Calibri"/>
                <a:ea typeface="Calibri"/>
                <a:cs typeface="Calibri"/>
                <a:sym typeface="Calibri"/>
              </a:rPr>
              <a:t>Gain confidence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Volunteering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can</a:t>
            </a:r>
            <a:r>
              <a:rPr lang="fr-FR" sz="1800" dirty="0">
                <a:solidFill>
                  <a:schemeClr val="dk1"/>
                </a:solidFill>
                <a:latin typeface="Calibri"/>
                <a:ea typeface="Calibri"/>
                <a:cs typeface="Calibri"/>
                <a:sym typeface="Calibri"/>
              </a:rPr>
              <a:t> help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gain confidence by </a:t>
            </a:r>
            <a:r>
              <a:rPr lang="fr-FR" sz="1800" dirty="0" err="1">
                <a:solidFill>
                  <a:schemeClr val="dk1"/>
                </a:solidFill>
                <a:latin typeface="Calibri"/>
                <a:ea typeface="Calibri"/>
                <a:cs typeface="Calibri"/>
                <a:sym typeface="Calibri"/>
              </a:rPr>
              <a:t>giving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the chance to </a:t>
            </a:r>
            <a:r>
              <a:rPr lang="fr-FR" sz="1800" dirty="0" err="1">
                <a:solidFill>
                  <a:schemeClr val="dk1"/>
                </a:solidFill>
                <a:latin typeface="Calibri"/>
                <a:ea typeface="Calibri"/>
                <a:cs typeface="Calibri"/>
                <a:sym typeface="Calibri"/>
              </a:rPr>
              <a:t>try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something</a:t>
            </a:r>
            <a:r>
              <a:rPr lang="fr-FR" sz="1800" dirty="0">
                <a:solidFill>
                  <a:schemeClr val="dk1"/>
                </a:solidFill>
                <a:latin typeface="Calibri"/>
                <a:ea typeface="Calibri"/>
                <a:cs typeface="Calibri"/>
                <a:sym typeface="Calibri"/>
              </a:rPr>
              <a:t> new and </a:t>
            </a:r>
            <a:r>
              <a:rPr lang="fr-FR" sz="1800" dirty="0" err="1">
                <a:solidFill>
                  <a:schemeClr val="dk1"/>
                </a:solidFill>
                <a:latin typeface="Calibri"/>
                <a:ea typeface="Calibri"/>
                <a:cs typeface="Calibri"/>
                <a:sym typeface="Calibri"/>
              </a:rPr>
              <a:t>build</a:t>
            </a:r>
            <a:r>
              <a:rPr lang="fr-FR" sz="1800" dirty="0">
                <a:solidFill>
                  <a:schemeClr val="dk1"/>
                </a:solidFill>
                <a:latin typeface="Calibri"/>
                <a:ea typeface="Calibri"/>
                <a:cs typeface="Calibri"/>
                <a:sym typeface="Calibri"/>
              </a:rPr>
              <a:t> a real </a:t>
            </a:r>
            <a:r>
              <a:rPr lang="fr-FR" sz="1800" dirty="0" err="1">
                <a:solidFill>
                  <a:schemeClr val="dk1"/>
                </a:solidFill>
                <a:latin typeface="Calibri"/>
                <a:ea typeface="Calibri"/>
                <a:cs typeface="Calibri"/>
                <a:sym typeface="Calibri"/>
              </a:rPr>
              <a:t>sense</a:t>
            </a:r>
            <a:r>
              <a:rPr lang="fr-FR" sz="1800" dirty="0">
                <a:solidFill>
                  <a:schemeClr val="dk1"/>
                </a:solidFill>
                <a:latin typeface="Calibri"/>
                <a:ea typeface="Calibri"/>
                <a:cs typeface="Calibri"/>
                <a:sym typeface="Calibri"/>
              </a:rPr>
              <a:t> of </a:t>
            </a:r>
            <a:r>
              <a:rPr lang="fr-FR" sz="1800" dirty="0" err="1">
                <a:solidFill>
                  <a:schemeClr val="dk1"/>
                </a:solidFill>
                <a:latin typeface="Calibri"/>
                <a:ea typeface="Calibri"/>
                <a:cs typeface="Calibri"/>
                <a:sym typeface="Calibri"/>
              </a:rPr>
              <a:t>achievement</a:t>
            </a:r>
            <a:r>
              <a:rPr lang="fr-FR"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dirty="0" err="1">
                <a:solidFill>
                  <a:schemeClr val="dk1"/>
                </a:solidFill>
                <a:latin typeface="Calibri"/>
                <a:ea typeface="Calibri"/>
                <a:cs typeface="Calibri"/>
                <a:sym typeface="Calibri"/>
              </a:rPr>
              <a:t>Make</a:t>
            </a:r>
            <a:r>
              <a:rPr lang="fr-FR" sz="1800" b="1" dirty="0">
                <a:solidFill>
                  <a:schemeClr val="dk1"/>
                </a:solidFill>
                <a:latin typeface="Calibri"/>
                <a:ea typeface="Calibri"/>
                <a:cs typeface="Calibri"/>
                <a:sym typeface="Calibri"/>
              </a:rPr>
              <a:t> a </a:t>
            </a:r>
            <a:r>
              <a:rPr lang="fr-FR" sz="1800" b="1" dirty="0" err="1">
                <a:solidFill>
                  <a:schemeClr val="dk1"/>
                </a:solidFill>
                <a:latin typeface="Calibri"/>
                <a:ea typeface="Calibri"/>
                <a:cs typeface="Calibri"/>
                <a:sym typeface="Calibri"/>
              </a:rPr>
              <a:t>difference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Volunteering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can</a:t>
            </a:r>
            <a:r>
              <a:rPr lang="fr-FR" sz="1800" dirty="0">
                <a:solidFill>
                  <a:schemeClr val="dk1"/>
                </a:solidFill>
                <a:latin typeface="Calibri"/>
                <a:ea typeface="Calibri"/>
                <a:cs typeface="Calibri"/>
                <a:sym typeface="Calibri"/>
              </a:rPr>
              <a:t> have a real and </a:t>
            </a:r>
            <a:r>
              <a:rPr lang="fr-FR" sz="1800" dirty="0" err="1">
                <a:solidFill>
                  <a:schemeClr val="dk1"/>
                </a:solidFill>
                <a:latin typeface="Calibri"/>
                <a:ea typeface="Calibri"/>
                <a:cs typeface="Calibri"/>
                <a:sym typeface="Calibri"/>
              </a:rPr>
              <a:t>valuable</a:t>
            </a:r>
            <a:r>
              <a:rPr lang="fr-FR" sz="1800" dirty="0">
                <a:solidFill>
                  <a:schemeClr val="dk1"/>
                </a:solidFill>
                <a:latin typeface="Calibri"/>
                <a:ea typeface="Calibri"/>
                <a:cs typeface="Calibri"/>
                <a:sym typeface="Calibri"/>
              </a:rPr>
              <a:t> positive affect on people, </a:t>
            </a:r>
            <a:r>
              <a:rPr lang="fr-FR" sz="1800" dirty="0" err="1">
                <a:solidFill>
                  <a:schemeClr val="dk1"/>
                </a:solidFill>
                <a:latin typeface="Calibri"/>
                <a:ea typeface="Calibri"/>
                <a:cs typeface="Calibri"/>
                <a:sym typeface="Calibri"/>
              </a:rPr>
              <a:t>communities</a:t>
            </a:r>
            <a:r>
              <a:rPr lang="fr-FR" sz="1800" dirty="0">
                <a:solidFill>
                  <a:schemeClr val="dk1"/>
                </a:solidFill>
                <a:latin typeface="Calibri"/>
                <a:ea typeface="Calibri"/>
                <a:cs typeface="Calibri"/>
                <a:sym typeface="Calibri"/>
              </a:rPr>
              <a:t> and society in </a:t>
            </a:r>
            <a:r>
              <a:rPr lang="fr-FR" sz="1800" dirty="0" err="1">
                <a:solidFill>
                  <a:schemeClr val="dk1"/>
                </a:solidFill>
                <a:latin typeface="Calibri"/>
                <a:ea typeface="Calibri"/>
                <a:cs typeface="Calibri"/>
                <a:sym typeface="Calibri"/>
              </a:rPr>
              <a:t>general</a:t>
            </a:r>
            <a:r>
              <a:rPr lang="fr-FR"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dirty="0" err="1">
                <a:solidFill>
                  <a:schemeClr val="dk1"/>
                </a:solidFill>
                <a:latin typeface="Calibri"/>
                <a:ea typeface="Calibri"/>
                <a:cs typeface="Calibri"/>
                <a:sym typeface="Calibri"/>
              </a:rPr>
              <a:t>Meet</a:t>
            </a:r>
            <a:r>
              <a:rPr lang="fr-FR" sz="1800" b="1" dirty="0">
                <a:solidFill>
                  <a:schemeClr val="dk1"/>
                </a:solidFill>
                <a:latin typeface="Calibri"/>
                <a:ea typeface="Calibri"/>
                <a:cs typeface="Calibri"/>
                <a:sym typeface="Calibri"/>
              </a:rPr>
              <a:t> people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Volunteering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can</a:t>
            </a:r>
            <a:r>
              <a:rPr lang="fr-FR" sz="1800" dirty="0">
                <a:solidFill>
                  <a:schemeClr val="dk1"/>
                </a:solidFill>
                <a:latin typeface="Calibri"/>
                <a:ea typeface="Calibri"/>
                <a:cs typeface="Calibri"/>
                <a:sym typeface="Calibri"/>
              </a:rPr>
              <a:t> help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meet</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different</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kinds</a:t>
            </a:r>
            <a:r>
              <a:rPr lang="fr-FR" sz="1800" dirty="0">
                <a:solidFill>
                  <a:schemeClr val="dk1"/>
                </a:solidFill>
                <a:latin typeface="Calibri"/>
                <a:ea typeface="Calibri"/>
                <a:cs typeface="Calibri"/>
                <a:sym typeface="Calibri"/>
              </a:rPr>
              <a:t> of people and </a:t>
            </a:r>
            <a:r>
              <a:rPr lang="fr-FR" sz="1800" dirty="0" err="1">
                <a:solidFill>
                  <a:schemeClr val="dk1"/>
                </a:solidFill>
                <a:latin typeface="Calibri"/>
                <a:ea typeface="Calibri"/>
                <a:cs typeface="Calibri"/>
                <a:sym typeface="Calibri"/>
              </a:rPr>
              <a:t>make</a:t>
            </a:r>
            <a:r>
              <a:rPr lang="fr-FR" sz="1800" dirty="0">
                <a:solidFill>
                  <a:schemeClr val="dk1"/>
                </a:solidFill>
                <a:latin typeface="Calibri"/>
                <a:ea typeface="Calibri"/>
                <a:cs typeface="Calibri"/>
                <a:sym typeface="Calibri"/>
              </a:rPr>
              <a:t> new </a:t>
            </a:r>
            <a:r>
              <a:rPr lang="fr-FR" sz="1800" dirty="0" err="1">
                <a:solidFill>
                  <a:schemeClr val="dk1"/>
                </a:solidFill>
                <a:latin typeface="Calibri"/>
                <a:ea typeface="Calibri"/>
                <a:cs typeface="Calibri"/>
                <a:sym typeface="Calibri"/>
              </a:rPr>
              <a:t>friends</a:t>
            </a:r>
            <a:r>
              <a:rPr lang="fr-FR"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dirty="0">
                <a:solidFill>
                  <a:schemeClr val="dk1"/>
                </a:solidFill>
                <a:latin typeface="Calibri"/>
                <a:ea typeface="Calibri"/>
                <a:cs typeface="Calibri"/>
                <a:sym typeface="Calibri"/>
              </a:rPr>
              <a:t>Be part of a </a:t>
            </a:r>
            <a:r>
              <a:rPr lang="fr-FR" sz="1800" b="1" dirty="0" err="1">
                <a:solidFill>
                  <a:schemeClr val="dk1"/>
                </a:solidFill>
                <a:latin typeface="Calibri"/>
                <a:ea typeface="Calibri"/>
                <a:cs typeface="Calibri"/>
                <a:sym typeface="Calibri"/>
              </a:rPr>
              <a:t>community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Volunteering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can</a:t>
            </a:r>
            <a:r>
              <a:rPr lang="fr-FR" sz="1800" dirty="0">
                <a:solidFill>
                  <a:schemeClr val="dk1"/>
                </a:solidFill>
                <a:latin typeface="Calibri"/>
                <a:ea typeface="Calibri"/>
                <a:cs typeface="Calibri"/>
                <a:sym typeface="Calibri"/>
              </a:rPr>
              <a:t> help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feel</a:t>
            </a:r>
            <a:r>
              <a:rPr lang="fr-FR" sz="1800" dirty="0">
                <a:solidFill>
                  <a:schemeClr val="dk1"/>
                </a:solidFill>
                <a:latin typeface="Calibri"/>
                <a:ea typeface="Calibri"/>
                <a:cs typeface="Calibri"/>
                <a:sym typeface="Calibri"/>
              </a:rPr>
              <a:t> part of </a:t>
            </a:r>
            <a:r>
              <a:rPr lang="fr-FR" sz="1800" dirty="0" err="1">
                <a:solidFill>
                  <a:schemeClr val="dk1"/>
                </a:solidFill>
                <a:latin typeface="Calibri"/>
                <a:ea typeface="Calibri"/>
                <a:cs typeface="Calibri"/>
                <a:sym typeface="Calibri"/>
              </a:rPr>
              <a:t>something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outside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friends</a:t>
            </a:r>
            <a:r>
              <a:rPr lang="fr-FR" sz="1800" dirty="0">
                <a:solidFill>
                  <a:schemeClr val="dk1"/>
                </a:solidFill>
                <a:latin typeface="Calibri"/>
                <a:ea typeface="Calibri"/>
                <a:cs typeface="Calibri"/>
                <a:sym typeface="Calibri"/>
              </a:rPr>
              <a:t> and </a:t>
            </a:r>
            <a:r>
              <a:rPr lang="fr-FR" sz="1800" dirty="0" err="1">
                <a:solidFill>
                  <a:schemeClr val="dk1"/>
                </a:solidFill>
                <a:latin typeface="Calibri"/>
                <a:ea typeface="Calibri"/>
                <a:cs typeface="Calibri"/>
                <a:sym typeface="Calibri"/>
              </a:rPr>
              <a:t>family</a:t>
            </a:r>
            <a:r>
              <a:rPr lang="fr-FR" sz="1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276" name="Google Shape;276;p24"/>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5">
                                            <p:txEl>
                                              <p:pRg st="0" end="0"/>
                                            </p:txEl>
                                          </p:spTgt>
                                        </p:tgtEl>
                                        <p:attrNameLst>
                                          <p:attrName>style.visibility</p:attrName>
                                        </p:attrNameLst>
                                      </p:cBhvr>
                                      <p:to>
                                        <p:strVal val="visible"/>
                                      </p:to>
                                    </p:set>
                                    <p:animEffect transition="in" filter="fade">
                                      <p:cBhvr>
                                        <p:cTn id="7" dur="500"/>
                                        <p:tgtEl>
                                          <p:spTgt spid="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5">
                                            <p:txEl>
                                              <p:pRg st="2" end="2"/>
                                            </p:txEl>
                                          </p:spTgt>
                                        </p:tgtEl>
                                        <p:attrNameLst>
                                          <p:attrName>style.visibility</p:attrName>
                                        </p:attrNameLst>
                                      </p:cBhvr>
                                      <p:to>
                                        <p:strVal val="visible"/>
                                      </p:to>
                                    </p:set>
                                    <p:animEffect transition="in" filter="fade">
                                      <p:cBhvr>
                                        <p:cTn id="12" dur="500"/>
                                        <p:tgtEl>
                                          <p:spTgt spid="27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5">
                                            <p:txEl>
                                              <p:pRg st="4" end="4"/>
                                            </p:txEl>
                                          </p:spTgt>
                                        </p:tgtEl>
                                        <p:attrNameLst>
                                          <p:attrName>style.visibility</p:attrName>
                                        </p:attrNameLst>
                                      </p:cBhvr>
                                      <p:to>
                                        <p:strVal val="visible"/>
                                      </p:to>
                                    </p:set>
                                    <p:animEffect transition="in" filter="fade">
                                      <p:cBhvr>
                                        <p:cTn id="17" dur="500"/>
                                        <p:tgtEl>
                                          <p:spTgt spid="27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5">
                                            <p:txEl>
                                              <p:pRg st="6" end="6"/>
                                            </p:txEl>
                                          </p:spTgt>
                                        </p:tgtEl>
                                        <p:attrNameLst>
                                          <p:attrName>style.visibility</p:attrName>
                                        </p:attrNameLst>
                                      </p:cBhvr>
                                      <p:to>
                                        <p:strVal val="visible"/>
                                      </p:to>
                                    </p:set>
                                    <p:animEffect transition="in" filter="fade">
                                      <p:cBhvr>
                                        <p:cTn id="22" dur="500"/>
                                        <p:tgtEl>
                                          <p:spTgt spid="2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grpSp>
        <p:nvGrpSpPr>
          <p:cNvPr id="282" name="Google Shape;282;p25"/>
          <p:cNvGrpSpPr/>
          <p:nvPr/>
        </p:nvGrpSpPr>
        <p:grpSpPr>
          <a:xfrm>
            <a:off x="428857" y="485286"/>
            <a:ext cx="6086243" cy="565433"/>
            <a:chOff x="801127" y="403254"/>
            <a:chExt cx="4331352" cy="565433"/>
          </a:xfrm>
        </p:grpSpPr>
        <p:sp>
          <p:nvSpPr>
            <p:cNvPr id="283" name="Google Shape;283;p25"/>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284" name="Google Shape;284;p25"/>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Benefits of volunteering</a:t>
              </a:r>
              <a:endParaRPr sz="1800">
                <a:solidFill>
                  <a:srgbClr val="FFFFFF"/>
                </a:solidFill>
                <a:latin typeface="Open Sans SemiBold"/>
                <a:ea typeface="Open Sans SemiBold"/>
                <a:cs typeface="Open Sans SemiBold"/>
                <a:sym typeface="Open Sans SemiBold"/>
              </a:endParaRPr>
            </a:p>
          </p:txBody>
        </p:sp>
      </p:grpSp>
      <p:sp>
        <p:nvSpPr>
          <p:cNvPr id="285" name="Google Shape;285;p25"/>
          <p:cNvSpPr txBox="1"/>
          <p:nvPr/>
        </p:nvSpPr>
        <p:spPr>
          <a:xfrm>
            <a:off x="152400" y="1842102"/>
            <a:ext cx="5943600" cy="2862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dirty="0" err="1">
                <a:solidFill>
                  <a:schemeClr val="dk1"/>
                </a:solidFill>
                <a:latin typeface="Calibri"/>
                <a:ea typeface="Calibri"/>
                <a:cs typeface="Calibri"/>
                <a:sym typeface="Calibri"/>
              </a:rPr>
              <a:t>Learn</a:t>
            </a:r>
            <a:r>
              <a:rPr lang="fr-FR" sz="1800" b="1" dirty="0">
                <a:solidFill>
                  <a:schemeClr val="dk1"/>
                </a:solidFill>
                <a:latin typeface="Calibri"/>
                <a:ea typeface="Calibri"/>
                <a:cs typeface="Calibri"/>
                <a:sym typeface="Calibri"/>
              </a:rPr>
              <a:t> new </a:t>
            </a:r>
            <a:r>
              <a:rPr lang="fr-FR" sz="1800" b="1" dirty="0" err="1">
                <a:solidFill>
                  <a:schemeClr val="dk1"/>
                </a:solidFill>
                <a:latin typeface="Calibri"/>
                <a:ea typeface="Calibri"/>
                <a:cs typeface="Calibri"/>
                <a:sym typeface="Calibri"/>
              </a:rPr>
              <a:t>skills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Volunteering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can</a:t>
            </a:r>
            <a:r>
              <a:rPr lang="fr-FR" sz="1800" dirty="0">
                <a:solidFill>
                  <a:schemeClr val="dk1"/>
                </a:solidFill>
                <a:latin typeface="Calibri"/>
                <a:ea typeface="Calibri"/>
                <a:cs typeface="Calibri"/>
                <a:sym typeface="Calibri"/>
              </a:rPr>
              <a:t> help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learn</a:t>
            </a:r>
            <a:r>
              <a:rPr lang="fr-FR" sz="1800" dirty="0">
                <a:solidFill>
                  <a:schemeClr val="dk1"/>
                </a:solidFill>
                <a:latin typeface="Calibri"/>
                <a:ea typeface="Calibri"/>
                <a:cs typeface="Calibri"/>
                <a:sym typeface="Calibri"/>
              </a:rPr>
              <a:t> new </a:t>
            </a:r>
            <a:r>
              <a:rPr lang="fr-FR" sz="1800" dirty="0" err="1">
                <a:solidFill>
                  <a:schemeClr val="dk1"/>
                </a:solidFill>
                <a:latin typeface="Calibri"/>
                <a:ea typeface="Calibri"/>
                <a:cs typeface="Calibri"/>
                <a:sym typeface="Calibri"/>
              </a:rPr>
              <a:t>skills</a:t>
            </a:r>
            <a:r>
              <a:rPr lang="fr-FR" sz="1800" dirty="0">
                <a:solidFill>
                  <a:schemeClr val="dk1"/>
                </a:solidFill>
                <a:latin typeface="Calibri"/>
                <a:ea typeface="Calibri"/>
                <a:cs typeface="Calibri"/>
                <a:sym typeface="Calibri"/>
              </a:rPr>
              <a:t>, gain </a:t>
            </a:r>
            <a:r>
              <a:rPr lang="fr-FR" sz="1800" dirty="0" err="1">
                <a:solidFill>
                  <a:schemeClr val="dk1"/>
                </a:solidFill>
                <a:latin typeface="Calibri"/>
                <a:ea typeface="Calibri"/>
                <a:cs typeface="Calibri"/>
                <a:sym typeface="Calibri"/>
              </a:rPr>
              <a:t>experience</a:t>
            </a:r>
            <a:r>
              <a:rPr lang="fr-FR" sz="1800" dirty="0">
                <a:solidFill>
                  <a:schemeClr val="dk1"/>
                </a:solidFill>
                <a:latin typeface="Calibri"/>
                <a:ea typeface="Calibri"/>
                <a:cs typeface="Calibri"/>
                <a:sym typeface="Calibri"/>
              </a:rPr>
              <a:t> and </a:t>
            </a:r>
            <a:r>
              <a:rPr lang="fr-FR" sz="1800" dirty="0" err="1">
                <a:solidFill>
                  <a:schemeClr val="dk1"/>
                </a:solidFill>
                <a:latin typeface="Calibri"/>
                <a:ea typeface="Calibri"/>
                <a:cs typeface="Calibri"/>
                <a:sym typeface="Calibri"/>
              </a:rPr>
              <a:t>sometimes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even</a:t>
            </a:r>
            <a:r>
              <a:rPr lang="fr-FR" sz="1800" dirty="0">
                <a:solidFill>
                  <a:schemeClr val="dk1"/>
                </a:solidFill>
                <a:latin typeface="Calibri"/>
                <a:ea typeface="Calibri"/>
                <a:cs typeface="Calibri"/>
                <a:sym typeface="Calibri"/>
              </a:rPr>
              <a:t> qualifications.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dirty="0" err="1">
                <a:solidFill>
                  <a:schemeClr val="dk1"/>
                </a:solidFill>
                <a:latin typeface="Calibri"/>
                <a:ea typeface="Calibri"/>
                <a:cs typeface="Calibri"/>
                <a:sym typeface="Calibri"/>
              </a:rPr>
              <a:t>Take</a:t>
            </a:r>
            <a:r>
              <a:rPr lang="fr-FR" sz="1800" b="1" dirty="0">
                <a:solidFill>
                  <a:schemeClr val="dk1"/>
                </a:solidFill>
                <a:latin typeface="Calibri"/>
                <a:ea typeface="Calibri"/>
                <a:cs typeface="Calibri"/>
                <a:sym typeface="Calibri"/>
              </a:rPr>
              <a:t> on a challenge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Through</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volunteering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can</a:t>
            </a:r>
            <a:r>
              <a:rPr lang="fr-FR" sz="1800" dirty="0">
                <a:solidFill>
                  <a:schemeClr val="dk1"/>
                </a:solidFill>
                <a:latin typeface="Calibri"/>
                <a:ea typeface="Calibri"/>
                <a:cs typeface="Calibri"/>
                <a:sym typeface="Calibri"/>
              </a:rPr>
              <a:t> challenge </a:t>
            </a:r>
            <a:r>
              <a:rPr lang="fr-FR" sz="1800" dirty="0" err="1">
                <a:solidFill>
                  <a:schemeClr val="dk1"/>
                </a:solidFill>
                <a:latin typeface="Calibri"/>
                <a:ea typeface="Calibri"/>
                <a:cs typeface="Calibri"/>
                <a:sym typeface="Calibri"/>
              </a:rPr>
              <a:t>yourself</a:t>
            </a:r>
            <a:r>
              <a:rPr lang="fr-FR" sz="1800" dirty="0">
                <a:solidFill>
                  <a:schemeClr val="dk1"/>
                </a:solidFill>
                <a:latin typeface="Calibri"/>
                <a:ea typeface="Calibri"/>
                <a:cs typeface="Calibri"/>
                <a:sym typeface="Calibri"/>
              </a:rPr>
              <a:t> to </a:t>
            </a:r>
            <a:r>
              <a:rPr lang="fr-FR" sz="1800" dirty="0" err="1">
                <a:solidFill>
                  <a:schemeClr val="dk1"/>
                </a:solidFill>
                <a:latin typeface="Calibri"/>
                <a:ea typeface="Calibri"/>
                <a:cs typeface="Calibri"/>
                <a:sym typeface="Calibri"/>
              </a:rPr>
              <a:t>try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something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different</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achieve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personal</a:t>
            </a:r>
            <a:r>
              <a:rPr lang="fr-FR" sz="1800" dirty="0">
                <a:solidFill>
                  <a:schemeClr val="dk1"/>
                </a:solidFill>
                <a:latin typeface="Calibri"/>
                <a:ea typeface="Calibri"/>
                <a:cs typeface="Calibri"/>
                <a:sym typeface="Calibri"/>
              </a:rPr>
              <a:t> goals, practice </a:t>
            </a:r>
            <a:r>
              <a:rPr lang="fr-FR" sz="1800" dirty="0" err="1">
                <a:solidFill>
                  <a:schemeClr val="dk1"/>
                </a:solidFill>
                <a:latin typeface="Calibri"/>
                <a:ea typeface="Calibri"/>
                <a:cs typeface="Calibri"/>
                <a:sym typeface="Calibri"/>
              </a:rPr>
              <a:t>using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skills</a:t>
            </a:r>
            <a:r>
              <a:rPr lang="fr-FR" sz="1800" dirty="0">
                <a:solidFill>
                  <a:schemeClr val="dk1"/>
                </a:solidFill>
                <a:latin typeface="Calibri"/>
                <a:ea typeface="Calibri"/>
                <a:cs typeface="Calibri"/>
                <a:sym typeface="Calibri"/>
              </a:rPr>
              <a:t> and </a:t>
            </a:r>
            <a:r>
              <a:rPr lang="fr-FR" sz="1800" dirty="0" err="1">
                <a:solidFill>
                  <a:schemeClr val="dk1"/>
                </a:solidFill>
                <a:latin typeface="Calibri"/>
                <a:ea typeface="Calibri"/>
                <a:cs typeface="Calibri"/>
                <a:sym typeface="Calibri"/>
              </a:rPr>
              <a:t>discover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hidden</a:t>
            </a:r>
            <a:r>
              <a:rPr lang="fr-FR" sz="1800" dirty="0">
                <a:solidFill>
                  <a:schemeClr val="dk1"/>
                </a:solidFill>
                <a:latin typeface="Calibri"/>
                <a:ea typeface="Calibri"/>
                <a:cs typeface="Calibri"/>
                <a:sym typeface="Calibri"/>
              </a:rPr>
              <a:t> talents.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dirty="0">
                <a:solidFill>
                  <a:schemeClr val="dk1"/>
                </a:solidFill>
                <a:latin typeface="Calibri"/>
                <a:ea typeface="Calibri"/>
                <a:cs typeface="Calibri"/>
                <a:sym typeface="Calibri"/>
              </a:rPr>
              <a:t>Have fun!</a:t>
            </a:r>
            <a:r>
              <a:rPr lang="fr-FR" sz="1800" dirty="0">
                <a:solidFill>
                  <a:schemeClr val="dk1"/>
                </a:solidFill>
                <a:latin typeface="Calibri"/>
                <a:ea typeface="Calibri"/>
                <a:cs typeface="Calibri"/>
                <a:sym typeface="Calibri"/>
              </a:rPr>
              <a:t> Most </a:t>
            </a:r>
            <a:r>
              <a:rPr lang="fr-FR" sz="1800" dirty="0" err="1">
                <a:solidFill>
                  <a:schemeClr val="dk1"/>
                </a:solidFill>
                <a:latin typeface="Calibri"/>
                <a:ea typeface="Calibri"/>
                <a:cs typeface="Calibri"/>
                <a:sym typeface="Calibri"/>
              </a:rPr>
              <a:t>volunteers</a:t>
            </a:r>
            <a:r>
              <a:rPr lang="fr-FR" sz="1800" dirty="0">
                <a:solidFill>
                  <a:schemeClr val="dk1"/>
                </a:solidFill>
                <a:latin typeface="Calibri"/>
                <a:ea typeface="Calibri"/>
                <a:cs typeface="Calibri"/>
                <a:sym typeface="Calibri"/>
              </a:rPr>
              <a:t> have a </a:t>
            </a:r>
            <a:r>
              <a:rPr lang="fr-FR" sz="1800" dirty="0" err="1">
                <a:solidFill>
                  <a:schemeClr val="dk1"/>
                </a:solidFill>
                <a:latin typeface="Calibri"/>
                <a:ea typeface="Calibri"/>
                <a:cs typeface="Calibri"/>
                <a:sym typeface="Calibri"/>
              </a:rPr>
              <a:t>great</a:t>
            </a:r>
            <a:r>
              <a:rPr lang="fr-FR" sz="1800" dirty="0">
                <a:solidFill>
                  <a:schemeClr val="dk1"/>
                </a:solidFill>
                <a:latin typeface="Calibri"/>
                <a:ea typeface="Calibri"/>
                <a:cs typeface="Calibri"/>
                <a:sym typeface="Calibri"/>
              </a:rPr>
              <a:t> time, </a:t>
            </a:r>
            <a:r>
              <a:rPr lang="fr-FR" sz="1800" dirty="0" err="1">
                <a:solidFill>
                  <a:schemeClr val="dk1"/>
                </a:solidFill>
                <a:latin typeface="Calibri"/>
                <a:ea typeface="Calibri"/>
                <a:cs typeface="Calibri"/>
                <a:sym typeface="Calibri"/>
              </a:rPr>
              <a:t>regardless</a:t>
            </a:r>
            <a:r>
              <a:rPr lang="fr-FR" sz="1800" dirty="0">
                <a:solidFill>
                  <a:schemeClr val="dk1"/>
                </a:solidFill>
                <a:latin typeface="Calibri"/>
                <a:ea typeface="Calibri"/>
                <a:cs typeface="Calibri"/>
                <a:sym typeface="Calibri"/>
              </a:rPr>
              <a:t> of </a:t>
            </a:r>
            <a:r>
              <a:rPr lang="fr-FR" sz="1800" dirty="0" err="1">
                <a:solidFill>
                  <a:schemeClr val="dk1"/>
                </a:solidFill>
                <a:latin typeface="Calibri"/>
                <a:ea typeface="Calibri"/>
                <a:cs typeface="Calibri"/>
                <a:sym typeface="Calibri"/>
              </a:rPr>
              <a:t>why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they</a:t>
            </a:r>
            <a:r>
              <a:rPr lang="fr-FR" sz="1800" dirty="0">
                <a:solidFill>
                  <a:schemeClr val="dk1"/>
                </a:solidFill>
                <a:latin typeface="Calibri"/>
                <a:ea typeface="Calibri"/>
                <a:cs typeface="Calibri"/>
                <a:sym typeface="Calibri"/>
              </a:rPr>
              <a:t> do </a:t>
            </a:r>
            <a:r>
              <a:rPr lang="fr-FR" sz="1800" dirty="0" err="1">
                <a:solidFill>
                  <a:schemeClr val="dk1"/>
                </a:solidFill>
                <a:latin typeface="Calibri"/>
                <a:ea typeface="Calibri"/>
                <a:cs typeface="Calibri"/>
                <a:sym typeface="Calibri"/>
              </a:rPr>
              <a:t>it</a:t>
            </a:r>
            <a:r>
              <a:rPr lang="fr-FR"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286" name="Google Shape;286;p25"/>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5">
                                            <p:txEl>
                                              <p:pRg st="0" end="0"/>
                                            </p:txEl>
                                          </p:spTgt>
                                        </p:tgtEl>
                                        <p:attrNameLst>
                                          <p:attrName>style.visibility</p:attrName>
                                        </p:attrNameLst>
                                      </p:cBhvr>
                                      <p:to>
                                        <p:strVal val="visible"/>
                                      </p:to>
                                    </p:set>
                                    <p:animEffect transition="in" filter="fade">
                                      <p:cBhvr>
                                        <p:cTn id="7" dur="500"/>
                                        <p:tgtEl>
                                          <p:spTgt spid="2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5">
                                            <p:txEl>
                                              <p:pRg st="1" end="1"/>
                                            </p:txEl>
                                          </p:spTgt>
                                        </p:tgtEl>
                                        <p:attrNameLst>
                                          <p:attrName>style.visibility</p:attrName>
                                        </p:attrNameLst>
                                      </p:cBhvr>
                                      <p:to>
                                        <p:strVal val="visible"/>
                                      </p:to>
                                    </p:set>
                                    <p:animEffect transition="in" filter="fade">
                                      <p:cBhvr>
                                        <p:cTn id="12" dur="500"/>
                                        <p:tgtEl>
                                          <p:spTgt spid="2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5">
                                            <p:txEl>
                                              <p:pRg st="2" end="2"/>
                                            </p:txEl>
                                          </p:spTgt>
                                        </p:tgtEl>
                                        <p:attrNameLst>
                                          <p:attrName>style.visibility</p:attrName>
                                        </p:attrNameLst>
                                      </p:cBhvr>
                                      <p:to>
                                        <p:strVal val="visible"/>
                                      </p:to>
                                    </p:set>
                                    <p:animEffect transition="in" filter="fade">
                                      <p:cBhvr>
                                        <p:cTn id="17" dur="500"/>
                                        <p:tgtEl>
                                          <p:spTgt spid="2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5">
                                            <p:txEl>
                                              <p:pRg st="3" end="3"/>
                                            </p:txEl>
                                          </p:spTgt>
                                        </p:tgtEl>
                                        <p:attrNameLst>
                                          <p:attrName>style.visibility</p:attrName>
                                        </p:attrNameLst>
                                      </p:cBhvr>
                                      <p:to>
                                        <p:strVal val="visible"/>
                                      </p:to>
                                    </p:set>
                                    <p:animEffect transition="in" filter="fade">
                                      <p:cBhvr>
                                        <p:cTn id="22" dur="500"/>
                                        <p:tgtEl>
                                          <p:spTgt spid="2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5">
                                            <p:txEl>
                                              <p:pRg st="4" end="4"/>
                                            </p:txEl>
                                          </p:spTgt>
                                        </p:tgtEl>
                                        <p:attrNameLst>
                                          <p:attrName>style.visibility</p:attrName>
                                        </p:attrNameLst>
                                      </p:cBhvr>
                                      <p:to>
                                        <p:strVal val="visible"/>
                                      </p:to>
                                    </p:set>
                                    <p:animEffect transition="in" filter="fade">
                                      <p:cBhvr>
                                        <p:cTn id="27" dur="500"/>
                                        <p:tgtEl>
                                          <p:spTgt spid="28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5">
                                            <p:txEl>
                                              <p:pRg st="5" end="5"/>
                                            </p:txEl>
                                          </p:spTgt>
                                        </p:tgtEl>
                                        <p:attrNameLst>
                                          <p:attrName>style.visibility</p:attrName>
                                        </p:attrNameLst>
                                      </p:cBhvr>
                                      <p:to>
                                        <p:strVal val="visible"/>
                                      </p:to>
                                    </p:set>
                                    <p:animEffect transition="in" filter="fade">
                                      <p:cBhvr>
                                        <p:cTn id="32" dur="500"/>
                                        <p:tgtEl>
                                          <p:spTgt spid="28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26" descr="bov_image003 (1).jpg"/>
          <p:cNvPicPr preferRelativeResize="0"/>
          <p:nvPr/>
        </p:nvPicPr>
        <p:blipFill rotWithShape="1">
          <a:blip r:embed="rId3">
            <a:alphaModFix/>
          </a:blip>
          <a:srcRect l="-72459" r="-72459"/>
          <a:stretch/>
        </p:blipFill>
        <p:spPr>
          <a:xfrm>
            <a:off x="-1279466" y="0"/>
            <a:ext cx="11702932" cy="685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animEffect transition="in" filter="fade">
                                      <p:cBhvr>
                                        <p:cTn id="7" dur="500"/>
                                        <p:tgtEl>
                                          <p:spTgt spid="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grpSp>
        <p:nvGrpSpPr>
          <p:cNvPr id="298" name="Google Shape;298;p27"/>
          <p:cNvGrpSpPr/>
          <p:nvPr/>
        </p:nvGrpSpPr>
        <p:grpSpPr>
          <a:xfrm>
            <a:off x="428857" y="485286"/>
            <a:ext cx="6086243" cy="750077"/>
            <a:chOff x="801127" y="403254"/>
            <a:chExt cx="4331352" cy="750077"/>
          </a:xfrm>
        </p:grpSpPr>
        <p:sp>
          <p:nvSpPr>
            <p:cNvPr id="299" name="Google Shape;299;p27"/>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300" name="Google Shape;300;p27"/>
            <p:cNvSpPr/>
            <p:nvPr/>
          </p:nvSpPr>
          <p:spPr>
            <a:xfrm>
              <a:off x="1105964" y="438242"/>
              <a:ext cx="2457450" cy="715089"/>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Statistics</a:t>
              </a:r>
              <a:br>
                <a:rPr lang="fr-FR" sz="1800">
                  <a:solidFill>
                    <a:srgbClr val="FFFFFF"/>
                  </a:solidFill>
                  <a:latin typeface="Open Sans SemiBold"/>
                  <a:ea typeface="Open Sans SemiBold"/>
                  <a:cs typeface="Open Sans SemiBold"/>
                  <a:sym typeface="Open Sans SemiBold"/>
                </a:rPr>
              </a:br>
              <a:endParaRPr sz="1800">
                <a:solidFill>
                  <a:srgbClr val="FFFFFF"/>
                </a:solidFill>
                <a:latin typeface="Open Sans SemiBold"/>
                <a:ea typeface="Open Sans SemiBold"/>
                <a:cs typeface="Open Sans SemiBold"/>
                <a:sym typeface="Open Sans SemiBold"/>
              </a:endParaRPr>
            </a:p>
          </p:txBody>
        </p:sp>
      </p:grpSp>
      <p:sp>
        <p:nvSpPr>
          <p:cNvPr id="301" name="Google Shape;301;p27"/>
          <p:cNvSpPr txBox="1"/>
          <p:nvPr/>
        </p:nvSpPr>
        <p:spPr>
          <a:xfrm>
            <a:off x="152400" y="1524000"/>
            <a:ext cx="5943600" cy="480131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Women volunteer at higher rates (27.8%) than men (21.8%).</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People aged 35-44 and 45-54 are most likely to volunteer (28.9% and 28% respectively) while 20-24 year olds have the lowest rates (18.4%).</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On average, people spend an average of 52 hours per year volunteering their time.</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72% of volunteers are involved with only one organization, while 18.3% are involved with two.</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The top four volunteer areas are for religious (34.1%), educational (26%), social service (14.9%), and health (7.3%) organizations.</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pic>
        <p:nvPicPr>
          <p:cNvPr id="302" name="Google Shape;302;p27"/>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1">
                                            <p:txEl>
                                              <p:pRg st="0" end="0"/>
                                            </p:txEl>
                                          </p:spTgt>
                                        </p:tgtEl>
                                        <p:attrNameLst>
                                          <p:attrName>style.visibility</p:attrName>
                                        </p:attrNameLst>
                                      </p:cBhvr>
                                      <p:to>
                                        <p:strVal val="visible"/>
                                      </p:to>
                                    </p:set>
                                    <p:animEffect transition="in" filter="fade">
                                      <p:cBhvr>
                                        <p:cTn id="7" dur="500"/>
                                        <p:tgtEl>
                                          <p:spTgt spid="3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1">
                                            <p:txEl>
                                              <p:pRg st="1" end="1"/>
                                            </p:txEl>
                                          </p:spTgt>
                                        </p:tgtEl>
                                        <p:attrNameLst>
                                          <p:attrName>style.visibility</p:attrName>
                                        </p:attrNameLst>
                                      </p:cBhvr>
                                      <p:to>
                                        <p:strVal val="visible"/>
                                      </p:to>
                                    </p:set>
                                    <p:animEffect transition="in" filter="fade">
                                      <p:cBhvr>
                                        <p:cTn id="12" dur="500"/>
                                        <p:tgtEl>
                                          <p:spTgt spid="30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1">
                                            <p:txEl>
                                              <p:pRg st="2" end="2"/>
                                            </p:txEl>
                                          </p:spTgt>
                                        </p:tgtEl>
                                        <p:attrNameLst>
                                          <p:attrName>style.visibility</p:attrName>
                                        </p:attrNameLst>
                                      </p:cBhvr>
                                      <p:to>
                                        <p:strVal val="visible"/>
                                      </p:to>
                                    </p:set>
                                    <p:animEffect transition="in" filter="fade">
                                      <p:cBhvr>
                                        <p:cTn id="17" dur="500"/>
                                        <p:tgtEl>
                                          <p:spTgt spid="30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1">
                                            <p:txEl>
                                              <p:pRg st="3" end="3"/>
                                            </p:txEl>
                                          </p:spTgt>
                                        </p:tgtEl>
                                        <p:attrNameLst>
                                          <p:attrName>style.visibility</p:attrName>
                                        </p:attrNameLst>
                                      </p:cBhvr>
                                      <p:to>
                                        <p:strVal val="visible"/>
                                      </p:to>
                                    </p:set>
                                    <p:animEffect transition="in" filter="fade">
                                      <p:cBhvr>
                                        <p:cTn id="22" dur="500"/>
                                        <p:tgtEl>
                                          <p:spTgt spid="30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1">
                                            <p:txEl>
                                              <p:pRg st="4" end="4"/>
                                            </p:txEl>
                                          </p:spTgt>
                                        </p:tgtEl>
                                        <p:attrNameLst>
                                          <p:attrName>style.visibility</p:attrName>
                                        </p:attrNameLst>
                                      </p:cBhvr>
                                      <p:to>
                                        <p:strVal val="visible"/>
                                      </p:to>
                                    </p:set>
                                    <p:animEffect transition="in" filter="fade">
                                      <p:cBhvr>
                                        <p:cTn id="27" dur="500"/>
                                        <p:tgtEl>
                                          <p:spTgt spid="30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1">
                                            <p:txEl>
                                              <p:pRg st="5" end="5"/>
                                            </p:txEl>
                                          </p:spTgt>
                                        </p:tgtEl>
                                        <p:attrNameLst>
                                          <p:attrName>style.visibility</p:attrName>
                                        </p:attrNameLst>
                                      </p:cBhvr>
                                      <p:to>
                                        <p:strVal val="visible"/>
                                      </p:to>
                                    </p:set>
                                    <p:animEffect transition="in" filter="fade">
                                      <p:cBhvr>
                                        <p:cTn id="32" dur="500"/>
                                        <p:tgtEl>
                                          <p:spTgt spid="30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1">
                                            <p:txEl>
                                              <p:pRg st="6" end="6"/>
                                            </p:txEl>
                                          </p:spTgt>
                                        </p:tgtEl>
                                        <p:attrNameLst>
                                          <p:attrName>style.visibility</p:attrName>
                                        </p:attrNameLst>
                                      </p:cBhvr>
                                      <p:to>
                                        <p:strVal val="visible"/>
                                      </p:to>
                                    </p:set>
                                    <p:animEffect transition="in" filter="fade">
                                      <p:cBhvr>
                                        <p:cTn id="37" dur="500"/>
                                        <p:tgtEl>
                                          <p:spTgt spid="30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1">
                                            <p:txEl>
                                              <p:pRg st="7" end="7"/>
                                            </p:txEl>
                                          </p:spTgt>
                                        </p:tgtEl>
                                        <p:attrNameLst>
                                          <p:attrName>style.visibility</p:attrName>
                                        </p:attrNameLst>
                                      </p:cBhvr>
                                      <p:to>
                                        <p:strVal val="visible"/>
                                      </p:to>
                                    </p:set>
                                    <p:animEffect transition="in" filter="fade">
                                      <p:cBhvr>
                                        <p:cTn id="42" dur="500"/>
                                        <p:tgtEl>
                                          <p:spTgt spid="30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1">
                                            <p:txEl>
                                              <p:pRg st="8" end="8"/>
                                            </p:txEl>
                                          </p:spTgt>
                                        </p:tgtEl>
                                        <p:attrNameLst>
                                          <p:attrName>style.visibility</p:attrName>
                                        </p:attrNameLst>
                                      </p:cBhvr>
                                      <p:to>
                                        <p:strVal val="visible"/>
                                      </p:to>
                                    </p:set>
                                    <p:animEffect transition="in" filter="fade">
                                      <p:cBhvr>
                                        <p:cTn id="47" dur="500"/>
                                        <p:tgtEl>
                                          <p:spTgt spid="30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1">
                                            <p:txEl>
                                              <p:pRg st="9" end="9"/>
                                            </p:txEl>
                                          </p:spTgt>
                                        </p:tgtEl>
                                        <p:attrNameLst>
                                          <p:attrName>style.visibility</p:attrName>
                                        </p:attrNameLst>
                                      </p:cBhvr>
                                      <p:to>
                                        <p:strVal val="visible"/>
                                      </p:to>
                                    </p:set>
                                    <p:animEffect transition="in" filter="fade">
                                      <p:cBhvr>
                                        <p:cTn id="52" dur="500"/>
                                        <p:tgtEl>
                                          <p:spTgt spid="30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grpSp>
        <p:nvGrpSpPr>
          <p:cNvPr id="308" name="Google Shape;308;p28"/>
          <p:cNvGrpSpPr/>
          <p:nvPr/>
        </p:nvGrpSpPr>
        <p:grpSpPr>
          <a:xfrm>
            <a:off x="428857" y="485286"/>
            <a:ext cx="6086243" cy="886314"/>
            <a:chOff x="801127" y="403254"/>
            <a:chExt cx="4331352" cy="565433"/>
          </a:xfrm>
        </p:grpSpPr>
        <p:sp>
          <p:nvSpPr>
            <p:cNvPr id="309" name="Google Shape;309;p28"/>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310" name="Google Shape;310;p28"/>
            <p:cNvSpPr/>
            <p:nvPr/>
          </p:nvSpPr>
          <p:spPr>
            <a:xfrm>
              <a:off x="1105964" y="479186"/>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Volunteer rights and responsibilities </a:t>
              </a:r>
              <a:endParaRPr sz="1800">
                <a:solidFill>
                  <a:srgbClr val="FFFFFF"/>
                </a:solidFill>
                <a:latin typeface="Open Sans SemiBold"/>
                <a:ea typeface="Open Sans SemiBold"/>
                <a:cs typeface="Open Sans SemiBold"/>
                <a:sym typeface="Open Sans SemiBold"/>
              </a:endParaRPr>
            </a:p>
          </p:txBody>
        </p:sp>
      </p:grpSp>
      <p:sp>
        <p:nvSpPr>
          <p:cNvPr id="311" name="Google Shape;311;p28"/>
          <p:cNvSpPr txBox="1"/>
          <p:nvPr/>
        </p:nvSpPr>
        <p:spPr>
          <a:xfrm>
            <a:off x="885531" y="1696060"/>
            <a:ext cx="3329279" cy="3877985"/>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fr-FR" sz="1800" b="1" dirty="0" err="1">
                <a:solidFill>
                  <a:schemeClr val="dk2"/>
                </a:solidFill>
                <a:latin typeface="Calibri"/>
                <a:ea typeface="Calibri"/>
                <a:cs typeface="Calibri"/>
                <a:sym typeface="Calibri"/>
              </a:rPr>
              <a:t>Volunteer</a:t>
            </a:r>
            <a:r>
              <a:rPr lang="fr-FR" sz="1800" b="1" dirty="0">
                <a:solidFill>
                  <a:schemeClr val="dk2"/>
                </a:solidFill>
                <a:latin typeface="Calibri"/>
                <a:ea typeface="Calibri"/>
                <a:cs typeface="Calibri"/>
                <a:sym typeface="Calibri"/>
              </a:rPr>
              <a:t> </a:t>
            </a:r>
            <a:r>
              <a:rPr lang="fr-FR" sz="1800" b="1" dirty="0" err="1">
                <a:solidFill>
                  <a:schemeClr val="dk2"/>
                </a:solidFill>
                <a:latin typeface="Calibri"/>
                <a:ea typeface="Calibri"/>
                <a:cs typeface="Calibri"/>
                <a:sym typeface="Calibri"/>
              </a:rPr>
              <a:t>Rights</a:t>
            </a:r>
            <a:r>
              <a:rPr lang="fr-FR" sz="1800" b="1" dirty="0">
                <a:solidFill>
                  <a:schemeClr val="dk2"/>
                </a:solidFill>
                <a:latin typeface="Calibri"/>
                <a:ea typeface="Calibri"/>
                <a:cs typeface="Calibri"/>
                <a:sym typeface="Calibri"/>
              </a:rPr>
              <a:t>:</a:t>
            </a:r>
            <a:endParaRPr sz="1800" b="1" dirty="0">
              <a:solidFill>
                <a:schemeClr val="dk2"/>
              </a:solidFill>
              <a:latin typeface="Calibri"/>
              <a:ea typeface="Calibri"/>
              <a:cs typeface="Calibri"/>
              <a:sym typeface="Calibri"/>
            </a:endParaRPr>
          </a:p>
          <a:p>
            <a:pPr marL="114300" marR="0" lvl="0" indent="0" algn="l" rtl="0">
              <a:spcBef>
                <a:spcPts val="0"/>
              </a:spcBef>
              <a:spcAft>
                <a:spcPts val="0"/>
              </a:spcAft>
              <a:buNone/>
            </a:pPr>
            <a:endParaRPr sz="1600" dirty="0">
              <a:solidFill>
                <a:srgbClr val="000000"/>
              </a:solidFill>
              <a:latin typeface="Calibri"/>
              <a:ea typeface="Calibri"/>
              <a:cs typeface="Calibri"/>
              <a:sym typeface="Calibri"/>
            </a:endParaRPr>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have a </a:t>
            </a:r>
            <a:r>
              <a:rPr lang="fr-FR" sz="1600" dirty="0" err="1">
                <a:solidFill>
                  <a:schemeClr val="dk1"/>
                </a:solidFill>
                <a:latin typeface="Calibri"/>
                <a:ea typeface="Calibri"/>
                <a:cs typeface="Calibri"/>
                <a:sym typeface="Calibri"/>
              </a:rPr>
              <a:t>healthy</a:t>
            </a:r>
            <a:r>
              <a:rPr lang="fr-FR" sz="1600" dirty="0">
                <a:solidFill>
                  <a:schemeClr val="dk1"/>
                </a:solidFill>
                <a:latin typeface="Calibri"/>
                <a:ea typeface="Calibri"/>
                <a:cs typeface="Calibri"/>
                <a:sym typeface="Calibri"/>
              </a:rPr>
              <a:t> and </a:t>
            </a:r>
            <a:r>
              <a:rPr lang="fr-FR" sz="1600" dirty="0" err="1">
                <a:solidFill>
                  <a:schemeClr val="dk1"/>
                </a:solidFill>
                <a:latin typeface="Calibri"/>
                <a:ea typeface="Calibri"/>
                <a:cs typeface="Calibri"/>
                <a:sym typeface="Calibri"/>
              </a:rPr>
              <a:t>safe</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environment</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a:t>
            </a:r>
            <a:r>
              <a:rPr lang="fr-FR" sz="1600" dirty="0" err="1">
                <a:solidFill>
                  <a:schemeClr val="dk1"/>
                </a:solidFill>
                <a:latin typeface="Calibri"/>
                <a:ea typeface="Calibri"/>
                <a:cs typeface="Calibri"/>
                <a:sym typeface="Calibri"/>
              </a:rPr>
              <a:t>be</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covered</a:t>
            </a:r>
            <a:r>
              <a:rPr lang="fr-FR" sz="1600" dirty="0">
                <a:solidFill>
                  <a:schemeClr val="dk1"/>
                </a:solidFill>
                <a:latin typeface="Calibri"/>
                <a:ea typeface="Calibri"/>
                <a:cs typeface="Calibri"/>
                <a:sym typeface="Calibri"/>
              </a:rPr>
              <a:t> by </a:t>
            </a:r>
            <a:r>
              <a:rPr lang="fr-FR" sz="1600" dirty="0" err="1">
                <a:solidFill>
                  <a:schemeClr val="dk1"/>
                </a:solidFill>
                <a:latin typeface="Calibri"/>
                <a:ea typeface="Calibri"/>
                <a:cs typeface="Calibri"/>
                <a:sym typeface="Calibri"/>
              </a:rPr>
              <a:t>insurance</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have a position description and </a:t>
            </a:r>
            <a:r>
              <a:rPr lang="fr-FR" sz="1600" dirty="0" err="1">
                <a:solidFill>
                  <a:schemeClr val="dk1"/>
                </a:solidFill>
                <a:latin typeface="Calibri"/>
                <a:ea typeface="Calibri"/>
                <a:cs typeface="Calibri"/>
                <a:sym typeface="Calibri"/>
              </a:rPr>
              <a:t>agreed</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hours</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a:t>
            </a:r>
            <a:r>
              <a:rPr lang="fr-FR" sz="1600" dirty="0" err="1">
                <a:solidFill>
                  <a:schemeClr val="dk1"/>
                </a:solidFill>
                <a:latin typeface="Calibri"/>
                <a:ea typeface="Calibri"/>
                <a:cs typeface="Calibri"/>
                <a:sym typeface="Calibri"/>
              </a:rPr>
              <a:t>be</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provided</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with</a:t>
            </a:r>
            <a:r>
              <a:rPr lang="fr-FR" sz="1600" dirty="0">
                <a:solidFill>
                  <a:schemeClr val="dk1"/>
                </a:solidFill>
                <a:latin typeface="Calibri"/>
                <a:ea typeface="Calibri"/>
                <a:cs typeface="Calibri"/>
                <a:sym typeface="Calibri"/>
              </a:rPr>
              <a:t> orientation and training</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a:t>
            </a:r>
            <a:r>
              <a:rPr lang="fr-FR" sz="1600" dirty="0" err="1">
                <a:solidFill>
                  <a:schemeClr val="dk1"/>
                </a:solidFill>
                <a:latin typeface="Calibri"/>
                <a:ea typeface="Calibri"/>
                <a:cs typeface="Calibri"/>
                <a:sym typeface="Calibri"/>
              </a:rPr>
              <a:t>be</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interviewed</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with</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equal</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opportunity</a:t>
            </a:r>
            <a:endParaRPr dirty="0"/>
          </a:p>
          <a:p>
            <a:pPr marL="114300" marR="0" lvl="0" indent="0" algn="l" rtl="0">
              <a:spcBef>
                <a:spcPts val="0"/>
              </a:spcBef>
              <a:spcAft>
                <a:spcPts val="0"/>
              </a:spcAft>
              <a:buClr>
                <a:schemeClr val="dk1"/>
              </a:buClr>
              <a:buSzPts val="1600"/>
              <a:buFont typeface="Calibri"/>
              <a:buNone/>
            </a:pPr>
            <a:endParaRPr sz="1600" dirty="0">
              <a:solidFill>
                <a:schemeClr val="dk1"/>
              </a:solidFill>
              <a:latin typeface="Calibri"/>
              <a:ea typeface="Calibri"/>
              <a:cs typeface="Calibri"/>
              <a:sym typeface="Calibri"/>
            </a:endParaRPr>
          </a:p>
          <a:p>
            <a:pPr marL="114300" marR="0" lvl="0" indent="0" algn="l" rtl="0">
              <a:spcBef>
                <a:spcPts val="0"/>
              </a:spcBef>
              <a:spcAft>
                <a:spcPts val="0"/>
              </a:spcAft>
              <a:buNone/>
            </a:pPr>
            <a:endParaRPr sz="1400" dirty="0">
              <a:solidFill>
                <a:srgbClr val="000000"/>
              </a:solidFill>
              <a:latin typeface="Calibri"/>
              <a:ea typeface="Calibri"/>
              <a:cs typeface="Calibri"/>
              <a:sym typeface="Calibri"/>
            </a:endParaRPr>
          </a:p>
          <a:p>
            <a:pPr marL="114300" marR="0" lvl="0" indent="0" algn="l" rtl="0">
              <a:spcBef>
                <a:spcPts val="0"/>
              </a:spcBef>
              <a:spcAft>
                <a:spcPts val="0"/>
              </a:spcAft>
              <a:buNone/>
            </a:pPr>
            <a:endParaRPr sz="2000" dirty="0">
              <a:solidFill>
                <a:srgbClr val="000000"/>
              </a:solidFill>
              <a:latin typeface="Calibri"/>
              <a:ea typeface="Calibri"/>
              <a:cs typeface="Calibri"/>
              <a:sym typeface="Calibri"/>
            </a:endParaRPr>
          </a:p>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p:txBody>
      </p:sp>
      <p:sp>
        <p:nvSpPr>
          <p:cNvPr id="312" name="Google Shape;312;p28"/>
          <p:cNvSpPr txBox="1"/>
          <p:nvPr/>
        </p:nvSpPr>
        <p:spPr>
          <a:xfrm>
            <a:off x="4252467" y="1681115"/>
            <a:ext cx="3977133" cy="3631763"/>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None/>
            </a:pPr>
            <a:r>
              <a:rPr lang="fr-FR" sz="1800" b="1">
                <a:solidFill>
                  <a:schemeClr val="dk2"/>
                </a:solidFill>
                <a:latin typeface="Calibri"/>
                <a:ea typeface="Calibri"/>
                <a:cs typeface="Calibri"/>
                <a:sym typeface="Calibri"/>
              </a:rPr>
              <a:t>Volunteer Responsibilities: </a:t>
            </a:r>
            <a:endParaRPr sz="1800" b="1">
              <a:solidFill>
                <a:schemeClr val="dk2"/>
              </a:solidFill>
              <a:latin typeface="Calibri"/>
              <a:ea typeface="Calibri"/>
              <a:cs typeface="Calibri"/>
              <a:sym typeface="Calibri"/>
            </a:endParaRPr>
          </a:p>
          <a:p>
            <a:pPr marL="114300" marR="0" lvl="0" indent="0" algn="l" rtl="0">
              <a:spcBef>
                <a:spcPts val="0"/>
              </a:spcBef>
              <a:spcAft>
                <a:spcPts val="0"/>
              </a:spcAft>
              <a:buNone/>
            </a:pPr>
            <a:endParaRPr sz="1600">
              <a:solidFill>
                <a:srgbClr val="000000"/>
              </a:solidFill>
              <a:latin typeface="Calibri"/>
              <a:ea typeface="Calibri"/>
              <a:cs typeface="Calibri"/>
              <a:sym typeface="Calibri"/>
            </a:endParaRPr>
          </a:p>
          <a:p>
            <a:pPr marL="285750" marR="0" lvl="0" indent="-171450" algn="l" rtl="0">
              <a:spcBef>
                <a:spcPts val="0"/>
              </a:spcBef>
              <a:spcAft>
                <a:spcPts val="0"/>
              </a:spcAft>
              <a:buClr>
                <a:schemeClr val="dk1"/>
              </a:buClr>
              <a:buSzPts val="1600"/>
              <a:buFont typeface="Arial"/>
              <a:buChar char="•"/>
            </a:pPr>
            <a:r>
              <a:rPr lang="fr-FR" sz="1600">
                <a:solidFill>
                  <a:schemeClr val="dk1"/>
                </a:solidFill>
                <a:latin typeface="Calibri"/>
                <a:ea typeface="Calibri"/>
                <a:cs typeface="Calibri"/>
                <a:sym typeface="Calibri"/>
              </a:rPr>
              <a:t>To commit, be punctual and reliable</a:t>
            </a:r>
            <a:endParaRPr/>
          </a:p>
          <a:p>
            <a:pPr marL="285750" marR="0" lvl="0" indent="-171450" algn="l" rtl="0">
              <a:spcBef>
                <a:spcPts val="0"/>
              </a:spcBef>
              <a:spcAft>
                <a:spcPts val="0"/>
              </a:spcAft>
              <a:buClr>
                <a:schemeClr val="dk1"/>
              </a:buClr>
              <a:buSzPts val="1600"/>
              <a:buFont typeface="Arial"/>
              <a:buChar char="•"/>
            </a:pPr>
            <a:r>
              <a:rPr lang="fr-FR" sz="1600">
                <a:solidFill>
                  <a:schemeClr val="dk1"/>
                </a:solidFill>
                <a:latin typeface="Calibri"/>
                <a:ea typeface="Calibri"/>
                <a:cs typeface="Calibri"/>
                <a:sym typeface="Calibri"/>
              </a:rPr>
              <a:t>Notify  your supervisor if you can not attend </a:t>
            </a:r>
            <a:endParaRPr/>
          </a:p>
          <a:p>
            <a:pPr marL="285750" marR="0" lvl="0" indent="-171450" algn="l" rtl="0">
              <a:spcBef>
                <a:spcPts val="0"/>
              </a:spcBef>
              <a:spcAft>
                <a:spcPts val="0"/>
              </a:spcAft>
              <a:buClr>
                <a:schemeClr val="dk1"/>
              </a:buClr>
              <a:buSzPts val="1600"/>
              <a:buFont typeface="Arial"/>
              <a:buChar char="•"/>
            </a:pPr>
            <a:r>
              <a:rPr lang="fr-FR" sz="1600">
                <a:solidFill>
                  <a:schemeClr val="dk1"/>
                </a:solidFill>
                <a:latin typeface="Calibri"/>
                <a:ea typeface="Calibri"/>
                <a:cs typeface="Calibri"/>
                <a:sym typeface="Calibri"/>
              </a:rPr>
              <a:t>To do the duties as set out in the position description</a:t>
            </a:r>
            <a:endParaRPr/>
          </a:p>
          <a:p>
            <a:pPr marL="285750" marR="0" lvl="0" indent="-171450" algn="l" rtl="0">
              <a:spcBef>
                <a:spcPts val="0"/>
              </a:spcBef>
              <a:spcAft>
                <a:spcPts val="0"/>
              </a:spcAft>
              <a:buClr>
                <a:schemeClr val="dk1"/>
              </a:buClr>
              <a:buSzPts val="1600"/>
              <a:buFont typeface="Arial"/>
              <a:buChar char="•"/>
            </a:pPr>
            <a:r>
              <a:rPr lang="fr-FR" sz="1600">
                <a:solidFill>
                  <a:schemeClr val="dk1"/>
                </a:solidFill>
                <a:latin typeface="Calibri"/>
                <a:ea typeface="Calibri"/>
                <a:cs typeface="Calibri"/>
                <a:sym typeface="Calibri"/>
              </a:rPr>
              <a:t>Agree to the organisation policies </a:t>
            </a:r>
            <a:endParaRPr/>
          </a:p>
          <a:p>
            <a:pPr marL="285750" marR="0" lvl="0" indent="-171450" algn="l" rtl="0">
              <a:spcBef>
                <a:spcPts val="0"/>
              </a:spcBef>
              <a:spcAft>
                <a:spcPts val="0"/>
              </a:spcAft>
              <a:buClr>
                <a:schemeClr val="dk1"/>
              </a:buClr>
              <a:buSzPts val="1600"/>
              <a:buFont typeface="Arial"/>
              <a:buChar char="•"/>
            </a:pPr>
            <a:r>
              <a:rPr lang="fr-FR" sz="1600">
                <a:solidFill>
                  <a:schemeClr val="dk1"/>
                </a:solidFill>
                <a:latin typeface="Calibri"/>
                <a:ea typeface="Calibri"/>
                <a:cs typeface="Calibri"/>
                <a:sym typeface="Calibri"/>
              </a:rPr>
              <a:t>Respect and support all team members</a:t>
            </a:r>
            <a:endParaRPr/>
          </a:p>
          <a:p>
            <a:pPr marL="285750" marR="0" lvl="0" indent="-171450" algn="l" rtl="0">
              <a:spcBef>
                <a:spcPts val="0"/>
              </a:spcBef>
              <a:spcAft>
                <a:spcPts val="0"/>
              </a:spcAft>
              <a:buClr>
                <a:schemeClr val="dk1"/>
              </a:buClr>
              <a:buSzPts val="1600"/>
              <a:buFont typeface="Arial"/>
              <a:buChar char="•"/>
            </a:pPr>
            <a:r>
              <a:rPr lang="fr-FR" sz="1600">
                <a:solidFill>
                  <a:schemeClr val="dk1"/>
                </a:solidFill>
                <a:latin typeface="Calibri"/>
                <a:ea typeface="Calibri"/>
                <a:cs typeface="Calibri"/>
                <a:sym typeface="Calibri"/>
              </a:rPr>
              <a:t>Report potential hazards</a:t>
            </a:r>
            <a:endParaRPr/>
          </a:p>
          <a:p>
            <a:pPr marL="114300" marR="0" lvl="0" indent="0" algn="l" rtl="0">
              <a:spcBef>
                <a:spcPts val="0"/>
              </a:spcBef>
              <a:spcAft>
                <a:spcPts val="0"/>
              </a:spcAft>
              <a:buClr>
                <a:schemeClr val="dk1"/>
              </a:buClr>
              <a:buSzPts val="1400"/>
              <a:buFont typeface="Calibri"/>
              <a:buNone/>
            </a:pPr>
            <a:endParaRPr sz="1400">
              <a:solidFill>
                <a:schemeClr val="dk1"/>
              </a:solidFill>
              <a:latin typeface="Calibri"/>
              <a:ea typeface="Calibri"/>
              <a:cs typeface="Calibri"/>
              <a:sym typeface="Calibri"/>
            </a:endParaRPr>
          </a:p>
          <a:p>
            <a:pPr marL="114300" marR="0" lvl="0" indent="0" algn="l" rtl="0">
              <a:spcBef>
                <a:spcPts val="0"/>
              </a:spcBef>
              <a:spcAft>
                <a:spcPts val="0"/>
              </a:spcAft>
              <a:buNone/>
            </a:pPr>
            <a:endParaRPr sz="1400">
              <a:solidFill>
                <a:srgbClr val="000000"/>
              </a:solidFill>
              <a:latin typeface="Calibri"/>
              <a:ea typeface="Calibri"/>
              <a:cs typeface="Calibri"/>
              <a:sym typeface="Calibri"/>
            </a:endParaRPr>
          </a:p>
          <a:p>
            <a:pPr marL="114300" marR="0" lvl="0" indent="0" algn="l" rtl="0">
              <a:spcBef>
                <a:spcPts val="0"/>
              </a:spcBef>
              <a:spcAft>
                <a:spcPts val="0"/>
              </a:spcAft>
              <a:buNone/>
            </a:pPr>
            <a:endParaRPr sz="2000">
              <a:solidFill>
                <a:srgbClr val="000000"/>
              </a:solidFill>
              <a:latin typeface="Calibri"/>
              <a:ea typeface="Calibri"/>
              <a:cs typeface="Calibri"/>
              <a:sym typeface="Calibri"/>
            </a:endParaRPr>
          </a:p>
          <a:p>
            <a:pPr marL="0" marR="0" lvl="0" indent="0" algn="l" rtl="0">
              <a:spcBef>
                <a:spcPts val="0"/>
              </a:spcBef>
              <a:spcAft>
                <a:spcPts val="0"/>
              </a:spcAft>
              <a:buNone/>
            </a:pPr>
            <a:endParaRPr sz="2000">
              <a:solidFill>
                <a:srgbClr val="000000"/>
              </a:solidFill>
              <a:latin typeface="Calibri"/>
              <a:ea typeface="Calibri"/>
              <a:cs typeface="Calibri"/>
              <a:sym typeface="Calibri"/>
            </a:endParaRPr>
          </a:p>
        </p:txBody>
      </p:sp>
      <p:pic>
        <p:nvPicPr>
          <p:cNvPr id="313" name="Google Shape;313;p28"/>
          <p:cNvPicPr preferRelativeResize="0"/>
          <p:nvPr/>
        </p:nvPicPr>
        <p:blipFill rotWithShape="1">
          <a:blip r:embed="rId3">
            <a:alphaModFix/>
          </a:blip>
          <a:srcRect/>
          <a:stretch/>
        </p:blipFill>
        <p:spPr>
          <a:xfrm>
            <a:off x="5875457" y="4647774"/>
            <a:ext cx="3268543" cy="2210226"/>
          </a:xfrm>
          <a:prstGeom prst="rect">
            <a:avLst/>
          </a:prstGeom>
          <a:noFill/>
          <a:ln>
            <a:noFill/>
          </a:ln>
        </p:spPr>
      </p:pic>
      <p:pic>
        <p:nvPicPr>
          <p:cNvPr id="2"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906" y="4961063"/>
            <a:ext cx="4685894" cy="1352550"/>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1"/>
                                        </p:tgtEl>
                                        <p:attrNameLst>
                                          <p:attrName>style.visibility</p:attrName>
                                        </p:attrNameLst>
                                      </p:cBhvr>
                                      <p:to>
                                        <p:strVal val="visible"/>
                                      </p:to>
                                    </p:set>
                                    <p:animEffect transition="in" filter="fade">
                                      <p:cBhvr>
                                        <p:cTn id="7" dur="500"/>
                                        <p:tgtEl>
                                          <p:spTgt spid="3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2"/>
                                        </p:tgtEl>
                                        <p:attrNameLst>
                                          <p:attrName>style.visibility</p:attrName>
                                        </p:attrNameLst>
                                      </p:cBhvr>
                                      <p:to>
                                        <p:strVal val="visible"/>
                                      </p:to>
                                    </p:set>
                                    <p:animEffect transition="in" filter="fade">
                                      <p:cBhvr>
                                        <p:cTn id="12" dur="500"/>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grpSp>
        <p:nvGrpSpPr>
          <p:cNvPr id="319" name="Google Shape;319;p29"/>
          <p:cNvGrpSpPr/>
          <p:nvPr/>
        </p:nvGrpSpPr>
        <p:grpSpPr>
          <a:xfrm>
            <a:off x="428857" y="485286"/>
            <a:ext cx="6086243" cy="1114914"/>
            <a:chOff x="801127" y="403254"/>
            <a:chExt cx="4331352" cy="565433"/>
          </a:xfrm>
        </p:grpSpPr>
        <p:sp>
          <p:nvSpPr>
            <p:cNvPr id="320" name="Google Shape;320;p29"/>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321" name="Google Shape;321;p29"/>
            <p:cNvSpPr/>
            <p:nvPr/>
          </p:nvSpPr>
          <p:spPr>
            <a:xfrm>
              <a:off x="1105964" y="479186"/>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Volunteer rights and responsibilities </a:t>
              </a:r>
              <a:endParaRPr sz="1800">
                <a:solidFill>
                  <a:srgbClr val="FFFFFF"/>
                </a:solidFill>
                <a:latin typeface="Open Sans SemiBold"/>
                <a:ea typeface="Open Sans SemiBold"/>
                <a:cs typeface="Open Sans SemiBold"/>
                <a:sym typeface="Open Sans SemiBold"/>
              </a:endParaRPr>
            </a:p>
          </p:txBody>
        </p:sp>
      </p:grpSp>
      <p:sp>
        <p:nvSpPr>
          <p:cNvPr id="322" name="Google Shape;322;p29"/>
          <p:cNvSpPr txBox="1"/>
          <p:nvPr/>
        </p:nvSpPr>
        <p:spPr>
          <a:xfrm>
            <a:off x="887909" y="1826017"/>
            <a:ext cx="2998617" cy="4124206"/>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2"/>
              </a:buClr>
              <a:buSzPts val="1800"/>
              <a:buFont typeface="Calibri"/>
              <a:buNone/>
            </a:pPr>
            <a:r>
              <a:rPr lang="fr-FR" sz="1800" b="1" dirty="0" err="1">
                <a:solidFill>
                  <a:schemeClr val="dk2"/>
                </a:solidFill>
                <a:latin typeface="Calibri"/>
                <a:ea typeface="Calibri"/>
                <a:cs typeface="Calibri"/>
                <a:sym typeface="Calibri"/>
              </a:rPr>
              <a:t>Generally</a:t>
            </a:r>
            <a:r>
              <a:rPr lang="fr-FR" sz="1800" b="1" dirty="0">
                <a:solidFill>
                  <a:schemeClr val="dk2"/>
                </a:solidFill>
                <a:latin typeface="Calibri"/>
                <a:ea typeface="Calibri"/>
                <a:cs typeface="Calibri"/>
                <a:sym typeface="Calibri"/>
              </a:rPr>
              <a:t>, </a:t>
            </a:r>
            <a:r>
              <a:rPr lang="fr-FR" sz="1800" b="1" dirty="0" err="1">
                <a:solidFill>
                  <a:schemeClr val="dk2"/>
                </a:solidFill>
                <a:latin typeface="Calibri"/>
                <a:ea typeface="Calibri"/>
                <a:cs typeface="Calibri"/>
                <a:sym typeface="Calibri"/>
              </a:rPr>
              <a:t>you</a:t>
            </a:r>
            <a:r>
              <a:rPr lang="fr-FR" sz="1800" b="1" dirty="0">
                <a:solidFill>
                  <a:schemeClr val="dk2"/>
                </a:solidFill>
                <a:latin typeface="Calibri"/>
                <a:ea typeface="Calibri"/>
                <a:cs typeface="Calibri"/>
                <a:sym typeface="Calibri"/>
              </a:rPr>
              <a:t> </a:t>
            </a:r>
            <a:r>
              <a:rPr lang="fr-FR" sz="1800" b="1" dirty="0" err="1">
                <a:solidFill>
                  <a:schemeClr val="dk2"/>
                </a:solidFill>
                <a:latin typeface="Calibri"/>
                <a:ea typeface="Calibri"/>
                <a:cs typeface="Calibri"/>
                <a:sym typeface="Calibri"/>
              </a:rPr>
              <a:t>can</a:t>
            </a:r>
            <a:r>
              <a:rPr lang="fr-FR" sz="1800" b="1" dirty="0">
                <a:solidFill>
                  <a:schemeClr val="dk2"/>
                </a:solidFill>
                <a:latin typeface="Calibri"/>
                <a:ea typeface="Calibri"/>
                <a:cs typeface="Calibri"/>
                <a:sym typeface="Calibri"/>
              </a:rPr>
              <a:t> </a:t>
            </a:r>
            <a:r>
              <a:rPr lang="fr-FR" sz="1800" b="1" dirty="0" err="1">
                <a:solidFill>
                  <a:schemeClr val="dk2"/>
                </a:solidFill>
                <a:latin typeface="Calibri"/>
                <a:ea typeface="Calibri"/>
                <a:cs typeface="Calibri"/>
                <a:sym typeface="Calibri"/>
              </a:rPr>
              <a:t>expect</a:t>
            </a:r>
            <a:r>
              <a:rPr lang="fr-FR" sz="1800" b="1" dirty="0">
                <a:solidFill>
                  <a:schemeClr val="dk2"/>
                </a:solidFill>
                <a:latin typeface="Calibri"/>
                <a:ea typeface="Calibri"/>
                <a:cs typeface="Calibri"/>
                <a:sym typeface="Calibri"/>
              </a:rPr>
              <a:t>:</a:t>
            </a:r>
            <a:endParaRPr dirty="0"/>
          </a:p>
          <a:p>
            <a:pPr marL="114300" marR="0" lvl="0" indent="0" algn="l" rtl="0">
              <a:spcBef>
                <a:spcPts val="0"/>
              </a:spcBef>
              <a:spcAft>
                <a:spcPts val="0"/>
              </a:spcAft>
              <a:buClr>
                <a:schemeClr val="dk1"/>
              </a:buClr>
              <a:buSzPts val="1600"/>
              <a:buFont typeface="Calibri"/>
              <a:buNone/>
            </a:pPr>
            <a:endParaRPr sz="16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a:t>
            </a:r>
            <a:r>
              <a:rPr lang="fr-FR" sz="1600" dirty="0" err="1">
                <a:solidFill>
                  <a:schemeClr val="dk1"/>
                </a:solidFill>
                <a:latin typeface="Calibri"/>
                <a:ea typeface="Calibri"/>
                <a:cs typeface="Calibri"/>
                <a:sym typeface="Calibri"/>
              </a:rPr>
              <a:t>receive</a:t>
            </a:r>
            <a:r>
              <a:rPr lang="fr-FR" sz="1600" dirty="0">
                <a:solidFill>
                  <a:schemeClr val="dk1"/>
                </a:solidFill>
                <a:latin typeface="Calibri"/>
                <a:ea typeface="Calibri"/>
                <a:cs typeface="Calibri"/>
                <a:sym typeface="Calibri"/>
              </a:rPr>
              <a:t> satisfaction </a:t>
            </a:r>
            <a:r>
              <a:rPr lang="fr-FR" sz="1600" dirty="0" err="1">
                <a:solidFill>
                  <a:schemeClr val="dk1"/>
                </a:solidFill>
                <a:latin typeface="Calibri"/>
                <a:ea typeface="Calibri"/>
                <a:cs typeface="Calibri"/>
                <a:sym typeface="Calibri"/>
              </a:rPr>
              <a:t>from</a:t>
            </a:r>
            <a:r>
              <a:rPr lang="fr-FR" sz="1600" dirty="0">
                <a:solidFill>
                  <a:schemeClr val="dk1"/>
                </a:solidFill>
                <a:latin typeface="Calibri"/>
                <a:ea typeface="Calibri"/>
                <a:cs typeface="Calibri"/>
                <a:sym typeface="Calibri"/>
              </a:rPr>
              <a:t> the </a:t>
            </a:r>
            <a:r>
              <a:rPr lang="fr-FR" sz="1600" dirty="0" err="1">
                <a:solidFill>
                  <a:schemeClr val="dk1"/>
                </a:solidFill>
                <a:latin typeface="Calibri"/>
                <a:ea typeface="Calibri"/>
                <a:cs typeface="Calibri"/>
                <a:sym typeface="Calibri"/>
              </a:rPr>
              <a:t>role</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you</a:t>
            </a:r>
            <a:r>
              <a:rPr lang="fr-FR" sz="1600" dirty="0">
                <a:solidFill>
                  <a:schemeClr val="dk1"/>
                </a:solidFill>
                <a:latin typeface="Calibri"/>
                <a:ea typeface="Calibri"/>
                <a:cs typeface="Calibri"/>
                <a:sym typeface="Calibri"/>
              </a:rPr>
              <a:t> are </a:t>
            </a:r>
            <a:r>
              <a:rPr lang="fr-FR" sz="1600" dirty="0" err="1">
                <a:solidFill>
                  <a:schemeClr val="dk1"/>
                </a:solidFill>
                <a:latin typeface="Calibri"/>
                <a:ea typeface="Calibri"/>
                <a:cs typeface="Calibri"/>
                <a:sym typeface="Calibri"/>
              </a:rPr>
              <a:t>doing</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a:t>
            </a:r>
            <a:r>
              <a:rPr lang="fr-FR" sz="1600" dirty="0" err="1">
                <a:solidFill>
                  <a:schemeClr val="dk1"/>
                </a:solidFill>
                <a:latin typeface="Calibri"/>
                <a:ea typeface="Calibri"/>
                <a:cs typeface="Calibri"/>
                <a:sym typeface="Calibri"/>
              </a:rPr>
              <a:t>receive</a:t>
            </a:r>
            <a:r>
              <a:rPr lang="fr-FR" sz="1600" dirty="0">
                <a:solidFill>
                  <a:schemeClr val="dk1"/>
                </a:solidFill>
                <a:latin typeface="Calibri"/>
                <a:ea typeface="Calibri"/>
                <a:cs typeface="Calibri"/>
                <a:sym typeface="Calibri"/>
              </a:rPr>
              <a:t> assistance and training if </a:t>
            </a:r>
            <a:r>
              <a:rPr lang="fr-FR" sz="1600" dirty="0" err="1">
                <a:solidFill>
                  <a:schemeClr val="dk1"/>
                </a:solidFill>
                <a:latin typeface="Calibri"/>
                <a:ea typeface="Calibri"/>
                <a:cs typeface="Calibri"/>
                <a:sym typeface="Calibri"/>
              </a:rPr>
              <a:t>required</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a:t>
            </a:r>
            <a:r>
              <a:rPr lang="fr-FR" sz="1600" dirty="0" err="1">
                <a:solidFill>
                  <a:schemeClr val="dk1"/>
                </a:solidFill>
                <a:latin typeface="Calibri"/>
                <a:ea typeface="Calibri"/>
                <a:cs typeface="Calibri"/>
                <a:sym typeface="Calibri"/>
              </a:rPr>
              <a:t>be</a:t>
            </a:r>
            <a:r>
              <a:rPr lang="fr-FR" sz="1600" dirty="0">
                <a:solidFill>
                  <a:schemeClr val="dk1"/>
                </a:solidFill>
                <a:latin typeface="Calibri"/>
                <a:ea typeface="Calibri"/>
                <a:cs typeface="Calibri"/>
                <a:sym typeface="Calibri"/>
              </a:rPr>
              <a:t> a </a:t>
            </a:r>
            <a:r>
              <a:rPr lang="fr-FR" sz="1600" dirty="0" err="1">
                <a:solidFill>
                  <a:schemeClr val="dk1"/>
                </a:solidFill>
                <a:latin typeface="Calibri"/>
                <a:ea typeface="Calibri"/>
                <a:cs typeface="Calibri"/>
                <a:sym typeface="Calibri"/>
              </a:rPr>
              <a:t>respected</a:t>
            </a:r>
            <a:r>
              <a:rPr lang="fr-FR" sz="1600" dirty="0">
                <a:solidFill>
                  <a:schemeClr val="dk1"/>
                </a:solidFill>
                <a:latin typeface="Calibri"/>
                <a:ea typeface="Calibri"/>
                <a:cs typeface="Calibri"/>
                <a:sym typeface="Calibri"/>
              </a:rPr>
              <a:t> and </a:t>
            </a:r>
            <a:r>
              <a:rPr lang="fr-FR" sz="1600" dirty="0" err="1">
                <a:solidFill>
                  <a:schemeClr val="dk1"/>
                </a:solidFill>
                <a:latin typeface="Calibri"/>
                <a:ea typeface="Calibri"/>
                <a:cs typeface="Calibri"/>
                <a:sym typeface="Calibri"/>
              </a:rPr>
              <a:t>valued</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member</a:t>
            </a:r>
            <a:r>
              <a:rPr lang="fr-FR" sz="1600" dirty="0">
                <a:solidFill>
                  <a:schemeClr val="dk1"/>
                </a:solidFill>
                <a:latin typeface="Calibri"/>
                <a:ea typeface="Calibri"/>
                <a:cs typeface="Calibri"/>
                <a:sym typeface="Calibri"/>
              </a:rPr>
              <a:t> of the team</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a:t>
            </a:r>
            <a:r>
              <a:rPr lang="fr-FR" sz="1600" dirty="0" err="1">
                <a:solidFill>
                  <a:schemeClr val="dk1"/>
                </a:solidFill>
                <a:latin typeface="Calibri"/>
                <a:ea typeface="Calibri"/>
                <a:cs typeface="Calibri"/>
                <a:sym typeface="Calibri"/>
              </a:rPr>
              <a:t>receive</a:t>
            </a:r>
            <a:r>
              <a:rPr lang="fr-FR" sz="1600" dirty="0">
                <a:solidFill>
                  <a:schemeClr val="dk1"/>
                </a:solidFill>
                <a:latin typeface="Calibri"/>
                <a:ea typeface="Calibri"/>
                <a:cs typeface="Calibri"/>
                <a:sym typeface="Calibri"/>
              </a:rPr>
              <a:t> feedback on </a:t>
            </a:r>
            <a:r>
              <a:rPr lang="fr-FR" sz="1600" dirty="0" err="1">
                <a:solidFill>
                  <a:schemeClr val="dk1"/>
                </a:solidFill>
                <a:latin typeface="Calibri"/>
                <a:ea typeface="Calibri"/>
                <a:cs typeface="Calibri"/>
                <a:sym typeface="Calibri"/>
              </a:rPr>
              <a:t>your</a:t>
            </a:r>
            <a:r>
              <a:rPr lang="fr-FR" sz="1600" dirty="0">
                <a:solidFill>
                  <a:schemeClr val="dk1"/>
                </a:solidFill>
                <a:latin typeface="Calibri"/>
                <a:ea typeface="Calibri"/>
                <a:cs typeface="Calibri"/>
                <a:sym typeface="Calibri"/>
              </a:rPr>
              <a:t> performance</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To have </a:t>
            </a:r>
            <a:r>
              <a:rPr lang="fr-FR" sz="1600" dirty="0" err="1">
                <a:solidFill>
                  <a:schemeClr val="dk1"/>
                </a:solidFill>
                <a:latin typeface="Calibri"/>
                <a:ea typeface="Calibri"/>
                <a:cs typeface="Calibri"/>
                <a:sym typeface="Calibri"/>
              </a:rPr>
              <a:t>policies</a:t>
            </a:r>
            <a:r>
              <a:rPr lang="fr-FR" sz="1600" dirty="0">
                <a:solidFill>
                  <a:schemeClr val="dk1"/>
                </a:solidFill>
                <a:latin typeface="Calibri"/>
                <a:ea typeface="Calibri"/>
                <a:cs typeface="Calibri"/>
                <a:sym typeface="Calibri"/>
              </a:rPr>
              <a:t> and </a:t>
            </a:r>
            <a:r>
              <a:rPr lang="fr-FR" sz="1600" dirty="0" err="1">
                <a:solidFill>
                  <a:schemeClr val="dk1"/>
                </a:solidFill>
                <a:latin typeface="Calibri"/>
                <a:ea typeface="Calibri"/>
                <a:cs typeface="Calibri"/>
                <a:sym typeface="Calibri"/>
              </a:rPr>
              <a:t>processes</a:t>
            </a:r>
            <a:r>
              <a:rPr lang="fr-FR" sz="1600" dirty="0">
                <a:solidFill>
                  <a:schemeClr val="dk1"/>
                </a:solidFill>
                <a:latin typeface="Calibri"/>
                <a:ea typeface="Calibri"/>
                <a:cs typeface="Calibri"/>
                <a:sym typeface="Calibri"/>
              </a:rPr>
              <a:t> to </a:t>
            </a:r>
            <a:r>
              <a:rPr lang="fr-FR" sz="1600" dirty="0" err="1">
                <a:solidFill>
                  <a:schemeClr val="dk1"/>
                </a:solidFill>
                <a:latin typeface="Calibri"/>
                <a:ea typeface="Calibri"/>
                <a:cs typeface="Calibri"/>
                <a:sym typeface="Calibri"/>
              </a:rPr>
              <a:t>follow</a:t>
            </a:r>
            <a:endParaRPr dirty="0"/>
          </a:p>
          <a:p>
            <a:pPr marL="114300" marR="0" lvl="0" indent="0" algn="l" rtl="0">
              <a:spcBef>
                <a:spcPts val="0"/>
              </a:spcBef>
              <a:spcAft>
                <a:spcPts val="0"/>
              </a:spcAft>
              <a:buClr>
                <a:schemeClr val="dk1"/>
              </a:buClr>
              <a:buSzPts val="1400"/>
              <a:buFont typeface="Calibri"/>
              <a:buNone/>
            </a:pPr>
            <a:endParaRPr sz="1400" dirty="0">
              <a:solidFill>
                <a:schemeClr val="dk1"/>
              </a:solidFill>
              <a:latin typeface="Calibri"/>
              <a:ea typeface="Calibri"/>
              <a:cs typeface="Calibri"/>
              <a:sym typeface="Calibri"/>
            </a:endParaRPr>
          </a:p>
          <a:p>
            <a:pPr marL="114300" marR="0" lvl="0" indent="0" algn="l" rtl="0">
              <a:spcBef>
                <a:spcPts val="0"/>
              </a:spcBef>
              <a:spcAft>
                <a:spcPts val="0"/>
              </a:spcAft>
              <a:buNone/>
            </a:pPr>
            <a:endParaRPr sz="1400" dirty="0">
              <a:solidFill>
                <a:srgbClr val="000000"/>
              </a:solidFill>
              <a:latin typeface="Calibri"/>
              <a:ea typeface="Calibri"/>
              <a:cs typeface="Calibri"/>
              <a:sym typeface="Calibri"/>
            </a:endParaRPr>
          </a:p>
          <a:p>
            <a:pPr marL="114300" marR="0" lvl="0" indent="0" algn="l" rtl="0">
              <a:spcBef>
                <a:spcPts val="0"/>
              </a:spcBef>
              <a:spcAft>
                <a:spcPts val="0"/>
              </a:spcAft>
              <a:buNone/>
            </a:pPr>
            <a:endParaRPr sz="2000" dirty="0">
              <a:solidFill>
                <a:srgbClr val="000000"/>
              </a:solidFill>
              <a:latin typeface="Calibri"/>
              <a:ea typeface="Calibri"/>
              <a:cs typeface="Calibri"/>
              <a:sym typeface="Calibri"/>
            </a:endParaRPr>
          </a:p>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p:txBody>
      </p:sp>
      <p:pic>
        <p:nvPicPr>
          <p:cNvPr id="323" name="Google Shape;323;p29"/>
          <p:cNvPicPr preferRelativeResize="0"/>
          <p:nvPr/>
        </p:nvPicPr>
        <p:blipFill rotWithShape="1">
          <a:blip r:embed="rId3">
            <a:alphaModFix/>
          </a:blip>
          <a:srcRect/>
          <a:stretch/>
        </p:blipFill>
        <p:spPr>
          <a:xfrm>
            <a:off x="5875457" y="4647774"/>
            <a:ext cx="3268543" cy="2210226"/>
          </a:xfrm>
          <a:prstGeom prst="rect">
            <a:avLst/>
          </a:prstGeom>
          <a:noFill/>
          <a:ln>
            <a:noFill/>
          </a:ln>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09" y="5186694"/>
            <a:ext cx="3337412" cy="13525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p30"/>
          <p:cNvPicPr preferRelativeResize="0"/>
          <p:nvPr/>
        </p:nvPicPr>
        <p:blipFill rotWithShape="1">
          <a:blip r:embed="rId3">
            <a:alphaModFix/>
          </a:blip>
          <a:srcRect/>
          <a:stretch/>
        </p:blipFill>
        <p:spPr>
          <a:xfrm>
            <a:off x="5875457" y="4647774"/>
            <a:ext cx="3268543" cy="2210226"/>
          </a:xfrm>
          <a:prstGeom prst="rect">
            <a:avLst/>
          </a:prstGeom>
          <a:noFill/>
          <a:ln>
            <a:noFill/>
          </a:ln>
        </p:spPr>
      </p:pic>
      <p:grpSp>
        <p:nvGrpSpPr>
          <p:cNvPr id="330" name="Google Shape;330;p30"/>
          <p:cNvGrpSpPr/>
          <p:nvPr/>
        </p:nvGrpSpPr>
        <p:grpSpPr>
          <a:xfrm>
            <a:off x="428857" y="485286"/>
            <a:ext cx="6086243" cy="565433"/>
            <a:chOff x="801127" y="403254"/>
            <a:chExt cx="4331352" cy="565433"/>
          </a:xfrm>
        </p:grpSpPr>
        <p:sp>
          <p:nvSpPr>
            <p:cNvPr id="331" name="Google Shape;331;p30"/>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332" name="Google Shape;332;p30"/>
            <p:cNvSpPr/>
            <p:nvPr/>
          </p:nvSpPr>
          <p:spPr>
            <a:xfrm>
              <a:off x="1105964" y="486297"/>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Selecting a volunteer role</a:t>
              </a:r>
              <a:endParaRPr sz="1800">
                <a:solidFill>
                  <a:srgbClr val="FFFFFF"/>
                </a:solidFill>
                <a:latin typeface="Open Sans SemiBold"/>
                <a:ea typeface="Open Sans SemiBold"/>
                <a:cs typeface="Open Sans SemiBold"/>
                <a:sym typeface="Open Sans SemiBold"/>
              </a:endParaRPr>
            </a:p>
          </p:txBody>
        </p:sp>
      </p:grpSp>
      <p:sp>
        <p:nvSpPr>
          <p:cNvPr id="333" name="Google Shape;333;p30"/>
          <p:cNvSpPr txBox="1"/>
          <p:nvPr/>
        </p:nvSpPr>
        <p:spPr>
          <a:xfrm>
            <a:off x="457200" y="1219200"/>
            <a:ext cx="2998617" cy="3693319"/>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2"/>
              </a:buClr>
              <a:buSzPts val="1800"/>
              <a:buFont typeface="Calibri"/>
              <a:buNone/>
            </a:pPr>
            <a:r>
              <a:rPr lang="fr-FR" sz="1800" b="1">
                <a:solidFill>
                  <a:schemeClr val="dk2"/>
                </a:solidFill>
                <a:latin typeface="Calibri"/>
                <a:ea typeface="Calibri"/>
                <a:cs typeface="Calibri"/>
                <a:sym typeface="Calibri"/>
              </a:rPr>
              <a:t>Volunteer resource centres support all aspects of volunteering in their community. </a:t>
            </a:r>
            <a:endParaRPr sz="1800" b="1">
              <a:solidFill>
                <a:schemeClr val="dk2"/>
              </a:solidFill>
              <a:latin typeface="Calibri"/>
              <a:ea typeface="Calibri"/>
              <a:cs typeface="Calibri"/>
              <a:sym typeface="Calibri"/>
            </a:endParaRPr>
          </a:p>
          <a:p>
            <a:pPr marL="114300" marR="0" lvl="0" indent="0" algn="l" rtl="0">
              <a:spcBef>
                <a:spcPts val="0"/>
              </a:spcBef>
              <a:spcAft>
                <a:spcPts val="0"/>
              </a:spcAft>
              <a:buClr>
                <a:schemeClr val="dk1"/>
              </a:buClr>
              <a:buSzPts val="1400"/>
              <a:buFont typeface="Calibri"/>
              <a:buNone/>
            </a:pPr>
            <a:endParaRPr sz="1400">
              <a:solidFill>
                <a:schemeClr val="dk1"/>
              </a:solidFill>
              <a:latin typeface="Calibri"/>
              <a:ea typeface="Calibri"/>
              <a:cs typeface="Calibri"/>
              <a:sym typeface="Calibri"/>
            </a:endParaRPr>
          </a:p>
          <a:p>
            <a:pPr marL="114300" marR="0" lvl="0" indent="0" algn="l" rtl="0">
              <a:spcBef>
                <a:spcPts val="0"/>
              </a:spcBef>
              <a:spcAft>
                <a:spcPts val="0"/>
              </a:spcAft>
              <a:buClr>
                <a:schemeClr val="dk1"/>
              </a:buClr>
              <a:buSzPts val="1600"/>
              <a:buFont typeface="Calibri"/>
              <a:buNone/>
            </a:pPr>
            <a:r>
              <a:rPr lang="fr-FR" sz="1600">
                <a:solidFill>
                  <a:schemeClr val="dk1"/>
                </a:solidFill>
                <a:latin typeface="Calibri"/>
                <a:ea typeface="Calibri"/>
                <a:cs typeface="Calibri"/>
                <a:sym typeface="Calibri"/>
              </a:rPr>
              <a:t>They have a database  of volunteer opportunities and can talk to you about your skills and interests. They can  suggest community organisations that you might like to engage with. </a:t>
            </a:r>
            <a:endParaRPr sz="1600">
              <a:solidFill>
                <a:schemeClr val="dk1"/>
              </a:solidFill>
              <a:latin typeface="Calibri"/>
              <a:ea typeface="Calibri"/>
              <a:cs typeface="Calibri"/>
              <a:sym typeface="Calibri"/>
            </a:endParaRPr>
          </a:p>
          <a:p>
            <a:pPr marL="114300" marR="0" lvl="0" indent="0" algn="l" rtl="0">
              <a:spcBef>
                <a:spcPts val="0"/>
              </a:spcBef>
              <a:spcAft>
                <a:spcPts val="0"/>
              </a:spcAft>
              <a:buNone/>
            </a:pPr>
            <a:endParaRPr sz="1400">
              <a:solidFill>
                <a:srgbClr val="000000"/>
              </a:solidFill>
              <a:latin typeface="Calibri"/>
              <a:ea typeface="Calibri"/>
              <a:cs typeface="Calibri"/>
              <a:sym typeface="Calibri"/>
            </a:endParaRPr>
          </a:p>
          <a:p>
            <a:pPr marL="114300" marR="0" lvl="0" indent="0" algn="l" rtl="0">
              <a:spcBef>
                <a:spcPts val="0"/>
              </a:spcBef>
              <a:spcAft>
                <a:spcPts val="0"/>
              </a:spcAft>
              <a:buNone/>
            </a:pPr>
            <a:endParaRPr sz="2000">
              <a:solidFill>
                <a:srgbClr val="000000"/>
              </a:solidFill>
              <a:latin typeface="Calibri"/>
              <a:ea typeface="Calibri"/>
              <a:cs typeface="Calibri"/>
              <a:sym typeface="Calibri"/>
            </a:endParaRPr>
          </a:p>
          <a:p>
            <a:pPr marL="0" marR="0" lvl="0" indent="0" algn="l" rtl="0">
              <a:spcBef>
                <a:spcPts val="0"/>
              </a:spcBef>
              <a:spcAft>
                <a:spcPts val="0"/>
              </a:spcAft>
              <a:buNone/>
            </a:pPr>
            <a:endParaRPr sz="2000">
              <a:solidFill>
                <a:srgbClr val="000000"/>
              </a:solidFill>
              <a:latin typeface="Calibri"/>
              <a:ea typeface="Calibri"/>
              <a:cs typeface="Calibri"/>
              <a:sym typeface="Calibri"/>
            </a:endParaRPr>
          </a:p>
        </p:txBody>
      </p:sp>
      <p:sp>
        <p:nvSpPr>
          <p:cNvPr id="334" name="Google Shape;334;p30"/>
          <p:cNvSpPr txBox="1"/>
          <p:nvPr/>
        </p:nvSpPr>
        <p:spPr>
          <a:xfrm>
            <a:off x="4191000" y="1143000"/>
            <a:ext cx="2998617" cy="4278094"/>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2"/>
              </a:buClr>
              <a:buSzPts val="1800"/>
              <a:buFont typeface="Calibri"/>
              <a:buNone/>
            </a:pPr>
            <a:r>
              <a:rPr lang="fr-FR" sz="1800" b="1">
                <a:solidFill>
                  <a:schemeClr val="dk2"/>
                </a:solidFill>
                <a:latin typeface="Calibri"/>
                <a:ea typeface="Calibri"/>
                <a:cs typeface="Calibri"/>
                <a:sym typeface="Calibri"/>
              </a:rPr>
              <a:t>Some Volunteer organisations advertise their positions online.</a:t>
            </a:r>
            <a:endParaRPr/>
          </a:p>
          <a:p>
            <a:pPr marL="114300" marR="0" lvl="0" indent="0" algn="l" rtl="0">
              <a:spcBef>
                <a:spcPts val="0"/>
              </a:spcBef>
              <a:spcAft>
                <a:spcPts val="0"/>
              </a:spcAft>
              <a:buClr>
                <a:schemeClr val="dk1"/>
              </a:buClr>
              <a:buSzPts val="600"/>
              <a:buFont typeface="Calibri"/>
              <a:buNone/>
            </a:pPr>
            <a:endParaRPr sz="600">
              <a:solidFill>
                <a:schemeClr val="dk1"/>
              </a:solidFill>
              <a:latin typeface="Calibri"/>
              <a:ea typeface="Calibri"/>
              <a:cs typeface="Calibri"/>
              <a:sym typeface="Calibri"/>
            </a:endParaRPr>
          </a:p>
          <a:p>
            <a:pPr marL="114300" marR="0" lvl="0" indent="0" algn="l" rtl="0">
              <a:spcBef>
                <a:spcPts val="0"/>
              </a:spcBef>
              <a:spcAft>
                <a:spcPts val="0"/>
              </a:spcAft>
              <a:buClr>
                <a:schemeClr val="dk1"/>
              </a:buClr>
              <a:buSzPts val="1600"/>
              <a:buFont typeface="Calibri"/>
              <a:buNone/>
            </a:pPr>
            <a:r>
              <a:rPr lang="fr-FR" sz="1600">
                <a:solidFill>
                  <a:schemeClr val="dk1"/>
                </a:solidFill>
                <a:latin typeface="Calibri"/>
                <a:ea typeface="Calibri"/>
                <a:cs typeface="Calibri"/>
                <a:sym typeface="Calibri"/>
              </a:rPr>
              <a:t>You can apply directly to those advertisements.</a:t>
            </a:r>
            <a:endParaRPr/>
          </a:p>
          <a:p>
            <a:pPr marL="114300" marR="0" lvl="0" indent="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a:p>
            <a:pPr marL="114300" marR="0" lvl="0" indent="0" algn="l" rtl="0">
              <a:spcBef>
                <a:spcPts val="0"/>
              </a:spcBef>
              <a:spcAft>
                <a:spcPts val="0"/>
              </a:spcAft>
              <a:buClr>
                <a:schemeClr val="dk1"/>
              </a:buClr>
              <a:buSzPts val="1600"/>
              <a:buFont typeface="Calibri"/>
              <a:buNone/>
            </a:pPr>
            <a:r>
              <a:rPr lang="fr-FR" sz="1600">
                <a:solidFill>
                  <a:schemeClr val="dk1"/>
                </a:solidFill>
                <a:latin typeface="Calibri"/>
                <a:ea typeface="Calibri"/>
                <a:cs typeface="Calibri"/>
                <a:sym typeface="Calibri"/>
              </a:rPr>
              <a:t>Read the position description and make sure you understand what you have applied for and think about the questions you need to ask.</a:t>
            </a:r>
            <a:endParaRPr/>
          </a:p>
          <a:p>
            <a:pPr marL="114300" marR="0" lvl="0" indent="0" algn="l" rtl="0">
              <a:spcBef>
                <a:spcPts val="0"/>
              </a:spcBef>
              <a:spcAft>
                <a:spcPts val="0"/>
              </a:spcAft>
              <a:buNone/>
            </a:pPr>
            <a:endParaRPr sz="1600">
              <a:solidFill>
                <a:srgbClr val="000000"/>
              </a:solidFill>
              <a:latin typeface="Calibri"/>
              <a:ea typeface="Calibri"/>
              <a:cs typeface="Calibri"/>
              <a:sym typeface="Calibri"/>
            </a:endParaRPr>
          </a:p>
          <a:p>
            <a:pPr marL="114300" marR="0" lvl="0" indent="0" algn="ctr" rtl="0">
              <a:spcBef>
                <a:spcPts val="0"/>
              </a:spcBef>
              <a:spcAft>
                <a:spcPts val="0"/>
              </a:spcAft>
              <a:buClr>
                <a:schemeClr val="dk1"/>
              </a:buClr>
              <a:buSzPts val="1400"/>
              <a:buFont typeface="Calibri"/>
              <a:buNone/>
            </a:pPr>
            <a:endParaRPr sz="1400">
              <a:solidFill>
                <a:schemeClr val="dk1"/>
              </a:solidFill>
              <a:latin typeface="Calibri"/>
              <a:ea typeface="Calibri"/>
              <a:cs typeface="Calibri"/>
              <a:sym typeface="Calibri"/>
            </a:endParaRPr>
          </a:p>
          <a:p>
            <a:pPr marL="114300" marR="0" lvl="0" indent="0" algn="l" rtl="0">
              <a:spcBef>
                <a:spcPts val="0"/>
              </a:spcBef>
              <a:spcAft>
                <a:spcPts val="0"/>
              </a:spcAft>
              <a:buNone/>
            </a:pPr>
            <a:endParaRPr sz="1400">
              <a:solidFill>
                <a:srgbClr val="000000"/>
              </a:solidFill>
              <a:latin typeface="Calibri"/>
              <a:ea typeface="Calibri"/>
              <a:cs typeface="Calibri"/>
              <a:sym typeface="Calibri"/>
            </a:endParaRPr>
          </a:p>
          <a:p>
            <a:pPr marL="114300" marR="0" lvl="0" indent="0" algn="l" rtl="0">
              <a:spcBef>
                <a:spcPts val="0"/>
              </a:spcBef>
              <a:spcAft>
                <a:spcPts val="0"/>
              </a:spcAft>
              <a:buNone/>
            </a:pPr>
            <a:endParaRPr sz="2000">
              <a:solidFill>
                <a:srgbClr val="000000"/>
              </a:solidFill>
              <a:latin typeface="Calibri"/>
              <a:ea typeface="Calibri"/>
              <a:cs typeface="Calibri"/>
              <a:sym typeface="Calibri"/>
            </a:endParaRPr>
          </a:p>
          <a:p>
            <a:pPr marL="0" marR="0" lvl="0" indent="0" algn="l" rtl="0">
              <a:spcBef>
                <a:spcPts val="0"/>
              </a:spcBef>
              <a:spcAft>
                <a:spcPts val="0"/>
              </a:spcAft>
              <a:buNone/>
            </a:pPr>
            <a:endParaRPr sz="2000">
              <a:solidFill>
                <a:srgbClr val="000000"/>
              </a:solidFill>
              <a:latin typeface="Calibri"/>
              <a:ea typeface="Calibri"/>
              <a:cs typeface="Calibri"/>
              <a:sym typeface="Calibri"/>
            </a:endParaRPr>
          </a:p>
        </p:txBody>
      </p:sp>
      <p:pic>
        <p:nvPicPr>
          <p:cNvPr id="2"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5845" y="4511423"/>
            <a:ext cx="4655127" cy="189179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3"/>
                                        </p:tgtEl>
                                        <p:attrNameLst>
                                          <p:attrName>style.visibility</p:attrName>
                                        </p:attrNameLst>
                                      </p:cBhvr>
                                      <p:to>
                                        <p:strVal val="visible"/>
                                      </p:to>
                                    </p:set>
                                    <p:animEffect transition="in" filter="fade">
                                      <p:cBhvr>
                                        <p:cTn id="7" dur="500"/>
                                        <p:tgtEl>
                                          <p:spTgt spid="3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4"/>
                                        </p:tgtEl>
                                        <p:attrNameLst>
                                          <p:attrName>style.visibility</p:attrName>
                                        </p:attrNameLst>
                                      </p:cBhvr>
                                      <p:to>
                                        <p:strVal val="visible"/>
                                      </p:to>
                                    </p:set>
                                    <p:animEffect transition="in" filter="fade">
                                      <p:cBhvr>
                                        <p:cTn id="12"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grpSp>
        <p:nvGrpSpPr>
          <p:cNvPr id="340" name="Google Shape;340;p31"/>
          <p:cNvGrpSpPr/>
          <p:nvPr/>
        </p:nvGrpSpPr>
        <p:grpSpPr>
          <a:xfrm>
            <a:off x="428857" y="485286"/>
            <a:ext cx="6086243" cy="565433"/>
            <a:chOff x="801127" y="403254"/>
            <a:chExt cx="4331352" cy="565433"/>
          </a:xfrm>
        </p:grpSpPr>
        <p:sp>
          <p:nvSpPr>
            <p:cNvPr id="341" name="Google Shape;341;p31"/>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342" name="Google Shape;342;p31"/>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Volunteer Organisations</a:t>
              </a:r>
              <a:endParaRPr sz="1800">
                <a:solidFill>
                  <a:srgbClr val="FFFFFF"/>
                </a:solidFill>
                <a:latin typeface="Open Sans SemiBold"/>
                <a:ea typeface="Open Sans SemiBold"/>
                <a:cs typeface="Open Sans SemiBold"/>
                <a:sym typeface="Open Sans SemiBold"/>
              </a:endParaRPr>
            </a:p>
          </p:txBody>
        </p:sp>
      </p:grpSp>
      <p:pic>
        <p:nvPicPr>
          <p:cNvPr id="343" name="Google Shape;343;p31"/>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344" name="Google Shape;344;p31"/>
          <p:cNvSpPr txBox="1"/>
          <p:nvPr/>
        </p:nvSpPr>
        <p:spPr>
          <a:xfrm>
            <a:off x="420796" y="1961407"/>
            <a:ext cx="2998617" cy="3077725"/>
          </a:xfrm>
          <a:prstGeom prst="rect">
            <a:avLst/>
          </a:prstGeom>
          <a:noFill/>
          <a:ln>
            <a:solidFill>
              <a:srgbClr val="FF0000"/>
            </a:solidFill>
          </a:ln>
        </p:spPr>
        <p:txBody>
          <a:bodyPr spcFirstLastPara="1" wrap="square" lIns="91425" tIns="45700" rIns="91425" bIns="45700" anchor="t" anchorCtr="0">
            <a:spAutoFit/>
          </a:bodyPr>
          <a:lstStyle/>
          <a:p>
            <a:pPr marL="114300" marR="0" lvl="0" indent="0" algn="l" rtl="0">
              <a:spcBef>
                <a:spcPts val="0"/>
              </a:spcBef>
              <a:spcAft>
                <a:spcPts val="0"/>
              </a:spcAft>
              <a:buClr>
                <a:schemeClr val="dk2"/>
              </a:buClr>
              <a:buSzPts val="1800"/>
              <a:buFont typeface="Calibri"/>
              <a:buNone/>
            </a:pPr>
            <a:r>
              <a:rPr lang="fr-FR" sz="1800" b="1" dirty="0">
                <a:solidFill>
                  <a:schemeClr val="dk2"/>
                </a:solidFill>
                <a:latin typeface="Calibri"/>
                <a:ea typeface="Calibri"/>
                <a:cs typeface="Calibri"/>
                <a:sym typeface="Calibri"/>
              </a:rPr>
              <a:t>The </a:t>
            </a:r>
            <a:r>
              <a:rPr lang="fr-FR" sz="1800" b="1" dirty="0" err="1">
                <a:solidFill>
                  <a:schemeClr val="dk2"/>
                </a:solidFill>
                <a:latin typeface="Calibri"/>
                <a:ea typeface="Calibri"/>
                <a:cs typeface="Calibri"/>
                <a:sym typeface="Calibri"/>
              </a:rPr>
              <a:t>recruitment</a:t>
            </a:r>
            <a:r>
              <a:rPr lang="fr-FR" sz="1800" b="1" dirty="0">
                <a:solidFill>
                  <a:schemeClr val="dk2"/>
                </a:solidFill>
                <a:latin typeface="Calibri"/>
                <a:ea typeface="Calibri"/>
                <a:cs typeface="Calibri"/>
                <a:sym typeface="Calibri"/>
              </a:rPr>
              <a:t> </a:t>
            </a:r>
            <a:r>
              <a:rPr lang="fr-FR" sz="1800" b="1" dirty="0" err="1">
                <a:solidFill>
                  <a:schemeClr val="dk2"/>
                </a:solidFill>
                <a:latin typeface="Calibri"/>
                <a:ea typeface="Calibri"/>
                <a:cs typeface="Calibri"/>
                <a:sym typeface="Calibri"/>
              </a:rPr>
              <a:t>process</a:t>
            </a:r>
            <a:r>
              <a:rPr lang="fr-FR" sz="1800" b="1" dirty="0" smtClean="0">
                <a:solidFill>
                  <a:schemeClr val="dk2"/>
                </a:solidFill>
                <a:latin typeface="Calibri"/>
                <a:ea typeface="Calibri"/>
                <a:cs typeface="Calibri"/>
                <a:sym typeface="Calibri"/>
              </a:rPr>
              <a:t>:</a:t>
            </a:r>
            <a:endParaRPr sz="1800" b="1" dirty="0">
              <a:solidFill>
                <a:schemeClr val="dk2"/>
              </a:solidFill>
              <a:latin typeface="Calibri"/>
              <a:ea typeface="Calibri"/>
              <a:cs typeface="Calibri"/>
              <a:sym typeface="Calibri"/>
            </a:endParaRPr>
          </a:p>
          <a:p>
            <a:pPr marL="114300" marR="0" lvl="0" indent="0" algn="l" rtl="0">
              <a:spcBef>
                <a:spcPts val="0"/>
              </a:spcBef>
              <a:spcAft>
                <a:spcPts val="0"/>
              </a:spcAft>
              <a:buClr>
                <a:schemeClr val="dk1"/>
              </a:buClr>
              <a:buSzPts val="1600"/>
              <a:buFont typeface="Calibri"/>
              <a:buNone/>
            </a:pPr>
            <a:endParaRPr sz="16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600"/>
              <a:buFont typeface="Arial"/>
              <a:buChar char="•"/>
            </a:pPr>
            <a:r>
              <a:rPr lang="fr-FR" sz="1600" dirty="0" err="1">
                <a:solidFill>
                  <a:schemeClr val="dk1"/>
                </a:solidFill>
                <a:latin typeface="Calibri"/>
                <a:ea typeface="Calibri"/>
                <a:cs typeface="Calibri"/>
                <a:sym typeface="Calibri"/>
              </a:rPr>
              <a:t>Apply</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Interview </a:t>
            </a:r>
            <a:endParaRPr sz="16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Police </a:t>
            </a:r>
            <a:r>
              <a:rPr lang="fr-FR" sz="1600" dirty="0" err="1">
                <a:solidFill>
                  <a:schemeClr val="dk1"/>
                </a:solidFill>
                <a:latin typeface="Calibri"/>
                <a:ea typeface="Calibri"/>
                <a:cs typeface="Calibri"/>
                <a:sym typeface="Calibri"/>
              </a:rPr>
              <a:t>Checks</a:t>
            </a:r>
            <a:r>
              <a:rPr lang="fr-FR" sz="1600" dirty="0">
                <a:solidFill>
                  <a:schemeClr val="dk1"/>
                </a:solidFill>
                <a:latin typeface="Calibri"/>
                <a:ea typeface="Calibri"/>
                <a:cs typeface="Calibri"/>
                <a:sym typeface="Calibri"/>
              </a:rPr>
              <a:t>/</a:t>
            </a:r>
            <a:r>
              <a:rPr lang="fr-FR" sz="1600" dirty="0" err="1">
                <a:solidFill>
                  <a:schemeClr val="dk1"/>
                </a:solidFill>
                <a:latin typeface="Calibri"/>
                <a:ea typeface="Calibri"/>
                <a:cs typeface="Calibri"/>
                <a:sym typeface="Calibri"/>
              </a:rPr>
              <a:t>Working</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with</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Children</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Checks</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Training and orientation</a:t>
            </a:r>
            <a:endParaRPr dirty="0"/>
          </a:p>
          <a:p>
            <a:pPr marL="285750" marR="0" lvl="0" indent="-171450" algn="l" rtl="0">
              <a:spcBef>
                <a:spcPts val="0"/>
              </a:spcBef>
              <a:spcAft>
                <a:spcPts val="0"/>
              </a:spcAft>
              <a:buClr>
                <a:schemeClr val="dk1"/>
              </a:buClr>
              <a:buSzPts val="1600"/>
              <a:buFont typeface="Arial"/>
              <a:buChar char="•"/>
            </a:pPr>
            <a:r>
              <a:rPr lang="fr-FR" sz="1600" dirty="0">
                <a:solidFill>
                  <a:schemeClr val="dk1"/>
                </a:solidFill>
                <a:latin typeface="Calibri"/>
                <a:ea typeface="Calibri"/>
                <a:cs typeface="Calibri"/>
                <a:sym typeface="Calibri"/>
              </a:rPr>
              <a:t>Engage</a:t>
            </a:r>
            <a:endParaRPr sz="16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600"/>
              <a:buFont typeface="Arial"/>
              <a:buChar char="•"/>
            </a:pPr>
            <a:r>
              <a:rPr lang="fr-FR" sz="1600" dirty="0" err="1">
                <a:solidFill>
                  <a:schemeClr val="dk1"/>
                </a:solidFill>
                <a:latin typeface="Calibri"/>
                <a:ea typeface="Calibri"/>
                <a:cs typeface="Calibri"/>
                <a:sym typeface="Calibri"/>
              </a:rPr>
              <a:t>Review</a:t>
            </a:r>
            <a:endParaRPr sz="1600" dirty="0">
              <a:solidFill>
                <a:schemeClr val="dk1"/>
              </a:solidFill>
              <a:latin typeface="Calibri"/>
              <a:ea typeface="Calibri"/>
              <a:cs typeface="Calibri"/>
              <a:sym typeface="Calibri"/>
            </a:endParaRPr>
          </a:p>
          <a:p>
            <a:pPr marL="114300" marR="0" lvl="0" indent="0" algn="l" rtl="0">
              <a:spcBef>
                <a:spcPts val="0"/>
              </a:spcBef>
              <a:spcAft>
                <a:spcPts val="0"/>
              </a:spcAft>
              <a:buNone/>
            </a:pPr>
            <a:endParaRPr sz="1200" dirty="0">
              <a:solidFill>
                <a:srgbClr val="000000"/>
              </a:solidFill>
              <a:latin typeface="Calibri"/>
              <a:ea typeface="Calibri"/>
              <a:cs typeface="Calibri"/>
              <a:sym typeface="Calibri"/>
            </a:endParaRPr>
          </a:p>
          <a:p>
            <a:pPr marL="114300" marR="0" lvl="0" indent="0" algn="l" rtl="0">
              <a:spcBef>
                <a:spcPts val="0"/>
              </a:spcBef>
              <a:spcAft>
                <a:spcPts val="0"/>
              </a:spcAft>
              <a:buNone/>
            </a:pPr>
            <a:endParaRPr sz="1800" dirty="0">
              <a:solidFill>
                <a:srgbClr val="000000"/>
              </a:solidFill>
              <a:latin typeface="Calibri"/>
              <a:ea typeface="Calibri"/>
              <a:cs typeface="Calibri"/>
              <a:sym typeface="Calibri"/>
            </a:endParaRPr>
          </a:p>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2"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1291" y="1676400"/>
            <a:ext cx="4857750" cy="32385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44">
                                            <p:txEl>
                                              <p:pRg st="2" end="2"/>
                                            </p:txEl>
                                          </p:spTgt>
                                        </p:tgtEl>
                                        <p:attrNameLst>
                                          <p:attrName>style.visibility</p:attrName>
                                        </p:attrNameLst>
                                      </p:cBhvr>
                                      <p:to>
                                        <p:strVal val="visible"/>
                                      </p:to>
                                    </p:set>
                                    <p:anim calcmode="lin" valueType="num">
                                      <p:cBhvr>
                                        <p:cTn id="7" dur="1000" fill="hold"/>
                                        <p:tgtEl>
                                          <p:spTgt spid="344">
                                            <p:txEl>
                                              <p:pRg st="2" end="2"/>
                                            </p:txEl>
                                          </p:spTgt>
                                        </p:tgtEl>
                                        <p:attrNameLst>
                                          <p:attrName>ppt_w</p:attrName>
                                        </p:attrNameLst>
                                      </p:cBhvr>
                                      <p:tavLst>
                                        <p:tav tm="0">
                                          <p:val>
                                            <p:strVal val="#ppt_w*0.70"/>
                                          </p:val>
                                        </p:tav>
                                        <p:tav tm="100000">
                                          <p:val>
                                            <p:strVal val="#ppt_w"/>
                                          </p:val>
                                        </p:tav>
                                      </p:tavLst>
                                    </p:anim>
                                    <p:anim calcmode="lin" valueType="num">
                                      <p:cBhvr>
                                        <p:cTn id="8" dur="1000" fill="hold"/>
                                        <p:tgtEl>
                                          <p:spTgt spid="344">
                                            <p:txEl>
                                              <p:pRg st="2" end="2"/>
                                            </p:txEl>
                                          </p:spTgt>
                                        </p:tgtEl>
                                        <p:attrNameLst>
                                          <p:attrName>ppt_h</p:attrName>
                                        </p:attrNameLst>
                                      </p:cBhvr>
                                      <p:tavLst>
                                        <p:tav tm="0">
                                          <p:val>
                                            <p:strVal val="#ppt_h"/>
                                          </p:val>
                                        </p:tav>
                                        <p:tav tm="100000">
                                          <p:val>
                                            <p:strVal val="#ppt_h"/>
                                          </p:val>
                                        </p:tav>
                                      </p:tavLst>
                                    </p:anim>
                                    <p:animEffect transition="in" filter="fade">
                                      <p:cBhvr>
                                        <p:cTn id="9" dur="1000"/>
                                        <p:tgtEl>
                                          <p:spTgt spid="344">
                                            <p:txEl>
                                              <p:pRg st="2" end="2"/>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344">
                                            <p:txEl>
                                              <p:pRg st="3" end="3"/>
                                            </p:txEl>
                                          </p:spTgt>
                                        </p:tgtEl>
                                        <p:attrNameLst>
                                          <p:attrName>style.visibility</p:attrName>
                                        </p:attrNameLst>
                                      </p:cBhvr>
                                      <p:to>
                                        <p:strVal val="visible"/>
                                      </p:to>
                                    </p:set>
                                    <p:anim calcmode="lin" valueType="num">
                                      <p:cBhvr>
                                        <p:cTn id="12" dur="1000" fill="hold"/>
                                        <p:tgtEl>
                                          <p:spTgt spid="344">
                                            <p:txEl>
                                              <p:pRg st="3" end="3"/>
                                            </p:txEl>
                                          </p:spTgt>
                                        </p:tgtEl>
                                        <p:attrNameLst>
                                          <p:attrName>ppt_w</p:attrName>
                                        </p:attrNameLst>
                                      </p:cBhvr>
                                      <p:tavLst>
                                        <p:tav tm="0">
                                          <p:val>
                                            <p:strVal val="#ppt_w*0.70"/>
                                          </p:val>
                                        </p:tav>
                                        <p:tav tm="100000">
                                          <p:val>
                                            <p:strVal val="#ppt_w"/>
                                          </p:val>
                                        </p:tav>
                                      </p:tavLst>
                                    </p:anim>
                                    <p:anim calcmode="lin" valueType="num">
                                      <p:cBhvr>
                                        <p:cTn id="13" dur="1000" fill="hold"/>
                                        <p:tgtEl>
                                          <p:spTgt spid="344">
                                            <p:txEl>
                                              <p:pRg st="3" end="3"/>
                                            </p:txEl>
                                          </p:spTgt>
                                        </p:tgtEl>
                                        <p:attrNameLst>
                                          <p:attrName>ppt_h</p:attrName>
                                        </p:attrNameLst>
                                      </p:cBhvr>
                                      <p:tavLst>
                                        <p:tav tm="0">
                                          <p:val>
                                            <p:strVal val="#ppt_h"/>
                                          </p:val>
                                        </p:tav>
                                        <p:tav tm="100000">
                                          <p:val>
                                            <p:strVal val="#ppt_h"/>
                                          </p:val>
                                        </p:tav>
                                      </p:tavLst>
                                    </p:anim>
                                    <p:animEffect transition="in" filter="fade">
                                      <p:cBhvr>
                                        <p:cTn id="14" dur="1000"/>
                                        <p:tgtEl>
                                          <p:spTgt spid="344">
                                            <p:txEl>
                                              <p:pRg st="3" end="3"/>
                                            </p:txEl>
                                          </p:spTgt>
                                        </p:tgtEl>
                                      </p:cBhvr>
                                    </p:animEffect>
                                  </p:childTnLst>
                                </p:cTn>
                              </p:par>
                              <p:par>
                                <p:cTn id="15" presetID="55" presetClass="entr" presetSubtype="0" fill="hold" nodeType="withEffect">
                                  <p:stCondLst>
                                    <p:cond delay="0"/>
                                  </p:stCondLst>
                                  <p:childTnLst>
                                    <p:set>
                                      <p:cBhvr>
                                        <p:cTn id="16" dur="1" fill="hold">
                                          <p:stCondLst>
                                            <p:cond delay="0"/>
                                          </p:stCondLst>
                                        </p:cTn>
                                        <p:tgtEl>
                                          <p:spTgt spid="344">
                                            <p:txEl>
                                              <p:pRg st="4" end="4"/>
                                            </p:txEl>
                                          </p:spTgt>
                                        </p:tgtEl>
                                        <p:attrNameLst>
                                          <p:attrName>style.visibility</p:attrName>
                                        </p:attrNameLst>
                                      </p:cBhvr>
                                      <p:to>
                                        <p:strVal val="visible"/>
                                      </p:to>
                                    </p:set>
                                    <p:anim calcmode="lin" valueType="num">
                                      <p:cBhvr>
                                        <p:cTn id="17" dur="1000" fill="hold"/>
                                        <p:tgtEl>
                                          <p:spTgt spid="344">
                                            <p:txEl>
                                              <p:pRg st="4" end="4"/>
                                            </p:txEl>
                                          </p:spTgt>
                                        </p:tgtEl>
                                        <p:attrNameLst>
                                          <p:attrName>ppt_w</p:attrName>
                                        </p:attrNameLst>
                                      </p:cBhvr>
                                      <p:tavLst>
                                        <p:tav tm="0">
                                          <p:val>
                                            <p:strVal val="#ppt_w*0.70"/>
                                          </p:val>
                                        </p:tav>
                                        <p:tav tm="100000">
                                          <p:val>
                                            <p:strVal val="#ppt_w"/>
                                          </p:val>
                                        </p:tav>
                                      </p:tavLst>
                                    </p:anim>
                                    <p:anim calcmode="lin" valueType="num">
                                      <p:cBhvr>
                                        <p:cTn id="18" dur="1000" fill="hold"/>
                                        <p:tgtEl>
                                          <p:spTgt spid="344">
                                            <p:txEl>
                                              <p:pRg st="4" end="4"/>
                                            </p:txEl>
                                          </p:spTgt>
                                        </p:tgtEl>
                                        <p:attrNameLst>
                                          <p:attrName>ppt_h</p:attrName>
                                        </p:attrNameLst>
                                      </p:cBhvr>
                                      <p:tavLst>
                                        <p:tav tm="0">
                                          <p:val>
                                            <p:strVal val="#ppt_h"/>
                                          </p:val>
                                        </p:tav>
                                        <p:tav tm="100000">
                                          <p:val>
                                            <p:strVal val="#ppt_h"/>
                                          </p:val>
                                        </p:tav>
                                      </p:tavLst>
                                    </p:anim>
                                    <p:animEffect transition="in" filter="fade">
                                      <p:cBhvr>
                                        <p:cTn id="19" dur="1000"/>
                                        <p:tgtEl>
                                          <p:spTgt spid="344">
                                            <p:txEl>
                                              <p:pRg st="4" end="4"/>
                                            </p:txEl>
                                          </p:spTgt>
                                        </p:tgtEl>
                                      </p:cBhvr>
                                    </p:animEffect>
                                  </p:childTnLst>
                                </p:cTn>
                              </p:par>
                              <p:par>
                                <p:cTn id="20" presetID="55" presetClass="entr" presetSubtype="0" fill="hold" nodeType="withEffect">
                                  <p:stCondLst>
                                    <p:cond delay="0"/>
                                  </p:stCondLst>
                                  <p:childTnLst>
                                    <p:set>
                                      <p:cBhvr>
                                        <p:cTn id="21" dur="1" fill="hold">
                                          <p:stCondLst>
                                            <p:cond delay="0"/>
                                          </p:stCondLst>
                                        </p:cTn>
                                        <p:tgtEl>
                                          <p:spTgt spid="344">
                                            <p:txEl>
                                              <p:pRg st="5" end="5"/>
                                            </p:txEl>
                                          </p:spTgt>
                                        </p:tgtEl>
                                        <p:attrNameLst>
                                          <p:attrName>style.visibility</p:attrName>
                                        </p:attrNameLst>
                                      </p:cBhvr>
                                      <p:to>
                                        <p:strVal val="visible"/>
                                      </p:to>
                                    </p:set>
                                    <p:anim calcmode="lin" valueType="num">
                                      <p:cBhvr>
                                        <p:cTn id="22" dur="1000" fill="hold"/>
                                        <p:tgtEl>
                                          <p:spTgt spid="344">
                                            <p:txEl>
                                              <p:pRg st="5" end="5"/>
                                            </p:txEl>
                                          </p:spTgt>
                                        </p:tgtEl>
                                        <p:attrNameLst>
                                          <p:attrName>ppt_w</p:attrName>
                                        </p:attrNameLst>
                                      </p:cBhvr>
                                      <p:tavLst>
                                        <p:tav tm="0">
                                          <p:val>
                                            <p:strVal val="#ppt_w*0.70"/>
                                          </p:val>
                                        </p:tav>
                                        <p:tav tm="100000">
                                          <p:val>
                                            <p:strVal val="#ppt_w"/>
                                          </p:val>
                                        </p:tav>
                                      </p:tavLst>
                                    </p:anim>
                                    <p:anim calcmode="lin" valueType="num">
                                      <p:cBhvr>
                                        <p:cTn id="23" dur="1000" fill="hold"/>
                                        <p:tgtEl>
                                          <p:spTgt spid="344">
                                            <p:txEl>
                                              <p:pRg st="5" end="5"/>
                                            </p:txEl>
                                          </p:spTgt>
                                        </p:tgtEl>
                                        <p:attrNameLst>
                                          <p:attrName>ppt_h</p:attrName>
                                        </p:attrNameLst>
                                      </p:cBhvr>
                                      <p:tavLst>
                                        <p:tav tm="0">
                                          <p:val>
                                            <p:strVal val="#ppt_h"/>
                                          </p:val>
                                        </p:tav>
                                        <p:tav tm="100000">
                                          <p:val>
                                            <p:strVal val="#ppt_h"/>
                                          </p:val>
                                        </p:tav>
                                      </p:tavLst>
                                    </p:anim>
                                    <p:animEffect transition="in" filter="fade">
                                      <p:cBhvr>
                                        <p:cTn id="24" dur="1000"/>
                                        <p:tgtEl>
                                          <p:spTgt spid="344">
                                            <p:txEl>
                                              <p:pRg st="5" end="5"/>
                                            </p:txEl>
                                          </p:spTgt>
                                        </p:tgtEl>
                                      </p:cBhvr>
                                    </p:animEffect>
                                  </p:childTnLst>
                                </p:cTn>
                              </p:par>
                              <p:par>
                                <p:cTn id="25" presetID="55" presetClass="entr" presetSubtype="0" fill="hold" nodeType="withEffect">
                                  <p:stCondLst>
                                    <p:cond delay="0"/>
                                  </p:stCondLst>
                                  <p:childTnLst>
                                    <p:set>
                                      <p:cBhvr>
                                        <p:cTn id="26" dur="1" fill="hold">
                                          <p:stCondLst>
                                            <p:cond delay="0"/>
                                          </p:stCondLst>
                                        </p:cTn>
                                        <p:tgtEl>
                                          <p:spTgt spid="344">
                                            <p:txEl>
                                              <p:pRg st="6" end="6"/>
                                            </p:txEl>
                                          </p:spTgt>
                                        </p:tgtEl>
                                        <p:attrNameLst>
                                          <p:attrName>style.visibility</p:attrName>
                                        </p:attrNameLst>
                                      </p:cBhvr>
                                      <p:to>
                                        <p:strVal val="visible"/>
                                      </p:to>
                                    </p:set>
                                    <p:anim calcmode="lin" valueType="num">
                                      <p:cBhvr>
                                        <p:cTn id="27" dur="1000" fill="hold"/>
                                        <p:tgtEl>
                                          <p:spTgt spid="344">
                                            <p:txEl>
                                              <p:pRg st="6" end="6"/>
                                            </p:txEl>
                                          </p:spTgt>
                                        </p:tgtEl>
                                        <p:attrNameLst>
                                          <p:attrName>ppt_w</p:attrName>
                                        </p:attrNameLst>
                                      </p:cBhvr>
                                      <p:tavLst>
                                        <p:tav tm="0">
                                          <p:val>
                                            <p:strVal val="#ppt_w*0.70"/>
                                          </p:val>
                                        </p:tav>
                                        <p:tav tm="100000">
                                          <p:val>
                                            <p:strVal val="#ppt_w"/>
                                          </p:val>
                                        </p:tav>
                                      </p:tavLst>
                                    </p:anim>
                                    <p:anim calcmode="lin" valueType="num">
                                      <p:cBhvr>
                                        <p:cTn id="28" dur="1000" fill="hold"/>
                                        <p:tgtEl>
                                          <p:spTgt spid="344">
                                            <p:txEl>
                                              <p:pRg st="6" end="6"/>
                                            </p:txEl>
                                          </p:spTgt>
                                        </p:tgtEl>
                                        <p:attrNameLst>
                                          <p:attrName>ppt_h</p:attrName>
                                        </p:attrNameLst>
                                      </p:cBhvr>
                                      <p:tavLst>
                                        <p:tav tm="0">
                                          <p:val>
                                            <p:strVal val="#ppt_h"/>
                                          </p:val>
                                        </p:tav>
                                        <p:tav tm="100000">
                                          <p:val>
                                            <p:strVal val="#ppt_h"/>
                                          </p:val>
                                        </p:tav>
                                      </p:tavLst>
                                    </p:anim>
                                    <p:animEffect transition="in" filter="fade">
                                      <p:cBhvr>
                                        <p:cTn id="29" dur="1000"/>
                                        <p:tgtEl>
                                          <p:spTgt spid="344">
                                            <p:txEl>
                                              <p:pRg st="6" end="6"/>
                                            </p:txEl>
                                          </p:spTgt>
                                        </p:tgtEl>
                                      </p:cBhvr>
                                    </p:animEffect>
                                  </p:childTnLst>
                                </p:cTn>
                              </p:par>
                              <p:par>
                                <p:cTn id="30" presetID="55" presetClass="entr" presetSubtype="0" fill="hold" nodeType="withEffect">
                                  <p:stCondLst>
                                    <p:cond delay="0"/>
                                  </p:stCondLst>
                                  <p:childTnLst>
                                    <p:set>
                                      <p:cBhvr>
                                        <p:cTn id="31" dur="1" fill="hold">
                                          <p:stCondLst>
                                            <p:cond delay="0"/>
                                          </p:stCondLst>
                                        </p:cTn>
                                        <p:tgtEl>
                                          <p:spTgt spid="344">
                                            <p:txEl>
                                              <p:pRg st="7" end="7"/>
                                            </p:txEl>
                                          </p:spTgt>
                                        </p:tgtEl>
                                        <p:attrNameLst>
                                          <p:attrName>style.visibility</p:attrName>
                                        </p:attrNameLst>
                                      </p:cBhvr>
                                      <p:to>
                                        <p:strVal val="visible"/>
                                      </p:to>
                                    </p:set>
                                    <p:anim calcmode="lin" valueType="num">
                                      <p:cBhvr>
                                        <p:cTn id="32" dur="1000" fill="hold"/>
                                        <p:tgtEl>
                                          <p:spTgt spid="344">
                                            <p:txEl>
                                              <p:pRg st="7" end="7"/>
                                            </p:txEl>
                                          </p:spTgt>
                                        </p:tgtEl>
                                        <p:attrNameLst>
                                          <p:attrName>ppt_w</p:attrName>
                                        </p:attrNameLst>
                                      </p:cBhvr>
                                      <p:tavLst>
                                        <p:tav tm="0">
                                          <p:val>
                                            <p:strVal val="#ppt_w*0.70"/>
                                          </p:val>
                                        </p:tav>
                                        <p:tav tm="100000">
                                          <p:val>
                                            <p:strVal val="#ppt_w"/>
                                          </p:val>
                                        </p:tav>
                                      </p:tavLst>
                                    </p:anim>
                                    <p:anim calcmode="lin" valueType="num">
                                      <p:cBhvr>
                                        <p:cTn id="33" dur="1000" fill="hold"/>
                                        <p:tgtEl>
                                          <p:spTgt spid="344">
                                            <p:txEl>
                                              <p:pRg st="7" end="7"/>
                                            </p:txEl>
                                          </p:spTgt>
                                        </p:tgtEl>
                                        <p:attrNameLst>
                                          <p:attrName>ppt_h</p:attrName>
                                        </p:attrNameLst>
                                      </p:cBhvr>
                                      <p:tavLst>
                                        <p:tav tm="0">
                                          <p:val>
                                            <p:strVal val="#ppt_h"/>
                                          </p:val>
                                        </p:tav>
                                        <p:tav tm="100000">
                                          <p:val>
                                            <p:strVal val="#ppt_h"/>
                                          </p:val>
                                        </p:tav>
                                      </p:tavLst>
                                    </p:anim>
                                    <p:animEffect transition="in" filter="fade">
                                      <p:cBhvr>
                                        <p:cTn id="34" dur="1000"/>
                                        <p:tgtEl>
                                          <p:spTgt spid="34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grpSp>
        <p:nvGrpSpPr>
          <p:cNvPr id="350" name="Google Shape;350;p32"/>
          <p:cNvGrpSpPr/>
          <p:nvPr/>
        </p:nvGrpSpPr>
        <p:grpSpPr>
          <a:xfrm>
            <a:off x="428857" y="485286"/>
            <a:ext cx="6086243" cy="565433"/>
            <a:chOff x="801127" y="403254"/>
            <a:chExt cx="4331352" cy="565433"/>
          </a:xfrm>
        </p:grpSpPr>
        <p:sp>
          <p:nvSpPr>
            <p:cNvPr id="351" name="Google Shape;351;p32"/>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352" name="Google Shape;352;p32"/>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Volunteer Organisations</a:t>
              </a:r>
              <a:endParaRPr sz="1800">
                <a:solidFill>
                  <a:srgbClr val="FFFFFF"/>
                </a:solidFill>
                <a:latin typeface="Open Sans SemiBold"/>
                <a:ea typeface="Open Sans SemiBold"/>
                <a:cs typeface="Open Sans SemiBold"/>
                <a:sym typeface="Open Sans SemiBold"/>
              </a:endParaRPr>
            </a:p>
          </p:txBody>
        </p:sp>
      </p:grpSp>
      <p:sp>
        <p:nvSpPr>
          <p:cNvPr id="353" name="Google Shape;353;p32"/>
          <p:cNvSpPr/>
          <p:nvPr/>
        </p:nvSpPr>
        <p:spPr>
          <a:xfrm>
            <a:off x="388167" y="1838697"/>
            <a:ext cx="3793282" cy="3323987"/>
          </a:xfrm>
          <a:prstGeom prst="rect">
            <a:avLst/>
          </a:prstGeom>
          <a:noFill/>
          <a:ln>
            <a:solidFill>
              <a:srgbClr val="FF0000"/>
            </a:solidFill>
          </a:ln>
        </p:spPr>
        <p:txBody>
          <a:bodyPr spcFirstLastPara="1" wrap="square" lIns="91425" tIns="45700" rIns="91425" bIns="45700" anchor="t" anchorCtr="0">
            <a:spAutoFit/>
          </a:bodyPr>
          <a:lstStyle/>
          <a:p>
            <a:pPr marL="114300" marR="0" lvl="0" indent="0" algn="l" rtl="0">
              <a:spcBef>
                <a:spcPts val="0"/>
              </a:spcBef>
              <a:spcAft>
                <a:spcPts val="0"/>
              </a:spcAft>
              <a:buClr>
                <a:schemeClr val="dk2"/>
              </a:buClr>
              <a:buSzPts val="1800"/>
              <a:buFont typeface="Calibri"/>
              <a:buNone/>
            </a:pPr>
            <a:r>
              <a:rPr lang="fr-FR" sz="1800" b="1" dirty="0" err="1">
                <a:solidFill>
                  <a:schemeClr val="dk2"/>
                </a:solidFill>
                <a:latin typeface="Calibri"/>
                <a:ea typeface="Calibri"/>
                <a:cs typeface="Calibri"/>
                <a:sym typeface="Calibri"/>
              </a:rPr>
              <a:t>Volunteer</a:t>
            </a:r>
            <a:r>
              <a:rPr lang="fr-FR" sz="1800" b="1" dirty="0">
                <a:solidFill>
                  <a:schemeClr val="dk2"/>
                </a:solidFill>
                <a:latin typeface="Calibri"/>
                <a:ea typeface="Calibri"/>
                <a:cs typeface="Calibri"/>
                <a:sym typeface="Calibri"/>
              </a:rPr>
              <a:t> organisations</a:t>
            </a:r>
            <a:endParaRPr dirty="0"/>
          </a:p>
          <a:p>
            <a:pPr marL="114300" marR="0" lvl="0" indent="0" algn="l" rtl="0">
              <a:spcBef>
                <a:spcPts val="0"/>
              </a:spcBef>
              <a:spcAft>
                <a:spcPts val="0"/>
              </a:spcAft>
              <a:buClr>
                <a:schemeClr val="dk1"/>
              </a:buClr>
              <a:buSzPts val="1600"/>
              <a:buFont typeface="Calibri"/>
              <a:buNone/>
            </a:pPr>
            <a:endParaRPr sz="1600" dirty="0">
              <a:solidFill>
                <a:schemeClr val="dk1"/>
              </a:solidFill>
              <a:latin typeface="Calibri"/>
              <a:ea typeface="Calibri"/>
              <a:cs typeface="Calibri"/>
              <a:sym typeface="Calibri"/>
            </a:endParaRPr>
          </a:p>
          <a:p>
            <a:pPr marL="114300" marR="0" lvl="0" indent="0" algn="l" rtl="0">
              <a:spcBef>
                <a:spcPts val="0"/>
              </a:spcBef>
              <a:spcAft>
                <a:spcPts val="0"/>
              </a:spcAft>
              <a:buClr>
                <a:schemeClr val="dk1"/>
              </a:buClr>
              <a:buSzPts val="1600"/>
              <a:buFont typeface="Calibri"/>
              <a:buNone/>
            </a:pPr>
            <a:r>
              <a:rPr lang="fr-FR" sz="1600" dirty="0" err="1">
                <a:solidFill>
                  <a:schemeClr val="dk1"/>
                </a:solidFill>
                <a:latin typeface="Calibri"/>
                <a:ea typeface="Calibri"/>
                <a:cs typeface="Calibri"/>
                <a:sym typeface="Calibri"/>
              </a:rPr>
              <a:t>Big</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Volunteer</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Involving</a:t>
            </a:r>
            <a:r>
              <a:rPr lang="fr-FR" sz="1600" dirty="0">
                <a:solidFill>
                  <a:schemeClr val="dk1"/>
                </a:solidFill>
                <a:latin typeface="Calibri"/>
                <a:ea typeface="Calibri"/>
                <a:cs typeface="Calibri"/>
                <a:sym typeface="Calibri"/>
              </a:rPr>
              <a:t> Organisations </a:t>
            </a:r>
            <a:r>
              <a:rPr lang="fr-FR" sz="1600" dirty="0" err="1">
                <a:solidFill>
                  <a:schemeClr val="dk1"/>
                </a:solidFill>
                <a:latin typeface="Calibri"/>
                <a:ea typeface="Calibri"/>
                <a:cs typeface="Calibri"/>
                <a:sym typeface="Calibri"/>
              </a:rPr>
              <a:t>may</a:t>
            </a:r>
            <a:r>
              <a:rPr lang="fr-FR" sz="1600" dirty="0">
                <a:solidFill>
                  <a:schemeClr val="dk1"/>
                </a:solidFill>
                <a:latin typeface="Calibri"/>
                <a:ea typeface="Calibri"/>
                <a:cs typeface="Calibri"/>
                <a:sym typeface="Calibri"/>
              </a:rPr>
              <a:t> have a Manager, a </a:t>
            </a:r>
            <a:r>
              <a:rPr lang="fr-FR" sz="1600" dirty="0" err="1">
                <a:solidFill>
                  <a:schemeClr val="dk1"/>
                </a:solidFill>
                <a:latin typeface="Calibri"/>
                <a:ea typeface="Calibri"/>
                <a:cs typeface="Calibri"/>
                <a:sym typeface="Calibri"/>
              </a:rPr>
              <a:t>Volunteer</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Coordinator</a:t>
            </a:r>
            <a:r>
              <a:rPr lang="fr-FR" sz="1600" dirty="0">
                <a:solidFill>
                  <a:schemeClr val="dk1"/>
                </a:solidFill>
                <a:latin typeface="Calibri"/>
                <a:ea typeface="Calibri"/>
                <a:cs typeface="Calibri"/>
                <a:sym typeface="Calibri"/>
              </a:rPr>
              <a:t> and a </a:t>
            </a:r>
            <a:r>
              <a:rPr lang="fr-FR" sz="1600" dirty="0" err="1">
                <a:solidFill>
                  <a:schemeClr val="dk1"/>
                </a:solidFill>
                <a:latin typeface="Calibri"/>
                <a:ea typeface="Calibri"/>
                <a:cs typeface="Calibri"/>
                <a:sym typeface="Calibri"/>
              </a:rPr>
              <a:t>Supervisor</a:t>
            </a:r>
            <a:r>
              <a:rPr lang="fr-FR" sz="1600" dirty="0">
                <a:solidFill>
                  <a:schemeClr val="dk1"/>
                </a:solidFill>
                <a:latin typeface="Calibri"/>
                <a:ea typeface="Calibri"/>
                <a:cs typeface="Calibri"/>
                <a:sym typeface="Calibri"/>
              </a:rPr>
              <a:t>.</a:t>
            </a:r>
            <a:endParaRPr dirty="0"/>
          </a:p>
          <a:p>
            <a:pPr marL="114300" marR="0" lvl="0" indent="0" algn="l" rtl="0">
              <a:spcBef>
                <a:spcPts val="0"/>
              </a:spcBef>
              <a:spcAft>
                <a:spcPts val="0"/>
              </a:spcAft>
              <a:buClr>
                <a:schemeClr val="dk1"/>
              </a:buClr>
              <a:buSzPts val="1600"/>
              <a:buFont typeface="Calibri"/>
              <a:buNone/>
            </a:pPr>
            <a:endParaRPr sz="1600" dirty="0">
              <a:solidFill>
                <a:schemeClr val="dk1"/>
              </a:solidFill>
              <a:latin typeface="Calibri"/>
              <a:ea typeface="Calibri"/>
              <a:cs typeface="Calibri"/>
              <a:sym typeface="Calibri"/>
            </a:endParaRPr>
          </a:p>
          <a:p>
            <a:pPr marL="114300" marR="0" lvl="0" indent="0" algn="l" rtl="0">
              <a:spcBef>
                <a:spcPts val="0"/>
              </a:spcBef>
              <a:spcAft>
                <a:spcPts val="0"/>
              </a:spcAft>
              <a:buClr>
                <a:schemeClr val="dk1"/>
              </a:buClr>
              <a:buSzPts val="1600"/>
              <a:buFont typeface="Calibri"/>
              <a:buNone/>
            </a:pPr>
            <a:r>
              <a:rPr lang="fr-FR" sz="1600" dirty="0">
                <a:solidFill>
                  <a:schemeClr val="dk1"/>
                </a:solidFill>
                <a:latin typeface="Calibri"/>
                <a:ea typeface="Calibri"/>
                <a:cs typeface="Calibri"/>
                <a:sym typeface="Calibri"/>
              </a:rPr>
              <a:t>Small </a:t>
            </a:r>
            <a:r>
              <a:rPr lang="fr-FR" sz="1600" dirty="0" err="1">
                <a:solidFill>
                  <a:schemeClr val="dk1"/>
                </a:solidFill>
                <a:latin typeface="Calibri"/>
                <a:ea typeface="Calibri"/>
                <a:cs typeface="Calibri"/>
                <a:sym typeface="Calibri"/>
              </a:rPr>
              <a:t>Volunteer</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Involving</a:t>
            </a:r>
            <a:r>
              <a:rPr lang="fr-FR" sz="1600" dirty="0">
                <a:solidFill>
                  <a:schemeClr val="dk1"/>
                </a:solidFill>
                <a:latin typeface="Calibri"/>
                <a:ea typeface="Calibri"/>
                <a:cs typeface="Calibri"/>
                <a:sym typeface="Calibri"/>
              </a:rPr>
              <a:t> Organisations </a:t>
            </a:r>
            <a:r>
              <a:rPr lang="fr-FR" sz="1600" dirty="0" err="1">
                <a:solidFill>
                  <a:schemeClr val="dk1"/>
                </a:solidFill>
                <a:latin typeface="Calibri"/>
                <a:ea typeface="Calibri"/>
                <a:cs typeface="Calibri"/>
                <a:sym typeface="Calibri"/>
              </a:rPr>
              <a:t>may</a:t>
            </a:r>
            <a:r>
              <a:rPr lang="fr-FR" sz="1600" dirty="0">
                <a:solidFill>
                  <a:schemeClr val="dk1"/>
                </a:solidFill>
                <a:latin typeface="Calibri"/>
                <a:ea typeface="Calibri"/>
                <a:cs typeface="Calibri"/>
                <a:sym typeface="Calibri"/>
              </a:rPr>
              <a:t> have </a:t>
            </a:r>
            <a:r>
              <a:rPr lang="fr-FR" sz="1600" dirty="0" err="1">
                <a:solidFill>
                  <a:schemeClr val="dk1"/>
                </a:solidFill>
                <a:latin typeface="Calibri"/>
                <a:ea typeface="Calibri"/>
                <a:cs typeface="Calibri"/>
                <a:sym typeface="Calibri"/>
              </a:rPr>
              <a:t>only</a:t>
            </a:r>
            <a:r>
              <a:rPr lang="fr-FR" sz="1600" dirty="0">
                <a:solidFill>
                  <a:schemeClr val="dk1"/>
                </a:solidFill>
                <a:latin typeface="Calibri"/>
                <a:ea typeface="Calibri"/>
                <a:cs typeface="Calibri"/>
                <a:sym typeface="Calibri"/>
              </a:rPr>
              <a:t> one </a:t>
            </a:r>
            <a:r>
              <a:rPr lang="fr-FR" sz="1600" dirty="0" err="1">
                <a:solidFill>
                  <a:schemeClr val="dk1"/>
                </a:solidFill>
                <a:latin typeface="Calibri"/>
                <a:ea typeface="Calibri"/>
                <a:cs typeface="Calibri"/>
                <a:sym typeface="Calibri"/>
              </a:rPr>
              <a:t>person</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doing</a:t>
            </a:r>
            <a:r>
              <a:rPr lang="fr-FR" sz="1600" dirty="0">
                <a:solidFill>
                  <a:schemeClr val="dk1"/>
                </a:solidFill>
                <a:latin typeface="Calibri"/>
                <a:ea typeface="Calibri"/>
                <a:cs typeface="Calibri"/>
                <a:sym typeface="Calibri"/>
              </a:rPr>
              <a:t> all the </a:t>
            </a:r>
            <a:r>
              <a:rPr lang="fr-FR" sz="1600" dirty="0" err="1">
                <a:solidFill>
                  <a:schemeClr val="dk1"/>
                </a:solidFill>
                <a:latin typeface="Calibri"/>
                <a:ea typeface="Calibri"/>
                <a:cs typeface="Calibri"/>
                <a:sym typeface="Calibri"/>
              </a:rPr>
              <a:t>roles</a:t>
            </a:r>
            <a:r>
              <a:rPr lang="fr-FR" sz="1600" dirty="0">
                <a:solidFill>
                  <a:schemeClr val="dk1"/>
                </a:solidFill>
                <a:latin typeface="Calibri"/>
                <a:ea typeface="Calibri"/>
                <a:cs typeface="Calibri"/>
                <a:sym typeface="Calibri"/>
              </a:rPr>
              <a:t>.</a:t>
            </a:r>
            <a:endParaRPr dirty="0"/>
          </a:p>
          <a:p>
            <a:pPr marL="114300" marR="0" lvl="0" indent="0" algn="l" rtl="0">
              <a:spcBef>
                <a:spcPts val="0"/>
              </a:spcBef>
              <a:spcAft>
                <a:spcPts val="0"/>
              </a:spcAft>
              <a:buClr>
                <a:schemeClr val="dk1"/>
              </a:buClr>
              <a:buSzPts val="1600"/>
              <a:buFont typeface="Calibri"/>
              <a:buNone/>
            </a:pPr>
            <a:endParaRPr sz="1600" dirty="0">
              <a:solidFill>
                <a:schemeClr val="dk1"/>
              </a:solidFill>
              <a:latin typeface="Calibri"/>
              <a:ea typeface="Calibri"/>
              <a:cs typeface="Calibri"/>
              <a:sym typeface="Calibri"/>
            </a:endParaRPr>
          </a:p>
          <a:p>
            <a:pPr marL="114300" marR="0" lvl="0" indent="0" algn="l" rtl="0">
              <a:spcBef>
                <a:spcPts val="0"/>
              </a:spcBef>
              <a:spcAft>
                <a:spcPts val="0"/>
              </a:spcAft>
              <a:buClr>
                <a:schemeClr val="dk1"/>
              </a:buClr>
              <a:buSzPts val="1600"/>
              <a:buFont typeface="Calibri"/>
              <a:buNone/>
            </a:pPr>
            <a:r>
              <a:rPr lang="fr-FR" sz="1600" dirty="0" err="1">
                <a:solidFill>
                  <a:schemeClr val="dk1"/>
                </a:solidFill>
                <a:latin typeface="Calibri"/>
                <a:ea typeface="Calibri"/>
                <a:cs typeface="Calibri"/>
                <a:sym typeface="Calibri"/>
              </a:rPr>
              <a:t>Some</a:t>
            </a:r>
            <a:r>
              <a:rPr lang="fr-FR" sz="1600" dirty="0">
                <a:solidFill>
                  <a:schemeClr val="dk1"/>
                </a:solidFill>
                <a:latin typeface="Calibri"/>
                <a:ea typeface="Calibri"/>
                <a:cs typeface="Calibri"/>
                <a:sym typeface="Calibri"/>
              </a:rPr>
              <a:t> of the Managers, </a:t>
            </a:r>
            <a:r>
              <a:rPr lang="fr-FR" sz="1600" dirty="0" err="1">
                <a:solidFill>
                  <a:schemeClr val="dk1"/>
                </a:solidFill>
                <a:latin typeface="Calibri"/>
                <a:ea typeface="Calibri"/>
                <a:cs typeface="Calibri"/>
                <a:sym typeface="Calibri"/>
              </a:rPr>
              <a:t>Coordinators</a:t>
            </a:r>
            <a:r>
              <a:rPr lang="fr-FR" sz="1600" dirty="0">
                <a:solidFill>
                  <a:schemeClr val="dk1"/>
                </a:solidFill>
                <a:latin typeface="Calibri"/>
                <a:ea typeface="Calibri"/>
                <a:cs typeface="Calibri"/>
                <a:sym typeface="Calibri"/>
              </a:rPr>
              <a:t> and </a:t>
            </a:r>
            <a:r>
              <a:rPr lang="fr-FR" sz="1600" dirty="0" err="1">
                <a:solidFill>
                  <a:schemeClr val="dk1"/>
                </a:solidFill>
                <a:latin typeface="Calibri"/>
                <a:ea typeface="Calibri"/>
                <a:cs typeface="Calibri"/>
                <a:sym typeface="Calibri"/>
              </a:rPr>
              <a:t>Supervisors</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you</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meet</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may</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also</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be</a:t>
            </a:r>
            <a:r>
              <a:rPr lang="fr-FR" sz="1600" dirty="0">
                <a:solidFill>
                  <a:schemeClr val="dk1"/>
                </a:solidFill>
                <a:latin typeface="Calibri"/>
                <a:ea typeface="Calibri"/>
                <a:cs typeface="Calibri"/>
                <a:sym typeface="Calibri"/>
              </a:rPr>
              <a:t> </a:t>
            </a:r>
            <a:r>
              <a:rPr lang="fr-FR" sz="1600" dirty="0" err="1">
                <a:solidFill>
                  <a:schemeClr val="dk1"/>
                </a:solidFill>
                <a:latin typeface="Calibri"/>
                <a:ea typeface="Calibri"/>
                <a:cs typeface="Calibri"/>
                <a:sym typeface="Calibri"/>
              </a:rPr>
              <a:t>volunteers</a:t>
            </a:r>
            <a:r>
              <a:rPr lang="fr-FR" sz="1600" dirty="0">
                <a:solidFill>
                  <a:schemeClr val="dk1"/>
                </a:solidFill>
                <a:latin typeface="Calibri"/>
                <a:ea typeface="Calibri"/>
                <a:cs typeface="Calibri"/>
                <a:sym typeface="Calibri"/>
              </a:rPr>
              <a:t>.</a:t>
            </a:r>
            <a:endParaRPr dirty="0"/>
          </a:p>
        </p:txBody>
      </p:sp>
      <p:pic>
        <p:nvPicPr>
          <p:cNvPr id="354" name="Google Shape;354;p32"/>
          <p:cNvPicPr preferRelativeResize="0"/>
          <p:nvPr/>
        </p:nvPicPr>
        <p:blipFill rotWithShape="1">
          <a:blip r:embed="rId3">
            <a:alphaModFix/>
          </a:blip>
          <a:srcRect/>
          <a:stretch/>
        </p:blipFill>
        <p:spPr>
          <a:xfrm>
            <a:off x="5875457" y="4647774"/>
            <a:ext cx="3268543" cy="2210226"/>
          </a:xfrm>
          <a:prstGeom prst="rect">
            <a:avLst/>
          </a:prstGeom>
          <a:noFill/>
          <a:ln>
            <a:noFill/>
          </a:ln>
        </p:spPr>
      </p:pic>
      <p:pic>
        <p:nvPicPr>
          <p:cNvPr id="9" name="Imag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8153" y="1981200"/>
            <a:ext cx="4272149" cy="28480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grpSp>
        <p:nvGrpSpPr>
          <p:cNvPr id="360" name="Google Shape;360;p33"/>
          <p:cNvGrpSpPr/>
          <p:nvPr/>
        </p:nvGrpSpPr>
        <p:grpSpPr>
          <a:xfrm>
            <a:off x="428857" y="485286"/>
            <a:ext cx="6086243" cy="565433"/>
            <a:chOff x="801127" y="403254"/>
            <a:chExt cx="4331352" cy="565433"/>
          </a:xfrm>
        </p:grpSpPr>
        <p:sp>
          <p:nvSpPr>
            <p:cNvPr id="361" name="Google Shape;361;p33"/>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362" name="Google Shape;362;p33"/>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Volunteer Organisations</a:t>
              </a:r>
              <a:endParaRPr sz="1800">
                <a:solidFill>
                  <a:srgbClr val="FFFFFF"/>
                </a:solidFill>
                <a:latin typeface="Open Sans SemiBold"/>
                <a:ea typeface="Open Sans SemiBold"/>
                <a:cs typeface="Open Sans SemiBold"/>
                <a:sym typeface="Open Sans SemiBold"/>
              </a:endParaRPr>
            </a:p>
          </p:txBody>
        </p:sp>
      </p:grpSp>
      <p:sp>
        <p:nvSpPr>
          <p:cNvPr id="363" name="Google Shape;363;p33"/>
          <p:cNvSpPr/>
          <p:nvPr/>
        </p:nvSpPr>
        <p:spPr>
          <a:xfrm>
            <a:off x="773031" y="1828800"/>
            <a:ext cx="3537282" cy="3908762"/>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2"/>
              </a:buClr>
              <a:buSzPts val="1800"/>
              <a:buFont typeface="Calibri"/>
              <a:buNone/>
            </a:pPr>
            <a:r>
              <a:rPr lang="fr-FR" sz="1800" b="1">
                <a:solidFill>
                  <a:schemeClr val="dk2"/>
                </a:solidFill>
                <a:latin typeface="Calibri"/>
                <a:ea typeface="Calibri"/>
                <a:cs typeface="Calibri"/>
                <a:sym typeface="Calibri"/>
              </a:rPr>
              <a:t>A Manager/Coordinator/ Supervisor  of Volunteers will:</a:t>
            </a:r>
            <a:endParaRPr/>
          </a:p>
          <a:p>
            <a:pPr marL="114300" marR="0" lvl="0" indent="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Interview you</a:t>
            </a:r>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Explain the volunteer position</a:t>
            </a:r>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Assist you with applying for police checks</a:t>
            </a:r>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Organise orientation and training</a:t>
            </a:r>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Help volunteers to get started</a:t>
            </a:r>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Be available for on-going support</a:t>
            </a:r>
            <a:endParaRPr/>
          </a:p>
          <a:p>
            <a:pPr marL="742950" marR="0" lvl="1" indent="-285750" algn="l" rtl="0">
              <a:spcBef>
                <a:spcPts val="0"/>
              </a:spcBef>
              <a:spcAft>
                <a:spcPts val="0"/>
              </a:spcAft>
              <a:buClr>
                <a:schemeClr val="dk1"/>
              </a:buClr>
              <a:buSzPts val="1600"/>
              <a:buFont typeface="Arial"/>
              <a:buChar char="•"/>
            </a:pPr>
            <a:r>
              <a:rPr lang="fr-FR" sz="1600" b="0" i="0" u="none" strike="noStrike" cap="none">
                <a:solidFill>
                  <a:schemeClr val="dk1"/>
                </a:solidFill>
                <a:latin typeface="Calibri"/>
                <a:ea typeface="Calibri"/>
                <a:cs typeface="Calibri"/>
                <a:sym typeface="Calibri"/>
              </a:rPr>
              <a:t>Review volunteer performance and provide feedback</a:t>
            </a:r>
            <a:endParaRPr/>
          </a:p>
          <a:p>
            <a:pPr marL="457200" marR="0" lvl="1" indent="0" algn="l" rtl="0">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364" name="Google Shape;364;p33"/>
          <p:cNvSpPr/>
          <p:nvPr/>
        </p:nvSpPr>
        <p:spPr>
          <a:xfrm>
            <a:off x="4965084" y="2508911"/>
            <a:ext cx="3493116" cy="1323439"/>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1"/>
              </a:buClr>
              <a:buSzPts val="1600"/>
              <a:buFont typeface="Calibri"/>
              <a:buNone/>
            </a:pPr>
            <a:r>
              <a:rPr lang="fr-FR" sz="1600">
                <a:solidFill>
                  <a:schemeClr val="dk1"/>
                </a:solidFill>
                <a:latin typeface="Calibri"/>
                <a:ea typeface="Calibri"/>
                <a:cs typeface="Calibri"/>
                <a:sym typeface="Calibri"/>
              </a:rPr>
              <a:t>The Manager/Coordinator/</a:t>
            </a:r>
            <a:endParaRPr/>
          </a:p>
          <a:p>
            <a:pPr marL="114300" marR="0" lvl="0" indent="0" algn="l" rtl="0">
              <a:spcBef>
                <a:spcPts val="0"/>
              </a:spcBef>
              <a:spcAft>
                <a:spcPts val="0"/>
              </a:spcAft>
              <a:buClr>
                <a:schemeClr val="dk1"/>
              </a:buClr>
              <a:buSzPts val="1600"/>
              <a:buFont typeface="Calibri"/>
              <a:buNone/>
            </a:pPr>
            <a:r>
              <a:rPr lang="fr-FR" sz="1600">
                <a:solidFill>
                  <a:schemeClr val="dk1"/>
                </a:solidFill>
                <a:latin typeface="Calibri"/>
                <a:ea typeface="Calibri"/>
                <a:cs typeface="Calibri"/>
                <a:sym typeface="Calibri"/>
              </a:rPr>
              <a:t>Supervisor of Volunteers is responsible for the delivery of the program so will want to help volunteers do their role well. </a:t>
            </a:r>
            <a:endParaRPr sz="1200">
              <a:solidFill>
                <a:schemeClr val="dk1"/>
              </a:solidFill>
              <a:latin typeface="Calibri"/>
              <a:ea typeface="Calibri"/>
              <a:cs typeface="Calibri"/>
              <a:sym typeface="Calibri"/>
            </a:endParaRPr>
          </a:p>
        </p:txBody>
      </p:sp>
      <p:pic>
        <p:nvPicPr>
          <p:cNvPr id="365" name="Google Shape;365;p33"/>
          <p:cNvPicPr preferRelativeResize="0"/>
          <p:nvPr/>
        </p:nvPicPr>
        <p:blipFill rotWithShape="1">
          <a:blip r:embed="rId3">
            <a:alphaModFix/>
          </a:blip>
          <a:srcRect/>
          <a:stretch/>
        </p:blipFill>
        <p:spPr>
          <a:xfrm>
            <a:off x="5875457" y="4647774"/>
            <a:ext cx="3268543" cy="22102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3"/>
                                        </p:tgtEl>
                                        <p:attrNameLst>
                                          <p:attrName>style.visibility</p:attrName>
                                        </p:attrNameLst>
                                      </p:cBhvr>
                                      <p:to>
                                        <p:strVal val="visible"/>
                                      </p:to>
                                    </p:set>
                                    <p:animEffect transition="in" filter="fade">
                                      <p:cBhvr>
                                        <p:cTn id="7" dur="500"/>
                                        <p:tgtEl>
                                          <p:spTgt spid="3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4"/>
                                        </p:tgtEl>
                                        <p:attrNameLst>
                                          <p:attrName>style.visibility</p:attrName>
                                        </p:attrNameLst>
                                      </p:cBhvr>
                                      <p:to>
                                        <p:strVal val="visible"/>
                                      </p:to>
                                    </p:set>
                                    <p:animEffect transition="in" filter="fade">
                                      <p:cBhvr>
                                        <p:cTn id="12" dur="500"/>
                                        <p:tgtEl>
                                          <p:spTgt spid="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texte 2"/>
          <p:cNvSpPr>
            <a:spLocks noGrp="1"/>
          </p:cNvSpPr>
          <p:nvPr>
            <p:ph type="body" idx="1"/>
          </p:nvPr>
        </p:nvSpPr>
        <p:spPr/>
        <p:txBody>
          <a:bodyPr/>
          <a:lstStyle/>
          <a:p>
            <a:endParaRPr lang="fr-FR" dirty="0"/>
          </a:p>
        </p:txBody>
      </p:sp>
      <p:grpSp>
        <p:nvGrpSpPr>
          <p:cNvPr id="4" name="Google Shape;371;p34"/>
          <p:cNvGrpSpPr/>
          <p:nvPr/>
        </p:nvGrpSpPr>
        <p:grpSpPr>
          <a:xfrm>
            <a:off x="1287365" y="1395303"/>
            <a:ext cx="6086243" cy="3685028"/>
            <a:chOff x="801127" y="403254"/>
            <a:chExt cx="4331352" cy="565433"/>
          </a:xfrm>
        </p:grpSpPr>
        <p:sp>
          <p:nvSpPr>
            <p:cNvPr id="5" name="Google Shape;372;p34"/>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6" name="Google Shape;373;p34"/>
            <p:cNvSpPr/>
            <p:nvPr/>
          </p:nvSpPr>
          <p:spPr>
            <a:xfrm>
              <a:off x="1145079" y="548033"/>
              <a:ext cx="3640350" cy="297815"/>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5400" b="1" dirty="0" err="1">
                  <a:solidFill>
                    <a:srgbClr val="FFFFFF"/>
                  </a:solidFill>
                  <a:latin typeface="Open Sans SemiBold"/>
                  <a:ea typeface="Open Sans SemiBold"/>
                  <a:cs typeface="Open Sans SemiBold"/>
                  <a:sym typeface="Open Sans SemiBold"/>
                </a:rPr>
                <a:t>Tunisian</a:t>
              </a:r>
              <a:r>
                <a:rPr lang="fr-FR" sz="5400" b="1" dirty="0">
                  <a:solidFill>
                    <a:srgbClr val="FFFFFF"/>
                  </a:solidFill>
                  <a:latin typeface="Open Sans SemiBold"/>
                  <a:ea typeface="Open Sans SemiBold"/>
                  <a:cs typeface="Open Sans SemiBold"/>
                  <a:sym typeface="Open Sans SemiBold"/>
                </a:rPr>
                <a:t> </a:t>
              </a:r>
              <a:r>
                <a:rPr lang="fr-FR" sz="5400" b="1" dirty="0" err="1">
                  <a:solidFill>
                    <a:srgbClr val="FFFFFF"/>
                  </a:solidFill>
                  <a:latin typeface="Open Sans SemiBold"/>
                  <a:ea typeface="Open Sans SemiBold"/>
                  <a:cs typeface="Open Sans SemiBold"/>
                  <a:sym typeface="Open Sans SemiBold"/>
                </a:rPr>
                <a:t>Examples</a:t>
              </a:r>
              <a:endParaRPr sz="5400" b="1" dirty="0">
                <a:solidFill>
                  <a:srgbClr val="FFFFFF"/>
                </a:solidFill>
                <a:latin typeface="Open Sans SemiBold"/>
                <a:ea typeface="Open Sans SemiBold"/>
                <a:cs typeface="Open Sans SemiBold"/>
                <a:sym typeface="Open Sans SemiBold"/>
              </a:endParaRPr>
            </a:p>
          </p:txBody>
        </p:sp>
      </p:grpSp>
    </p:spTree>
    <p:extLst>
      <p:ext uri="{BB962C8B-B14F-4D97-AF65-F5344CB8AC3E}">
        <p14:creationId xmlns:p14="http://schemas.microsoft.com/office/powerpoint/2010/main" val="3387571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pic>
        <p:nvPicPr>
          <p:cNvPr id="374" name="Google Shape;374;p34"/>
          <p:cNvPicPr preferRelativeResize="0"/>
          <p:nvPr/>
        </p:nvPicPr>
        <p:blipFill rotWithShape="1">
          <a:blip r:embed="rId3">
            <a:alphaModFix/>
          </a:blip>
          <a:srcRect/>
          <a:stretch/>
        </p:blipFill>
        <p:spPr>
          <a:xfrm>
            <a:off x="5875457" y="4647774"/>
            <a:ext cx="3268543" cy="2210226"/>
          </a:xfrm>
          <a:prstGeom prst="rect">
            <a:avLst/>
          </a:prstGeom>
          <a:noFill/>
          <a:ln>
            <a:noFill/>
          </a:ln>
        </p:spPr>
      </p:pic>
      <p:pic>
        <p:nvPicPr>
          <p:cNvPr id="375" name="Google Shape;375;p34" descr="Capture d’écran 2021-09-20 à 10.33.09.png"/>
          <p:cNvPicPr preferRelativeResize="0"/>
          <p:nvPr/>
        </p:nvPicPr>
        <p:blipFill rotWithShape="1">
          <a:blip r:embed="rId4">
            <a:alphaModFix/>
          </a:blip>
          <a:srcRect/>
          <a:stretch/>
        </p:blipFill>
        <p:spPr>
          <a:xfrm>
            <a:off x="0" y="876300"/>
            <a:ext cx="9144000" cy="5981700"/>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grpSp>
        <p:nvGrpSpPr>
          <p:cNvPr id="381" name="Google Shape;381;p35"/>
          <p:cNvGrpSpPr/>
          <p:nvPr/>
        </p:nvGrpSpPr>
        <p:grpSpPr>
          <a:xfrm>
            <a:off x="428857" y="485286"/>
            <a:ext cx="6086243" cy="565433"/>
            <a:chOff x="801127" y="403254"/>
            <a:chExt cx="4331352" cy="565433"/>
          </a:xfrm>
        </p:grpSpPr>
        <p:sp>
          <p:nvSpPr>
            <p:cNvPr id="382" name="Google Shape;382;p35"/>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383" name="Google Shape;383;p35"/>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Vocabulary</a:t>
              </a:r>
              <a:endParaRPr sz="1800">
                <a:solidFill>
                  <a:srgbClr val="FFFFFF"/>
                </a:solidFill>
                <a:latin typeface="Open Sans SemiBold"/>
                <a:ea typeface="Open Sans SemiBold"/>
                <a:cs typeface="Open Sans SemiBold"/>
                <a:sym typeface="Open Sans SemiBold"/>
              </a:endParaRPr>
            </a:p>
          </p:txBody>
        </p:sp>
      </p:grpSp>
      <p:pic>
        <p:nvPicPr>
          <p:cNvPr id="384" name="Google Shape;384;p35"/>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385" name="Google Shape;385;p35"/>
          <p:cNvSpPr txBox="1"/>
          <p:nvPr/>
        </p:nvSpPr>
        <p:spPr>
          <a:xfrm>
            <a:off x="549275" y="1481375"/>
            <a:ext cx="8042276" cy="6062425"/>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1F2C3F"/>
              </a:buClr>
              <a:buSzPts val="1800"/>
              <a:buFont typeface="Arial"/>
              <a:buChar char="•"/>
            </a:pPr>
            <a:r>
              <a:rPr lang="fr-FR" sz="1800" b="1">
                <a:solidFill>
                  <a:srgbClr val="1F2C3F"/>
                </a:solidFill>
                <a:latin typeface="Times"/>
                <a:ea typeface="Times"/>
                <a:cs typeface="Times"/>
                <a:sym typeface="Times"/>
              </a:rPr>
              <a:t>(to) volunteer (verb, noun) </a:t>
            </a:r>
            <a:r>
              <a:rPr lang="fr-FR" sz="1800">
                <a:solidFill>
                  <a:srgbClr val="1F2C3F"/>
                </a:solidFill>
                <a:latin typeface="Times"/>
                <a:ea typeface="Times"/>
                <a:cs typeface="Times"/>
                <a:sym typeface="Times"/>
              </a:rPr>
              <a:t>– to give your time, labour or skills for free to help a cause or event; someone who volunteers.</a:t>
            </a:r>
            <a:endParaRPr/>
          </a:p>
          <a:p>
            <a:pPr marL="228600" marR="0" lvl="0" indent="-228600" algn="l" rtl="0">
              <a:lnSpc>
                <a:spcPct val="90000"/>
              </a:lnSpc>
              <a:spcBef>
                <a:spcPts val="1000"/>
              </a:spcBef>
              <a:spcAft>
                <a:spcPts val="0"/>
              </a:spcAft>
              <a:buClr>
                <a:srgbClr val="1F2C3F"/>
              </a:buClr>
              <a:buSzPts val="1800"/>
              <a:buFont typeface="Arial"/>
              <a:buChar char="•"/>
            </a:pPr>
            <a:r>
              <a:rPr lang="fr-FR" sz="1800" b="1">
                <a:solidFill>
                  <a:srgbClr val="1F2C3F"/>
                </a:solidFill>
                <a:latin typeface="Times"/>
                <a:ea typeface="Times"/>
                <a:cs typeface="Times"/>
                <a:sym typeface="Times"/>
              </a:rPr>
              <a:t>the voluntary / third / not-for-profit sector (noun) </a:t>
            </a:r>
            <a:r>
              <a:rPr lang="fr-FR" sz="1800">
                <a:solidFill>
                  <a:srgbClr val="1F2C3F"/>
                </a:solidFill>
                <a:latin typeface="Times"/>
                <a:ea typeface="Times"/>
                <a:cs typeface="Times"/>
                <a:sym typeface="Times"/>
              </a:rPr>
              <a:t>– organisations whose purpose is to benefit society rather than to make a profit.</a:t>
            </a:r>
            <a:endParaRPr/>
          </a:p>
          <a:p>
            <a:pPr marL="228600" marR="0" lvl="0" indent="-228600" algn="l" rtl="0">
              <a:lnSpc>
                <a:spcPct val="90000"/>
              </a:lnSpc>
              <a:spcBef>
                <a:spcPts val="1000"/>
              </a:spcBef>
              <a:spcAft>
                <a:spcPts val="0"/>
              </a:spcAft>
              <a:buClr>
                <a:srgbClr val="1F2C3F"/>
              </a:buClr>
              <a:buSzPts val="1800"/>
              <a:buFont typeface="Arial"/>
              <a:buChar char="•"/>
            </a:pPr>
            <a:r>
              <a:rPr lang="fr-FR" sz="1800" b="1">
                <a:solidFill>
                  <a:srgbClr val="1F2C3F"/>
                </a:solidFill>
                <a:latin typeface="Times"/>
                <a:ea typeface="Times"/>
                <a:cs typeface="Times"/>
                <a:sym typeface="Times"/>
              </a:rPr>
              <a:t>gap year (noun) </a:t>
            </a:r>
            <a:r>
              <a:rPr lang="fr-FR" sz="1800">
                <a:solidFill>
                  <a:srgbClr val="1F2C3F"/>
                </a:solidFill>
                <a:latin typeface="Times"/>
                <a:ea typeface="Times"/>
                <a:cs typeface="Times"/>
                <a:sym typeface="Times"/>
              </a:rPr>
              <a:t>– a period of time, often before or after university, when people participate in a personal experience such as travelling or volunteering.</a:t>
            </a:r>
            <a:endParaRPr/>
          </a:p>
          <a:p>
            <a:pPr marL="228600" marR="0" lvl="0" indent="-228600" algn="l" rtl="0">
              <a:lnSpc>
                <a:spcPct val="90000"/>
              </a:lnSpc>
              <a:spcBef>
                <a:spcPts val="1000"/>
              </a:spcBef>
              <a:spcAft>
                <a:spcPts val="0"/>
              </a:spcAft>
              <a:buClr>
                <a:srgbClr val="1F2C3F"/>
              </a:buClr>
              <a:buSzPts val="1800"/>
              <a:buFont typeface="Arial"/>
              <a:buChar char="•"/>
            </a:pPr>
            <a:r>
              <a:rPr lang="fr-FR" sz="1800" b="1">
                <a:solidFill>
                  <a:srgbClr val="1F2C3F"/>
                </a:solidFill>
                <a:latin typeface="Times"/>
                <a:ea typeface="Times"/>
                <a:cs typeface="Times"/>
                <a:sym typeface="Times"/>
              </a:rPr>
              <a:t>worthy cause (noun) </a:t>
            </a:r>
            <a:r>
              <a:rPr lang="fr-FR" sz="1800">
                <a:solidFill>
                  <a:srgbClr val="1F2C3F"/>
                </a:solidFill>
                <a:latin typeface="Times"/>
                <a:ea typeface="Times"/>
                <a:cs typeface="Times"/>
                <a:sym typeface="Times"/>
              </a:rPr>
              <a:t>– a cause that provides a lot of value to society, especially a charitable cause.</a:t>
            </a:r>
            <a:endParaRPr/>
          </a:p>
          <a:p>
            <a:pPr marL="228600" marR="0" lvl="0" indent="-228600" algn="l" rtl="0">
              <a:lnSpc>
                <a:spcPct val="90000"/>
              </a:lnSpc>
              <a:spcBef>
                <a:spcPts val="1000"/>
              </a:spcBef>
              <a:spcAft>
                <a:spcPts val="0"/>
              </a:spcAft>
              <a:buClr>
                <a:srgbClr val="1F2C3F"/>
              </a:buClr>
              <a:buSzPts val="1800"/>
              <a:buFont typeface="Arial"/>
              <a:buChar char="•"/>
            </a:pPr>
            <a:r>
              <a:rPr lang="fr-FR" sz="1800" b="1">
                <a:solidFill>
                  <a:srgbClr val="1F2C3F"/>
                </a:solidFill>
                <a:latin typeface="Times"/>
                <a:ea typeface="Times"/>
                <a:cs typeface="Times"/>
                <a:sym typeface="Times"/>
              </a:rPr>
              <a:t>to give (something) back to the community (saying) </a:t>
            </a:r>
            <a:r>
              <a:rPr lang="fr-FR" sz="1800">
                <a:solidFill>
                  <a:srgbClr val="1F2C3F"/>
                </a:solidFill>
                <a:latin typeface="Times"/>
                <a:ea typeface="Times"/>
                <a:cs typeface="Times"/>
                <a:sym typeface="Times"/>
              </a:rPr>
              <a:t>– to help or volunteer for a worthy cause as a way of repaying or acknowledging the contribution society has given to the volunteer.</a:t>
            </a:r>
            <a:endParaRPr/>
          </a:p>
          <a:p>
            <a:pPr marL="228600" marR="0" lvl="0" indent="-228600" algn="l" rtl="0">
              <a:lnSpc>
                <a:spcPct val="90000"/>
              </a:lnSpc>
              <a:spcBef>
                <a:spcPts val="1000"/>
              </a:spcBef>
              <a:spcAft>
                <a:spcPts val="0"/>
              </a:spcAft>
              <a:buClr>
                <a:srgbClr val="1F2C3F"/>
              </a:buClr>
              <a:buSzPts val="1800"/>
              <a:buFont typeface="Arial"/>
              <a:buChar char="•"/>
            </a:pPr>
            <a:r>
              <a:rPr lang="fr-FR" sz="1800" b="1">
                <a:solidFill>
                  <a:srgbClr val="1F2C3F"/>
                </a:solidFill>
                <a:latin typeface="Times"/>
                <a:ea typeface="Times"/>
                <a:cs typeface="Times"/>
                <a:sym typeface="Times"/>
              </a:rPr>
              <a:t>to pay it forward (saying) </a:t>
            </a:r>
            <a:r>
              <a:rPr lang="fr-FR" sz="1800">
                <a:solidFill>
                  <a:srgbClr val="1F2C3F"/>
                </a:solidFill>
                <a:latin typeface="Times"/>
                <a:ea typeface="Times"/>
                <a:cs typeface="Times"/>
                <a:sym typeface="Times"/>
              </a:rPr>
              <a:t>– to respond to a person's kindness by performing an act of kindness to another person.</a:t>
            </a:r>
            <a:endParaRPr sz="1800">
              <a:solidFill>
                <a:srgbClr val="1F2C3F"/>
              </a:solidFill>
              <a:latin typeface="Times"/>
              <a:ea typeface="Times"/>
              <a:cs typeface="Times"/>
              <a:sym typeface="Time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5">
                                            <p:txEl>
                                              <p:pRg st="0" end="0"/>
                                            </p:txEl>
                                          </p:spTgt>
                                        </p:tgtEl>
                                        <p:attrNameLst>
                                          <p:attrName>style.visibility</p:attrName>
                                        </p:attrNameLst>
                                      </p:cBhvr>
                                      <p:to>
                                        <p:strVal val="visible"/>
                                      </p:to>
                                    </p:set>
                                    <p:anim calcmode="lin" valueType="num">
                                      <p:cBhvr additive="base">
                                        <p:cTn id="7" dur="500"/>
                                        <p:tgtEl>
                                          <p:spTgt spid="38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85">
                                            <p:txEl>
                                              <p:pRg st="1" end="1"/>
                                            </p:txEl>
                                          </p:spTgt>
                                        </p:tgtEl>
                                        <p:attrNameLst>
                                          <p:attrName>style.visibility</p:attrName>
                                        </p:attrNameLst>
                                      </p:cBhvr>
                                      <p:to>
                                        <p:strVal val="visible"/>
                                      </p:to>
                                    </p:set>
                                    <p:anim calcmode="lin" valueType="num">
                                      <p:cBhvr additive="base">
                                        <p:cTn id="12" dur="500"/>
                                        <p:tgtEl>
                                          <p:spTgt spid="38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85">
                                            <p:txEl>
                                              <p:pRg st="2" end="2"/>
                                            </p:txEl>
                                          </p:spTgt>
                                        </p:tgtEl>
                                        <p:attrNameLst>
                                          <p:attrName>style.visibility</p:attrName>
                                        </p:attrNameLst>
                                      </p:cBhvr>
                                      <p:to>
                                        <p:strVal val="visible"/>
                                      </p:to>
                                    </p:set>
                                    <p:anim calcmode="lin" valueType="num">
                                      <p:cBhvr additive="base">
                                        <p:cTn id="17" dur="500"/>
                                        <p:tgtEl>
                                          <p:spTgt spid="38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85">
                                            <p:txEl>
                                              <p:pRg st="3" end="3"/>
                                            </p:txEl>
                                          </p:spTgt>
                                        </p:tgtEl>
                                        <p:attrNameLst>
                                          <p:attrName>style.visibility</p:attrName>
                                        </p:attrNameLst>
                                      </p:cBhvr>
                                      <p:to>
                                        <p:strVal val="visible"/>
                                      </p:to>
                                    </p:set>
                                    <p:anim calcmode="lin" valueType="num">
                                      <p:cBhvr additive="base">
                                        <p:cTn id="22" dur="500"/>
                                        <p:tgtEl>
                                          <p:spTgt spid="38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85">
                                            <p:txEl>
                                              <p:pRg st="4" end="4"/>
                                            </p:txEl>
                                          </p:spTgt>
                                        </p:tgtEl>
                                        <p:attrNameLst>
                                          <p:attrName>style.visibility</p:attrName>
                                        </p:attrNameLst>
                                      </p:cBhvr>
                                      <p:to>
                                        <p:strVal val="visible"/>
                                      </p:to>
                                    </p:set>
                                    <p:anim calcmode="lin" valueType="num">
                                      <p:cBhvr additive="base">
                                        <p:cTn id="27" dur="500"/>
                                        <p:tgtEl>
                                          <p:spTgt spid="38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85">
                                            <p:txEl>
                                              <p:pRg st="5" end="5"/>
                                            </p:txEl>
                                          </p:spTgt>
                                        </p:tgtEl>
                                        <p:attrNameLst>
                                          <p:attrName>style.visibility</p:attrName>
                                        </p:attrNameLst>
                                      </p:cBhvr>
                                      <p:to>
                                        <p:strVal val="visible"/>
                                      </p:to>
                                    </p:set>
                                    <p:anim calcmode="lin" valueType="num">
                                      <p:cBhvr additive="base">
                                        <p:cTn id="32" dur="500"/>
                                        <p:tgtEl>
                                          <p:spTgt spid="38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6"/>
          <p:cNvSpPr txBox="1">
            <a:spLocks noGrp="1"/>
          </p:cNvSpPr>
          <p:nvPr>
            <p:ph type="title"/>
          </p:nvPr>
        </p:nvSpPr>
        <p:spPr>
          <a:xfrm>
            <a:off x="549276" y="107093"/>
            <a:ext cx="8594724" cy="133105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F2C3F"/>
              </a:buClr>
              <a:buSzPts val="2000"/>
              <a:buFont typeface="Bebas Neue"/>
              <a:buNone/>
            </a:pPr>
            <a:r>
              <a:rPr lang="fr-FR" sz="2000" b="1"/>
              <a:t>complete the following sentences by using the vocabulary in the correct form: </a:t>
            </a:r>
            <a:br>
              <a:rPr lang="fr-FR" sz="2000" b="1"/>
            </a:br>
            <a:r>
              <a:rPr lang="fr-FR" sz="2000" b="1"/>
              <a:t/>
            </a:r>
            <a:br>
              <a:rPr lang="fr-FR" sz="2000" b="1"/>
            </a:br>
            <a:endParaRPr sz="2000" b="1"/>
          </a:p>
        </p:txBody>
      </p:sp>
      <p:sp>
        <p:nvSpPr>
          <p:cNvPr id="391" name="Google Shape;391;p36"/>
          <p:cNvSpPr txBox="1">
            <a:spLocks noGrp="1"/>
          </p:cNvSpPr>
          <p:nvPr>
            <p:ph type="body" idx="1"/>
          </p:nvPr>
        </p:nvSpPr>
        <p:spPr>
          <a:xfrm>
            <a:off x="213383" y="878928"/>
            <a:ext cx="6494477" cy="577530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1F2C3F"/>
              </a:buClr>
              <a:buSzPts val="2000"/>
              <a:buChar char="•"/>
            </a:pPr>
            <a:r>
              <a:rPr lang="fr-FR" sz="2000">
                <a:latin typeface="Times"/>
                <a:ea typeface="Times"/>
                <a:cs typeface="Times"/>
                <a:sym typeface="Times"/>
              </a:rPr>
              <a:t>1. Every Friday night I volunteer to give food to the homeless people in our city; it's just my little way of ………………………..</a:t>
            </a:r>
            <a:endParaRPr sz="2000">
              <a:latin typeface="Times"/>
              <a:ea typeface="Times"/>
              <a:cs typeface="Times"/>
              <a:sym typeface="Times"/>
            </a:endParaRPr>
          </a:p>
          <a:p>
            <a:pPr marL="228600" lvl="0" indent="-228600" algn="l" rtl="0">
              <a:lnSpc>
                <a:spcPct val="90000"/>
              </a:lnSpc>
              <a:spcBef>
                <a:spcPts val="1000"/>
              </a:spcBef>
              <a:spcAft>
                <a:spcPts val="0"/>
              </a:spcAft>
              <a:buClr>
                <a:srgbClr val="1F2C3F"/>
              </a:buClr>
              <a:buSzPts val="2000"/>
              <a:buChar char="•"/>
            </a:pPr>
            <a:r>
              <a:rPr lang="fr-FR" sz="2000">
                <a:latin typeface="Times"/>
                <a:ea typeface="Times"/>
                <a:cs typeface="Times"/>
                <a:sym typeface="Times"/>
              </a:rPr>
              <a:t>2. “Thank you so much! That's so kind of you; how can I ever repay you?” “Don't worry! It's no problem whatsoever; just …………………………”</a:t>
            </a:r>
            <a:endParaRPr sz="2000">
              <a:latin typeface="Times"/>
              <a:ea typeface="Times"/>
              <a:cs typeface="Times"/>
              <a:sym typeface="Times"/>
            </a:endParaRPr>
          </a:p>
          <a:p>
            <a:pPr marL="228600" lvl="0" indent="-228600" algn="l" rtl="0">
              <a:lnSpc>
                <a:spcPct val="90000"/>
              </a:lnSpc>
              <a:spcBef>
                <a:spcPts val="1000"/>
              </a:spcBef>
              <a:spcAft>
                <a:spcPts val="0"/>
              </a:spcAft>
              <a:buClr>
                <a:srgbClr val="1F2C3F"/>
              </a:buClr>
              <a:buSzPts val="2000"/>
              <a:buChar char="•"/>
            </a:pPr>
            <a:r>
              <a:rPr lang="fr-FR" sz="2000">
                <a:latin typeface="Times"/>
                <a:ea typeface="Times"/>
                <a:cs typeface="Times"/>
                <a:sym typeface="Times"/>
              </a:rPr>
              <a:t>3. Helping victims of landmines is such a ………………… .</a:t>
            </a:r>
            <a:endParaRPr sz="2000">
              <a:latin typeface="Times"/>
              <a:ea typeface="Times"/>
              <a:cs typeface="Times"/>
              <a:sym typeface="Times"/>
            </a:endParaRPr>
          </a:p>
          <a:p>
            <a:pPr marL="228600" lvl="0" indent="-228600" algn="l" rtl="0">
              <a:lnSpc>
                <a:spcPct val="90000"/>
              </a:lnSpc>
              <a:spcBef>
                <a:spcPts val="1000"/>
              </a:spcBef>
              <a:spcAft>
                <a:spcPts val="0"/>
              </a:spcAft>
              <a:buClr>
                <a:srgbClr val="1F2C3F"/>
              </a:buClr>
              <a:buSzPts val="2000"/>
              <a:buChar char="•"/>
            </a:pPr>
            <a:r>
              <a:rPr lang="fr-FR" sz="2000">
                <a:latin typeface="Times"/>
                <a:ea typeface="Times"/>
                <a:cs typeface="Times"/>
                <a:sym typeface="Times"/>
              </a:rPr>
              <a:t>4. Janet ……………….. at the local children's hospital in her free time.</a:t>
            </a:r>
            <a:endParaRPr sz="2000">
              <a:latin typeface="Times"/>
              <a:ea typeface="Times"/>
              <a:cs typeface="Times"/>
              <a:sym typeface="Times"/>
            </a:endParaRPr>
          </a:p>
          <a:p>
            <a:pPr marL="228600" lvl="0" indent="-228600" algn="l" rtl="0">
              <a:lnSpc>
                <a:spcPct val="90000"/>
              </a:lnSpc>
              <a:spcBef>
                <a:spcPts val="1000"/>
              </a:spcBef>
              <a:spcAft>
                <a:spcPts val="0"/>
              </a:spcAft>
              <a:buClr>
                <a:srgbClr val="1F2C3F"/>
              </a:buClr>
              <a:buSzPts val="2000"/>
              <a:buChar char="•"/>
            </a:pPr>
            <a:r>
              <a:rPr lang="fr-FR" sz="2000">
                <a:latin typeface="Times"/>
                <a:ea typeface="Times"/>
                <a:cs typeface="Times"/>
                <a:sym typeface="Times"/>
              </a:rPr>
              <a:t>5. During my…………………….after finishing university, I volunteered to help build a school in</a:t>
            </a:r>
            <a:endParaRPr sz="2000">
              <a:latin typeface="Times"/>
              <a:ea typeface="Times"/>
              <a:cs typeface="Times"/>
              <a:sym typeface="Times"/>
            </a:endParaRPr>
          </a:p>
          <a:p>
            <a:pPr marL="228600" lvl="0" indent="-228600" algn="l" rtl="0">
              <a:lnSpc>
                <a:spcPct val="90000"/>
              </a:lnSpc>
              <a:spcBef>
                <a:spcPts val="1000"/>
              </a:spcBef>
              <a:spcAft>
                <a:spcPts val="0"/>
              </a:spcAft>
              <a:buClr>
                <a:srgbClr val="1F2C3F"/>
              </a:buClr>
              <a:buSzPts val="2000"/>
              <a:buChar char="•"/>
            </a:pPr>
            <a:r>
              <a:rPr lang="fr-FR" sz="2000">
                <a:latin typeface="Times"/>
                <a:ea typeface="Times"/>
                <a:cs typeface="Times"/>
                <a:sym typeface="Times"/>
              </a:rPr>
              <a:t>Zambia.</a:t>
            </a:r>
            <a:endParaRPr sz="2000">
              <a:latin typeface="Times"/>
              <a:ea typeface="Times"/>
              <a:cs typeface="Times"/>
              <a:sym typeface="Times"/>
            </a:endParaRPr>
          </a:p>
          <a:p>
            <a:pPr marL="228600" lvl="0" indent="-228600" algn="l" rtl="0">
              <a:lnSpc>
                <a:spcPct val="90000"/>
              </a:lnSpc>
              <a:spcBef>
                <a:spcPts val="1000"/>
              </a:spcBef>
              <a:spcAft>
                <a:spcPts val="0"/>
              </a:spcAft>
              <a:buClr>
                <a:srgbClr val="1F2C3F"/>
              </a:buClr>
              <a:buSzPts val="2000"/>
              <a:buChar char="•"/>
            </a:pPr>
            <a:r>
              <a:rPr lang="fr-FR" sz="2000">
                <a:latin typeface="Times"/>
                <a:ea typeface="Times"/>
                <a:cs typeface="Times"/>
                <a:sym typeface="Times"/>
              </a:rPr>
              <a:t>6. The government announced that it would abolish taxes for the ………………….</a:t>
            </a:r>
            <a:endParaRPr sz="2000">
              <a:latin typeface="Times"/>
              <a:ea typeface="Times"/>
              <a:cs typeface="Times"/>
              <a:sym typeface="Times"/>
            </a:endParaRPr>
          </a:p>
          <a:p>
            <a:pPr marL="228600" lvl="0" indent="-101600" algn="l" rtl="0">
              <a:lnSpc>
                <a:spcPct val="90000"/>
              </a:lnSpc>
              <a:spcBef>
                <a:spcPts val="1000"/>
              </a:spcBef>
              <a:spcAft>
                <a:spcPts val="0"/>
              </a:spcAft>
              <a:buClr>
                <a:srgbClr val="1F2C3F"/>
              </a:buClr>
              <a:buSzPts val="2000"/>
              <a:buNone/>
            </a:pPr>
            <a:endParaRPr sz="2000">
              <a:latin typeface="Times"/>
              <a:ea typeface="Times"/>
              <a:cs typeface="Times"/>
              <a:sym typeface="Times"/>
            </a:endParaRPr>
          </a:p>
        </p:txBody>
      </p:sp>
      <p:sp>
        <p:nvSpPr>
          <p:cNvPr id="392" name="Google Shape;392;p36"/>
          <p:cNvSpPr txBox="1"/>
          <p:nvPr/>
        </p:nvSpPr>
        <p:spPr>
          <a:xfrm>
            <a:off x="6629400" y="685800"/>
            <a:ext cx="2441506" cy="4247317"/>
          </a:xfrm>
          <a:prstGeom prst="rect">
            <a:avLst/>
          </a:prstGeom>
          <a:noFill/>
          <a:ln w="9525" cap="flat" cmpd="sng">
            <a:solidFill>
              <a:srgbClr val="2C7C9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chemeClr val="dk1"/>
                </a:solidFill>
                <a:latin typeface="Calibri"/>
                <a:ea typeface="Calibri"/>
                <a:cs typeface="Calibri"/>
                <a:sym typeface="Calibri"/>
              </a:rPr>
              <a:t>a: (to) volunteer</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fr-FR" sz="1800" b="1">
                <a:solidFill>
                  <a:schemeClr val="dk1"/>
                </a:solidFill>
                <a:latin typeface="Calibri"/>
                <a:ea typeface="Calibri"/>
                <a:cs typeface="Calibri"/>
                <a:sym typeface="Calibri"/>
              </a:rPr>
              <a:t/>
            </a:r>
            <a:br>
              <a:rPr lang="fr-FR" sz="1800" b="1">
                <a:solidFill>
                  <a:schemeClr val="dk1"/>
                </a:solidFill>
                <a:latin typeface="Calibri"/>
                <a:ea typeface="Calibri"/>
                <a:cs typeface="Calibri"/>
                <a:sym typeface="Calibri"/>
              </a:rPr>
            </a:br>
            <a:r>
              <a:rPr lang="fr-FR" sz="1800" b="1">
                <a:solidFill>
                  <a:schemeClr val="dk1"/>
                </a:solidFill>
                <a:latin typeface="Calibri"/>
                <a:ea typeface="Calibri"/>
                <a:cs typeface="Calibri"/>
                <a:sym typeface="Calibri"/>
              </a:rPr>
              <a:t>b: the voluntary / third / not-for-profit sector</a:t>
            </a:r>
            <a:endParaRPr/>
          </a:p>
          <a:p>
            <a:pPr marL="0" marR="0" lvl="0" indent="0" algn="l" rtl="0">
              <a:spcBef>
                <a:spcPts val="0"/>
              </a:spcBef>
              <a:spcAft>
                <a:spcPts val="0"/>
              </a:spcAft>
              <a:buNone/>
            </a:pPr>
            <a:r>
              <a:rPr lang="fr-FR" sz="1800" b="1">
                <a:solidFill>
                  <a:schemeClr val="dk1"/>
                </a:solidFill>
                <a:latin typeface="Calibri"/>
                <a:ea typeface="Calibri"/>
                <a:cs typeface="Calibri"/>
                <a:sym typeface="Calibri"/>
              </a:rPr>
              <a:t/>
            </a:r>
            <a:br>
              <a:rPr lang="fr-FR" sz="1800" b="1">
                <a:solidFill>
                  <a:schemeClr val="dk1"/>
                </a:solidFill>
                <a:latin typeface="Calibri"/>
                <a:ea typeface="Calibri"/>
                <a:cs typeface="Calibri"/>
                <a:sym typeface="Calibri"/>
              </a:rPr>
            </a:br>
            <a:r>
              <a:rPr lang="fr-FR" sz="1800" b="1">
                <a:solidFill>
                  <a:schemeClr val="dk1"/>
                </a:solidFill>
                <a:latin typeface="Calibri"/>
                <a:ea typeface="Calibri"/>
                <a:cs typeface="Calibri"/>
                <a:sym typeface="Calibri"/>
              </a:rPr>
              <a:t>c:  gap year</a:t>
            </a:r>
            <a:endParaRPr/>
          </a:p>
          <a:p>
            <a:pPr marL="0" marR="0" lvl="0" indent="0" algn="l" rtl="0">
              <a:spcBef>
                <a:spcPts val="0"/>
              </a:spcBef>
              <a:spcAft>
                <a:spcPts val="0"/>
              </a:spcAft>
              <a:buNone/>
            </a:pPr>
            <a:r>
              <a:rPr lang="fr-FR" sz="1800" b="1">
                <a:solidFill>
                  <a:schemeClr val="dk1"/>
                </a:solidFill>
                <a:latin typeface="Calibri"/>
                <a:ea typeface="Calibri"/>
                <a:cs typeface="Calibri"/>
                <a:sym typeface="Calibri"/>
              </a:rPr>
              <a:t/>
            </a:r>
            <a:br>
              <a:rPr lang="fr-FR" sz="1800" b="1">
                <a:solidFill>
                  <a:schemeClr val="dk1"/>
                </a:solidFill>
                <a:latin typeface="Calibri"/>
                <a:ea typeface="Calibri"/>
                <a:cs typeface="Calibri"/>
                <a:sym typeface="Calibri"/>
              </a:rPr>
            </a:br>
            <a:r>
              <a:rPr lang="fr-FR" sz="1800" b="1">
                <a:solidFill>
                  <a:schemeClr val="dk1"/>
                </a:solidFill>
                <a:latin typeface="Calibri"/>
                <a:ea typeface="Calibri"/>
                <a:cs typeface="Calibri"/>
                <a:sym typeface="Calibri"/>
              </a:rPr>
              <a:t>d: worthy cause</a:t>
            </a:r>
            <a:endParaRPr/>
          </a:p>
          <a:p>
            <a:pPr marL="0" marR="0" lvl="0" indent="0" algn="l" rtl="0">
              <a:spcBef>
                <a:spcPts val="0"/>
              </a:spcBef>
              <a:spcAft>
                <a:spcPts val="0"/>
              </a:spcAft>
              <a:buNone/>
            </a:pPr>
            <a:r>
              <a:rPr lang="fr-FR" sz="1800" b="1">
                <a:solidFill>
                  <a:schemeClr val="dk1"/>
                </a:solidFill>
                <a:latin typeface="Calibri"/>
                <a:ea typeface="Calibri"/>
                <a:cs typeface="Calibri"/>
                <a:sym typeface="Calibri"/>
              </a:rPr>
              <a:t/>
            </a:r>
            <a:br>
              <a:rPr lang="fr-FR" sz="1800" b="1">
                <a:solidFill>
                  <a:schemeClr val="dk1"/>
                </a:solidFill>
                <a:latin typeface="Calibri"/>
                <a:ea typeface="Calibri"/>
                <a:cs typeface="Calibri"/>
                <a:sym typeface="Calibri"/>
              </a:rPr>
            </a:br>
            <a:r>
              <a:rPr lang="fr-FR" sz="1800" b="1">
                <a:solidFill>
                  <a:schemeClr val="dk1"/>
                </a:solidFill>
                <a:latin typeface="Calibri"/>
                <a:ea typeface="Calibri"/>
                <a:cs typeface="Calibri"/>
                <a:sym typeface="Calibri"/>
              </a:rPr>
              <a:t>e: to give (something) back to the community</a:t>
            </a:r>
            <a:endParaRPr/>
          </a:p>
          <a:p>
            <a:pPr marL="0" marR="0" lvl="0" indent="0" algn="l" rtl="0">
              <a:spcBef>
                <a:spcPts val="0"/>
              </a:spcBef>
              <a:spcAft>
                <a:spcPts val="0"/>
              </a:spcAft>
              <a:buNone/>
            </a:pPr>
            <a:r>
              <a:rPr lang="fr-FR" sz="1800" b="1">
                <a:solidFill>
                  <a:schemeClr val="dk1"/>
                </a:solidFill>
                <a:latin typeface="Calibri"/>
                <a:ea typeface="Calibri"/>
                <a:cs typeface="Calibri"/>
                <a:sym typeface="Calibri"/>
              </a:rPr>
              <a:t/>
            </a:r>
            <a:br>
              <a:rPr lang="fr-FR" sz="1800" b="1">
                <a:solidFill>
                  <a:schemeClr val="dk1"/>
                </a:solidFill>
                <a:latin typeface="Calibri"/>
                <a:ea typeface="Calibri"/>
                <a:cs typeface="Calibri"/>
                <a:sym typeface="Calibri"/>
              </a:rPr>
            </a:br>
            <a:r>
              <a:rPr lang="fr-FR" sz="1800" b="1">
                <a:solidFill>
                  <a:schemeClr val="dk1"/>
                </a:solidFill>
                <a:latin typeface="Calibri"/>
                <a:ea typeface="Calibri"/>
                <a:cs typeface="Calibri"/>
                <a:sym typeface="Calibri"/>
              </a:rPr>
              <a:t>f: to pay it forward  </a:t>
            </a:r>
            <a:endParaRPr sz="1800">
              <a:solidFill>
                <a:schemeClr val="dk1"/>
              </a:solidFill>
              <a:latin typeface="Calibri"/>
              <a:ea typeface="Calibri"/>
              <a:cs typeface="Calibri"/>
              <a:sym typeface="Calibri"/>
            </a:endParaRPr>
          </a:p>
        </p:txBody>
      </p:sp>
      <p:sp>
        <p:nvSpPr>
          <p:cNvPr id="393" name="Google Shape;393;p36"/>
          <p:cNvSpPr txBox="1"/>
          <p:nvPr/>
        </p:nvSpPr>
        <p:spPr>
          <a:xfrm>
            <a:off x="304800" y="1371600"/>
            <a:ext cx="549200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08000"/>
                </a:solidFill>
                <a:latin typeface="Calibri"/>
                <a:ea typeface="Calibri"/>
                <a:cs typeface="Calibri"/>
                <a:sym typeface="Calibri"/>
              </a:rPr>
              <a:t>giving something back to the community </a:t>
            </a:r>
            <a:endParaRPr/>
          </a:p>
        </p:txBody>
      </p:sp>
      <p:sp>
        <p:nvSpPr>
          <p:cNvPr id="394" name="Google Shape;394;p36"/>
          <p:cNvSpPr txBox="1"/>
          <p:nvPr/>
        </p:nvSpPr>
        <p:spPr>
          <a:xfrm>
            <a:off x="2628342" y="2286000"/>
            <a:ext cx="171505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08000"/>
                </a:solidFill>
                <a:latin typeface="Calibri"/>
                <a:ea typeface="Calibri"/>
                <a:cs typeface="Calibri"/>
                <a:sym typeface="Calibri"/>
              </a:rPr>
              <a:t>pay it forward </a:t>
            </a:r>
            <a:endParaRPr/>
          </a:p>
        </p:txBody>
      </p:sp>
      <p:sp>
        <p:nvSpPr>
          <p:cNvPr id="395" name="Google Shape;395;p36"/>
          <p:cNvSpPr txBox="1"/>
          <p:nvPr/>
        </p:nvSpPr>
        <p:spPr>
          <a:xfrm>
            <a:off x="838200" y="2971800"/>
            <a:ext cx="179654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08000"/>
                </a:solidFill>
                <a:latin typeface="Calibri"/>
                <a:ea typeface="Calibri"/>
                <a:cs typeface="Calibri"/>
                <a:sym typeface="Calibri"/>
              </a:rPr>
              <a:t>worthy cause </a:t>
            </a:r>
            <a:endParaRPr/>
          </a:p>
        </p:txBody>
      </p:sp>
      <p:sp>
        <p:nvSpPr>
          <p:cNvPr id="396" name="Google Shape;396;p36"/>
          <p:cNvSpPr txBox="1"/>
          <p:nvPr/>
        </p:nvSpPr>
        <p:spPr>
          <a:xfrm>
            <a:off x="1469864" y="3352800"/>
            <a:ext cx="13495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08000"/>
                </a:solidFill>
                <a:latin typeface="Calibri"/>
                <a:ea typeface="Calibri"/>
                <a:cs typeface="Calibri"/>
                <a:sym typeface="Calibri"/>
              </a:rPr>
              <a:t>volunteers </a:t>
            </a:r>
            <a:endParaRPr/>
          </a:p>
        </p:txBody>
      </p:sp>
      <p:sp>
        <p:nvSpPr>
          <p:cNvPr id="397" name="Google Shape;397;p36"/>
          <p:cNvSpPr txBox="1"/>
          <p:nvPr/>
        </p:nvSpPr>
        <p:spPr>
          <a:xfrm>
            <a:off x="2209800" y="4038600"/>
            <a:ext cx="112749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08000"/>
                </a:solidFill>
                <a:latin typeface="Calibri"/>
                <a:ea typeface="Calibri"/>
                <a:cs typeface="Calibri"/>
                <a:sym typeface="Calibri"/>
              </a:rPr>
              <a:t>gap year </a:t>
            </a:r>
            <a:endParaRPr/>
          </a:p>
        </p:txBody>
      </p:sp>
      <p:sp>
        <p:nvSpPr>
          <p:cNvPr id="398" name="Google Shape;398;p36"/>
          <p:cNvSpPr txBox="1"/>
          <p:nvPr/>
        </p:nvSpPr>
        <p:spPr>
          <a:xfrm>
            <a:off x="2428860" y="5500702"/>
            <a:ext cx="1976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b="1">
                <a:solidFill>
                  <a:srgbClr val="008000"/>
                </a:solidFill>
                <a:latin typeface="Calibri"/>
                <a:ea typeface="Calibri"/>
                <a:cs typeface="Calibri"/>
                <a:sym typeface="Calibri"/>
              </a:rPr>
              <a:t>voluntary sector</a:t>
            </a:r>
            <a:endParaRPr sz="1800" b="1">
              <a:solidFill>
                <a:srgbClr val="008000"/>
              </a:solidFill>
              <a:latin typeface="Calibri"/>
              <a:ea typeface="Calibri"/>
              <a:cs typeface="Calibri"/>
              <a:sym typeface="Calibri"/>
            </a:endParaRPr>
          </a:p>
        </p:txBody>
      </p:sp>
      <p:pic>
        <p:nvPicPr>
          <p:cNvPr id="399" name="Google Shape;399;p36"/>
          <p:cNvPicPr preferRelativeResize="0"/>
          <p:nvPr/>
        </p:nvPicPr>
        <p:blipFill rotWithShape="1">
          <a:blip r:embed="rId3">
            <a:alphaModFix/>
          </a:blip>
          <a:srcRect/>
          <a:stretch/>
        </p:blipFill>
        <p:spPr>
          <a:xfrm>
            <a:off x="6439519" y="5029200"/>
            <a:ext cx="2704481" cy="1828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0"/>
                                        </p:tgtEl>
                                        <p:attrNameLst>
                                          <p:attrName>style.visibility</p:attrName>
                                        </p:attrNameLst>
                                      </p:cBhvr>
                                      <p:to>
                                        <p:strVal val="visible"/>
                                      </p:to>
                                    </p:set>
                                    <p:animEffect transition="in" filter="fade">
                                      <p:cBhvr>
                                        <p:cTn id="7" dur="500"/>
                                        <p:tgtEl>
                                          <p:spTgt spid="3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2"/>
                                        </p:tgtEl>
                                        <p:attrNameLst>
                                          <p:attrName>style.visibility</p:attrName>
                                        </p:attrNameLst>
                                      </p:cBhvr>
                                      <p:to>
                                        <p:strVal val="visible"/>
                                      </p:to>
                                    </p:set>
                                    <p:animEffect transition="in" filter="fade">
                                      <p:cBhvr>
                                        <p:cTn id="12" dur="500"/>
                                        <p:tgtEl>
                                          <p:spTgt spid="39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91">
                                            <p:txEl>
                                              <p:pRg st="0" end="0"/>
                                            </p:txEl>
                                          </p:spTgt>
                                        </p:tgtEl>
                                        <p:attrNameLst>
                                          <p:attrName>style.visibility</p:attrName>
                                        </p:attrNameLst>
                                      </p:cBhvr>
                                      <p:to>
                                        <p:strVal val="visible"/>
                                      </p:to>
                                    </p:set>
                                    <p:anim calcmode="lin" valueType="num">
                                      <p:cBhvr additive="base">
                                        <p:cTn id="17" dur="500"/>
                                        <p:tgtEl>
                                          <p:spTgt spid="3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91">
                                            <p:txEl>
                                              <p:pRg st="1" end="1"/>
                                            </p:txEl>
                                          </p:spTgt>
                                        </p:tgtEl>
                                        <p:attrNameLst>
                                          <p:attrName>style.visibility</p:attrName>
                                        </p:attrNameLst>
                                      </p:cBhvr>
                                      <p:to>
                                        <p:strVal val="visible"/>
                                      </p:to>
                                    </p:set>
                                    <p:anim calcmode="lin" valueType="num">
                                      <p:cBhvr additive="base">
                                        <p:cTn id="22" dur="500"/>
                                        <p:tgtEl>
                                          <p:spTgt spid="3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91">
                                            <p:txEl>
                                              <p:pRg st="2" end="2"/>
                                            </p:txEl>
                                          </p:spTgt>
                                        </p:tgtEl>
                                        <p:attrNameLst>
                                          <p:attrName>style.visibility</p:attrName>
                                        </p:attrNameLst>
                                      </p:cBhvr>
                                      <p:to>
                                        <p:strVal val="visible"/>
                                      </p:to>
                                    </p:set>
                                    <p:anim calcmode="lin" valueType="num">
                                      <p:cBhvr additive="base">
                                        <p:cTn id="27" dur="500"/>
                                        <p:tgtEl>
                                          <p:spTgt spid="39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91">
                                            <p:txEl>
                                              <p:pRg st="3" end="3"/>
                                            </p:txEl>
                                          </p:spTgt>
                                        </p:tgtEl>
                                        <p:attrNameLst>
                                          <p:attrName>style.visibility</p:attrName>
                                        </p:attrNameLst>
                                      </p:cBhvr>
                                      <p:to>
                                        <p:strVal val="visible"/>
                                      </p:to>
                                    </p:set>
                                    <p:anim calcmode="lin" valueType="num">
                                      <p:cBhvr additive="base">
                                        <p:cTn id="32" dur="500"/>
                                        <p:tgtEl>
                                          <p:spTgt spid="39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1">
                                            <p:txEl>
                                              <p:pRg st="4" end="4"/>
                                            </p:txEl>
                                          </p:spTgt>
                                        </p:tgtEl>
                                        <p:attrNameLst>
                                          <p:attrName>style.visibility</p:attrName>
                                        </p:attrNameLst>
                                      </p:cBhvr>
                                      <p:to>
                                        <p:strVal val="visible"/>
                                      </p:to>
                                    </p:set>
                                    <p:anim calcmode="lin" valueType="num">
                                      <p:cBhvr additive="base">
                                        <p:cTn id="37" dur="500"/>
                                        <p:tgtEl>
                                          <p:spTgt spid="39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91">
                                            <p:txEl>
                                              <p:pRg st="5" end="5"/>
                                            </p:txEl>
                                          </p:spTgt>
                                        </p:tgtEl>
                                        <p:attrNameLst>
                                          <p:attrName>style.visibility</p:attrName>
                                        </p:attrNameLst>
                                      </p:cBhvr>
                                      <p:to>
                                        <p:strVal val="visible"/>
                                      </p:to>
                                    </p:set>
                                    <p:anim calcmode="lin" valueType="num">
                                      <p:cBhvr additive="base">
                                        <p:cTn id="42" dur="500"/>
                                        <p:tgtEl>
                                          <p:spTgt spid="39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91">
                                            <p:txEl>
                                              <p:pRg st="6" end="6"/>
                                            </p:txEl>
                                          </p:spTgt>
                                        </p:tgtEl>
                                        <p:attrNameLst>
                                          <p:attrName>style.visibility</p:attrName>
                                        </p:attrNameLst>
                                      </p:cBhvr>
                                      <p:to>
                                        <p:strVal val="visible"/>
                                      </p:to>
                                    </p:set>
                                    <p:anim calcmode="lin" valueType="num">
                                      <p:cBhvr additive="base">
                                        <p:cTn id="47" dur="500"/>
                                        <p:tgtEl>
                                          <p:spTgt spid="39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391">
                                            <p:txEl>
                                              <p:pRg st="7" end="7"/>
                                            </p:txEl>
                                          </p:spTgt>
                                        </p:tgtEl>
                                        <p:attrNameLst>
                                          <p:attrName>style.visibility</p:attrName>
                                        </p:attrNameLst>
                                      </p:cBhvr>
                                      <p:to>
                                        <p:strVal val="visible"/>
                                      </p:to>
                                    </p:set>
                                    <p:anim calcmode="lin" valueType="num">
                                      <p:cBhvr additive="base">
                                        <p:cTn id="52" dur="500"/>
                                        <p:tgtEl>
                                          <p:spTgt spid="39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93"/>
                                        </p:tgtEl>
                                        <p:attrNameLst>
                                          <p:attrName>style.visibility</p:attrName>
                                        </p:attrNameLst>
                                      </p:cBhvr>
                                      <p:to>
                                        <p:strVal val="visible"/>
                                      </p:to>
                                    </p:set>
                                    <p:anim calcmode="lin" valueType="num">
                                      <p:cBhvr additive="base">
                                        <p:cTn id="57" dur="500"/>
                                        <p:tgtEl>
                                          <p:spTgt spid="393"/>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394"/>
                                        </p:tgtEl>
                                        <p:attrNameLst>
                                          <p:attrName>style.visibility</p:attrName>
                                        </p:attrNameLst>
                                      </p:cBhvr>
                                      <p:to>
                                        <p:strVal val="visible"/>
                                      </p:to>
                                    </p:set>
                                    <p:anim calcmode="lin" valueType="num">
                                      <p:cBhvr additive="base">
                                        <p:cTn id="62" dur="500"/>
                                        <p:tgtEl>
                                          <p:spTgt spid="394"/>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95"/>
                                        </p:tgtEl>
                                        <p:attrNameLst>
                                          <p:attrName>style.visibility</p:attrName>
                                        </p:attrNameLst>
                                      </p:cBhvr>
                                      <p:to>
                                        <p:strVal val="visible"/>
                                      </p:to>
                                    </p:set>
                                    <p:anim calcmode="lin" valueType="num">
                                      <p:cBhvr additive="base">
                                        <p:cTn id="67" dur="500"/>
                                        <p:tgtEl>
                                          <p:spTgt spid="395"/>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396"/>
                                        </p:tgtEl>
                                        <p:attrNameLst>
                                          <p:attrName>style.visibility</p:attrName>
                                        </p:attrNameLst>
                                      </p:cBhvr>
                                      <p:to>
                                        <p:strVal val="visible"/>
                                      </p:to>
                                    </p:set>
                                    <p:anim calcmode="lin" valueType="num">
                                      <p:cBhvr additive="base">
                                        <p:cTn id="72" dur="500"/>
                                        <p:tgtEl>
                                          <p:spTgt spid="39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397"/>
                                        </p:tgtEl>
                                        <p:attrNameLst>
                                          <p:attrName>style.visibility</p:attrName>
                                        </p:attrNameLst>
                                      </p:cBhvr>
                                      <p:to>
                                        <p:strVal val="visible"/>
                                      </p:to>
                                    </p:set>
                                    <p:anim calcmode="lin" valueType="num">
                                      <p:cBhvr additive="base">
                                        <p:cTn id="77" dur="500"/>
                                        <p:tgtEl>
                                          <p:spTgt spid="397"/>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398"/>
                                        </p:tgtEl>
                                        <p:attrNameLst>
                                          <p:attrName>style.visibility</p:attrName>
                                        </p:attrNameLst>
                                      </p:cBhvr>
                                      <p:to>
                                        <p:strVal val="visible"/>
                                      </p:to>
                                    </p:set>
                                    <p:anim calcmode="lin" valueType="num">
                                      <p:cBhvr additive="base">
                                        <p:cTn id="82" dur="500"/>
                                        <p:tgtEl>
                                          <p:spTgt spid="3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F2C3F"/>
              </a:buClr>
              <a:buSzPts val="4400"/>
              <a:buFont typeface="Bebas Neue"/>
              <a:buNone/>
            </a:pPr>
            <a:endParaRPr/>
          </a:p>
        </p:txBody>
      </p:sp>
      <p:pic>
        <p:nvPicPr>
          <p:cNvPr id="405" name="Google Shape;405;p37" descr="quiz-time-megaphone-yellow-banner-3d-style-illustration_123447-821.jpg"/>
          <p:cNvPicPr preferRelativeResize="0">
            <a:picLocks noGrp="1"/>
          </p:cNvPicPr>
          <p:nvPr>
            <p:ph type="body" idx="1"/>
          </p:nvPr>
        </p:nvPicPr>
        <p:blipFill rotWithShape="1">
          <a:blip r:embed="rId3">
            <a:alphaModFix/>
          </a:blip>
          <a:srcRect t="14097" b="14097"/>
          <a:stretch/>
        </p:blipFill>
        <p:spPr>
          <a:xfrm>
            <a:off x="628650" y="1825625"/>
            <a:ext cx="7886700" cy="43513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5"/>
                                        </p:tgtEl>
                                        <p:attrNameLst>
                                          <p:attrName>style.visibility</p:attrName>
                                        </p:attrNameLst>
                                      </p:cBhvr>
                                      <p:to>
                                        <p:strVal val="visible"/>
                                      </p:to>
                                    </p:set>
                                    <p:animEffect transition="in" filter="fade">
                                      <p:cBhvr>
                                        <p:cTn id="7" dur="600"/>
                                        <p:tgtEl>
                                          <p:spTgt spid="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411F"/>
              </a:buClr>
              <a:buSzPts val="2800"/>
              <a:buNone/>
            </a:pPr>
            <a:r>
              <a:rPr lang="fr-FR" b="1" cap="none">
                <a:solidFill>
                  <a:srgbClr val="00411F"/>
                </a:solidFill>
              </a:rPr>
              <a:t>HOW MUCH DO YOU KNOW ABOUT VOLUNTEERING? </a:t>
            </a:r>
            <a:endParaRPr/>
          </a:p>
          <a:p>
            <a:pPr marL="0" lvl="0" indent="0" algn="ctr" rtl="0">
              <a:lnSpc>
                <a:spcPct val="90000"/>
              </a:lnSpc>
              <a:spcBef>
                <a:spcPts val="1000"/>
              </a:spcBef>
              <a:spcAft>
                <a:spcPts val="0"/>
              </a:spcAft>
              <a:buClr>
                <a:srgbClr val="1F2C3F"/>
              </a:buClr>
              <a:buSzPts val="2800"/>
              <a:buNone/>
            </a:pPr>
            <a:endParaRPr b="1" cap="none">
              <a:solidFill>
                <a:srgbClr val="00411F"/>
              </a:solidFill>
            </a:endParaRPr>
          </a:p>
          <a:p>
            <a:pPr marL="0" lvl="0" indent="0" algn="ctr" rtl="0">
              <a:lnSpc>
                <a:spcPct val="90000"/>
              </a:lnSpc>
              <a:spcBef>
                <a:spcPts val="1000"/>
              </a:spcBef>
              <a:spcAft>
                <a:spcPts val="0"/>
              </a:spcAft>
              <a:buClr>
                <a:srgbClr val="00411F"/>
              </a:buClr>
              <a:buSzPts val="2800"/>
              <a:buNone/>
            </a:pPr>
            <a:r>
              <a:rPr lang="fr-FR" b="1" cap="none">
                <a:solidFill>
                  <a:srgbClr val="00411F"/>
                </a:solidFill>
              </a:rPr>
              <a:t>TAKE THIS FUN QUIZ TO FIGURE OUT HOW CONNECTED YOU ARE TO THE WORLD OF VOLUNTEERING AND TO SEE HOW VOLUNTEER SAVVY YOU ARE!</a:t>
            </a:r>
            <a:endParaRPr b="1" cap="none">
              <a:solidFill>
                <a:srgbClr val="00411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10">
                                            <p:txEl>
                                              <p:pRg st="0" end="0"/>
                                            </p:txEl>
                                          </p:spTgt>
                                        </p:tgtEl>
                                        <p:attrNameLst>
                                          <p:attrName>style.visibility</p:attrName>
                                        </p:attrNameLst>
                                      </p:cBhvr>
                                      <p:to>
                                        <p:strVal val="visible"/>
                                      </p:to>
                                    </p:set>
                                    <p:anim calcmode="lin" valueType="num">
                                      <p:cBhvr additive="base">
                                        <p:cTn id="7" dur="500"/>
                                        <p:tgtEl>
                                          <p:spTgt spid="410">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410">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10">
                                            <p:txEl>
                                              <p:pRg st="1" end="1"/>
                                            </p:txEl>
                                          </p:spTgt>
                                        </p:tgtEl>
                                        <p:attrNameLst>
                                          <p:attrName>style.visibility</p:attrName>
                                        </p:attrNameLst>
                                      </p:cBhvr>
                                      <p:to>
                                        <p:strVal val="visible"/>
                                      </p:to>
                                    </p:set>
                                    <p:anim calcmode="lin" valueType="num">
                                      <p:cBhvr additive="base">
                                        <p:cTn id="13" dur="500"/>
                                        <p:tgtEl>
                                          <p:spTgt spid="410">
                                            <p:txEl>
                                              <p:pRg st="1" end="1"/>
                                            </p:txEl>
                                          </p:spTgt>
                                        </p:tgtEl>
                                        <p:attrNameLst>
                                          <p:attrName>ppt_w</p:attrName>
                                        </p:attrNameLst>
                                      </p:cBhvr>
                                      <p:tavLst>
                                        <p:tav tm="0">
                                          <p:val>
                                            <p:strVal val="0"/>
                                          </p:val>
                                        </p:tav>
                                        <p:tav tm="100000">
                                          <p:val>
                                            <p:strVal val="#ppt_w"/>
                                          </p:val>
                                        </p:tav>
                                      </p:tavLst>
                                    </p:anim>
                                    <p:anim calcmode="lin" valueType="num">
                                      <p:cBhvr additive="base">
                                        <p:cTn id="14" dur="500"/>
                                        <p:tgtEl>
                                          <p:spTgt spid="410">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410">
                                            <p:txEl>
                                              <p:pRg st="2" end="2"/>
                                            </p:txEl>
                                          </p:spTgt>
                                        </p:tgtEl>
                                        <p:attrNameLst>
                                          <p:attrName>style.visibility</p:attrName>
                                        </p:attrNameLst>
                                      </p:cBhvr>
                                      <p:to>
                                        <p:strVal val="visible"/>
                                      </p:to>
                                    </p:set>
                                    <p:anim calcmode="lin" valueType="num">
                                      <p:cBhvr additive="base">
                                        <p:cTn id="19" dur="500"/>
                                        <p:tgtEl>
                                          <p:spTgt spid="410">
                                            <p:txEl>
                                              <p:pRg st="2" end="2"/>
                                            </p:txEl>
                                          </p:spTgt>
                                        </p:tgtEl>
                                        <p:attrNameLst>
                                          <p:attrName>ppt_w</p:attrName>
                                        </p:attrNameLst>
                                      </p:cBhvr>
                                      <p:tavLst>
                                        <p:tav tm="0">
                                          <p:val>
                                            <p:strVal val="0"/>
                                          </p:val>
                                        </p:tav>
                                        <p:tav tm="100000">
                                          <p:val>
                                            <p:strVal val="#ppt_w"/>
                                          </p:val>
                                        </p:tav>
                                      </p:tavLst>
                                    </p:anim>
                                    <p:anim calcmode="lin" valueType="num">
                                      <p:cBhvr additive="base">
                                        <p:cTn id="20" dur="500"/>
                                        <p:tgtEl>
                                          <p:spTgt spid="410">
                                            <p:txEl>
                                              <p:pRg st="2" end="2"/>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81000" y="4792662"/>
            <a:ext cx="7886700" cy="4351338"/>
          </a:xfrm>
        </p:spPr>
        <p:txBody>
          <a:bodyPr/>
          <a:lstStyle/>
          <a:p>
            <a:pPr marL="514350" indent="-514350">
              <a:buFont typeface="+mj-lt"/>
              <a:buAutoNum type="alphaLcPeriod"/>
            </a:pPr>
            <a:r>
              <a:rPr lang="fr-FR" dirty="0" smtClean="0"/>
              <a:t>New </a:t>
            </a:r>
            <a:r>
              <a:rPr lang="fr-FR" dirty="0"/>
              <a:t>York</a:t>
            </a:r>
          </a:p>
          <a:p>
            <a:pPr marL="514350" indent="-514350">
              <a:buFont typeface="+mj-lt"/>
              <a:buAutoNum type="alphaLcPeriod"/>
            </a:pPr>
            <a:r>
              <a:rPr lang="fr-FR" dirty="0"/>
              <a:t>Rome</a:t>
            </a:r>
          </a:p>
          <a:p>
            <a:pPr marL="514350" indent="-514350">
              <a:buFont typeface="+mj-lt"/>
              <a:buAutoNum type="alphaLcPeriod"/>
            </a:pPr>
            <a:r>
              <a:rPr lang="fr-FR" dirty="0"/>
              <a:t>São Paulo</a:t>
            </a:r>
          </a:p>
          <a:p>
            <a:pPr marL="514350" indent="-514350">
              <a:buFont typeface="+mj-lt"/>
              <a:buAutoNum type="alphaLcPeriod"/>
            </a:pPr>
            <a:r>
              <a:rPr lang="fr-FR" dirty="0"/>
              <a:t>All of the </a:t>
            </a:r>
            <a:r>
              <a:rPr lang="fr-FR" dirty="0" err="1"/>
              <a:t>Above</a:t>
            </a:r>
            <a:endParaRPr lang="fr-FR" dirty="0"/>
          </a:p>
          <a:p>
            <a:endParaRPr lang="fr-FR" dirty="0"/>
          </a:p>
        </p:txBody>
      </p:sp>
      <p:pic>
        <p:nvPicPr>
          <p:cNvPr id="4" name="Image 3" descr="Capture d’écran 2021-09-18 à 17.21.5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300" y="-1047"/>
            <a:ext cx="7391400" cy="4649247"/>
          </a:xfrm>
          <a:prstGeom prst="rect">
            <a:avLst/>
          </a:prstGeom>
        </p:spPr>
      </p:pic>
    </p:spTree>
    <p:extLst>
      <p:ext uri="{BB962C8B-B14F-4D97-AF65-F5344CB8AC3E}">
        <p14:creationId xmlns:p14="http://schemas.microsoft.com/office/powerpoint/2010/main" val="50291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subTnLst>
                                    <p:animClr clrSpc="rgb" dir="cw">
                                      <p:cBhvr override="childStyle">
                                        <p:cTn dur="1" fill="hold" display="0" masterRel="nextClick" afterEffect="1"/>
                                        <p:tgtEl>
                                          <p:spTgt spid="3">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249862"/>
            <a:ext cx="7886700" cy="4351338"/>
          </a:xfrm>
        </p:spPr>
        <p:txBody>
          <a:bodyPr/>
          <a:lstStyle/>
          <a:p>
            <a:r>
              <a:rPr lang="fr-FR" b="1" dirty="0" err="1"/>
              <a:t>Volunteering</a:t>
            </a:r>
            <a:r>
              <a:rPr lang="fr-FR" b="1" dirty="0"/>
              <a:t> </a:t>
            </a:r>
            <a:r>
              <a:rPr lang="fr-FR" b="1" dirty="0" err="1"/>
              <a:t>can</a:t>
            </a:r>
            <a:r>
              <a:rPr lang="fr-FR" b="1" dirty="0"/>
              <a:t> </a:t>
            </a:r>
            <a:r>
              <a:rPr lang="fr-FR" b="1" dirty="0" err="1"/>
              <a:t>increase</a:t>
            </a:r>
            <a:r>
              <a:rPr lang="fr-FR" b="1" dirty="0"/>
              <a:t> </a:t>
            </a:r>
            <a:r>
              <a:rPr lang="fr-FR" b="1" dirty="0" err="1"/>
              <a:t>longevity</a:t>
            </a:r>
            <a:endParaRPr lang="fr-FR" dirty="0"/>
          </a:p>
          <a:p>
            <a:r>
              <a:rPr lang="fr-FR" dirty="0" err="1"/>
              <a:t>True</a:t>
            </a:r>
            <a:endParaRPr lang="fr-FR" dirty="0"/>
          </a:p>
          <a:p>
            <a:r>
              <a:rPr lang="fr-FR" dirty="0"/>
              <a:t>False</a:t>
            </a:r>
          </a:p>
          <a:p>
            <a:endParaRPr lang="fr-FR" dirty="0"/>
          </a:p>
        </p:txBody>
      </p:sp>
      <p:pic>
        <p:nvPicPr>
          <p:cNvPr id="4" name="Image 3" descr="Capture d’écran 2021-09-18 à 17.23.5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533400"/>
            <a:ext cx="6819900" cy="4586356"/>
          </a:xfrm>
          <a:prstGeom prst="rect">
            <a:avLst/>
          </a:prstGeom>
        </p:spPr>
      </p:pic>
    </p:spTree>
    <p:extLst>
      <p:ext uri="{BB962C8B-B14F-4D97-AF65-F5344CB8AC3E}">
        <p14:creationId xmlns:p14="http://schemas.microsoft.com/office/powerpoint/2010/main" val="105852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subTnLst>
                                    <p:animClr clrSpc="rgb" dir="cw">
                                      <p:cBhvr override="childStyle">
                                        <p:cTn dur="1" fill="hold" display="0" masterRel="nextClick" afterEffect="1"/>
                                        <p:tgtEl>
                                          <p:spTgt spid="3">
                                            <p:txEl>
                                              <p:pRg st="1" end="1"/>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04800" y="4800600"/>
            <a:ext cx="7886700" cy="4351338"/>
          </a:xfrm>
        </p:spPr>
        <p:txBody>
          <a:bodyPr/>
          <a:lstStyle/>
          <a:p>
            <a:pPr marL="0" indent="0">
              <a:buNone/>
            </a:pPr>
            <a:endParaRPr lang="fr-FR" dirty="0"/>
          </a:p>
          <a:p>
            <a:r>
              <a:rPr lang="fr-FR" dirty="0" err="1"/>
              <a:t>True</a:t>
            </a:r>
            <a:endParaRPr lang="fr-FR" dirty="0"/>
          </a:p>
          <a:p>
            <a:r>
              <a:rPr lang="fr-FR" dirty="0"/>
              <a:t>False</a:t>
            </a:r>
          </a:p>
          <a:p>
            <a:endParaRPr lang="fr-FR" dirty="0"/>
          </a:p>
        </p:txBody>
      </p:sp>
      <p:pic>
        <p:nvPicPr>
          <p:cNvPr id="4" name="Image 3" descr="Capture d’écran 2021-09-19 à 09.52.4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999" y="228600"/>
            <a:ext cx="7390495" cy="4876800"/>
          </a:xfrm>
          <a:prstGeom prst="rect">
            <a:avLst/>
          </a:prstGeom>
        </p:spPr>
      </p:pic>
    </p:spTree>
    <p:extLst>
      <p:ext uri="{BB962C8B-B14F-4D97-AF65-F5344CB8AC3E}">
        <p14:creationId xmlns:p14="http://schemas.microsoft.com/office/powerpoint/2010/main" val="338455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28650" y="4792662"/>
            <a:ext cx="7886700" cy="4351338"/>
          </a:xfrm>
        </p:spPr>
        <p:txBody>
          <a:bodyPr/>
          <a:lstStyle/>
          <a:p>
            <a:pPr marL="514350" indent="-514350">
              <a:buFont typeface="+mj-lt"/>
              <a:buAutoNum type="alphaLcPeriod"/>
            </a:pPr>
            <a:r>
              <a:rPr lang="fr-FR" dirty="0" smtClean="0"/>
              <a:t>Blood </a:t>
            </a:r>
            <a:r>
              <a:rPr lang="fr-FR" dirty="0"/>
              <a:t>pressure</a:t>
            </a:r>
          </a:p>
          <a:p>
            <a:pPr marL="514350" indent="-514350">
              <a:buFont typeface="+mj-lt"/>
              <a:buAutoNum type="alphaLcPeriod"/>
            </a:pPr>
            <a:r>
              <a:rPr lang="fr-FR" dirty="0" err="1"/>
              <a:t>Cholesterol</a:t>
            </a:r>
            <a:endParaRPr lang="fr-FR" dirty="0"/>
          </a:p>
          <a:p>
            <a:pPr marL="514350" indent="-514350">
              <a:buFont typeface="+mj-lt"/>
              <a:buAutoNum type="alphaLcPeriod"/>
            </a:pPr>
            <a:r>
              <a:rPr lang="fr-FR" dirty="0" err="1"/>
              <a:t>Diabetes</a:t>
            </a:r>
            <a:endParaRPr lang="fr-FR" dirty="0"/>
          </a:p>
          <a:p>
            <a:pPr marL="514350" indent="-514350">
              <a:buFont typeface="+mj-lt"/>
              <a:buAutoNum type="alphaLcPeriod"/>
            </a:pPr>
            <a:r>
              <a:rPr lang="fr-FR" dirty="0" err="1"/>
              <a:t>Dementia</a:t>
            </a:r>
            <a:endParaRPr lang="fr-FR" dirty="0"/>
          </a:p>
          <a:p>
            <a:endParaRPr lang="fr-FR" dirty="0"/>
          </a:p>
        </p:txBody>
      </p:sp>
      <p:pic>
        <p:nvPicPr>
          <p:cNvPr id="4" name="Image 3" descr="Capture d’écran 2021-09-19 à 09.53.2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52400"/>
            <a:ext cx="6959600" cy="4643358"/>
          </a:xfrm>
          <a:prstGeom prst="rect">
            <a:avLst/>
          </a:prstGeom>
        </p:spPr>
      </p:pic>
    </p:spTree>
    <p:extLst>
      <p:ext uri="{BB962C8B-B14F-4D97-AF65-F5344CB8AC3E}">
        <p14:creationId xmlns:p14="http://schemas.microsoft.com/office/powerpoint/2010/main" val="42727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0" end="0"/>
                                            </p:txEl>
                                          </p:spTgt>
                                        </p:tgtEl>
                                        <p:attrNameLst>
                                          <p:attrName>style.textDecorationUnderline</p:attrName>
                                        </p:attrNameLst>
                                      </p:cBhvr>
                                      <p:to>
                                        <p:strVal val="tru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47700" y="4716462"/>
            <a:ext cx="7886700" cy="4351338"/>
          </a:xfrm>
        </p:spPr>
        <p:txBody>
          <a:bodyPr/>
          <a:lstStyle/>
          <a:p>
            <a:pPr marL="514350" indent="-514350">
              <a:buFont typeface="+mj-lt"/>
              <a:buAutoNum type="alphaLcPeriod"/>
            </a:pPr>
            <a:r>
              <a:rPr lang="fr-FR" dirty="0" err="1" smtClean="0"/>
              <a:t>India</a:t>
            </a:r>
            <a:endParaRPr lang="fr-FR" dirty="0"/>
          </a:p>
          <a:p>
            <a:pPr marL="514350" indent="-514350">
              <a:buFont typeface="+mj-lt"/>
              <a:buAutoNum type="alphaLcPeriod"/>
            </a:pPr>
            <a:r>
              <a:rPr lang="fr-FR" dirty="0" err="1"/>
              <a:t>Peru</a:t>
            </a:r>
            <a:endParaRPr lang="fr-FR" dirty="0"/>
          </a:p>
          <a:p>
            <a:pPr marL="514350" indent="-514350">
              <a:buFont typeface="+mj-lt"/>
              <a:buAutoNum type="alphaLcPeriod"/>
            </a:pPr>
            <a:r>
              <a:rPr lang="fr-FR" dirty="0" err="1"/>
              <a:t>Thailand</a:t>
            </a:r>
            <a:endParaRPr lang="fr-FR" dirty="0"/>
          </a:p>
          <a:p>
            <a:pPr marL="514350" indent="-514350">
              <a:buFont typeface="+mj-lt"/>
              <a:buAutoNum type="alphaLcPeriod"/>
            </a:pPr>
            <a:r>
              <a:rPr lang="fr-FR" dirty="0"/>
              <a:t>Kenya</a:t>
            </a:r>
          </a:p>
          <a:p>
            <a:endParaRPr lang="fr-FR" dirty="0"/>
          </a:p>
        </p:txBody>
      </p:sp>
      <p:pic>
        <p:nvPicPr>
          <p:cNvPr id="4" name="Image 3" descr="Capture d’écran 2021-09-19 à 09.55.2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0"/>
            <a:ext cx="6997700" cy="4665133"/>
          </a:xfrm>
          <a:prstGeom prst="rect">
            <a:avLst/>
          </a:prstGeom>
        </p:spPr>
      </p:pic>
    </p:spTree>
    <p:extLst>
      <p:ext uri="{BB962C8B-B14F-4D97-AF65-F5344CB8AC3E}">
        <p14:creationId xmlns:p14="http://schemas.microsoft.com/office/powerpoint/2010/main" val="198050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0" end="0"/>
                                            </p:txEl>
                                          </p:spTgt>
                                        </p:tgtEl>
                                        <p:attrNameLst>
                                          <p:attrName>style.textDecorationUnderline</p:attrName>
                                        </p:attrNameLst>
                                      </p:cBhvr>
                                      <p:to>
                                        <p:strVal val="tru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868862"/>
            <a:ext cx="7886700" cy="4351338"/>
          </a:xfrm>
        </p:spPr>
        <p:txBody>
          <a:bodyPr/>
          <a:lstStyle/>
          <a:p>
            <a:pPr marL="514350" indent="-514350">
              <a:buFont typeface="+mj-lt"/>
              <a:buAutoNum type="alphaLcPeriod"/>
            </a:pPr>
            <a:r>
              <a:rPr lang="fr-FR" dirty="0" smtClean="0"/>
              <a:t>United </a:t>
            </a:r>
            <a:r>
              <a:rPr lang="fr-FR" dirty="0"/>
              <a:t>States</a:t>
            </a:r>
          </a:p>
          <a:p>
            <a:pPr marL="514350" indent="-514350">
              <a:buFont typeface="+mj-lt"/>
              <a:buAutoNum type="alphaLcPeriod"/>
            </a:pPr>
            <a:r>
              <a:rPr lang="fr-FR" dirty="0"/>
              <a:t>Germany</a:t>
            </a:r>
          </a:p>
          <a:p>
            <a:pPr marL="514350" indent="-514350">
              <a:buFont typeface="+mj-lt"/>
              <a:buAutoNum type="alphaLcPeriod"/>
            </a:pPr>
            <a:r>
              <a:rPr lang="fr-FR" dirty="0"/>
              <a:t>Canada</a:t>
            </a:r>
          </a:p>
          <a:p>
            <a:pPr marL="514350" indent="-514350">
              <a:buFont typeface="+mj-lt"/>
              <a:buAutoNum type="alphaLcPeriod"/>
            </a:pPr>
            <a:r>
              <a:rPr lang="fr-FR" dirty="0" err="1"/>
              <a:t>Turkmenistan</a:t>
            </a:r>
            <a:endParaRPr lang="fr-FR" dirty="0"/>
          </a:p>
          <a:p>
            <a:endParaRPr lang="fr-FR" dirty="0"/>
          </a:p>
        </p:txBody>
      </p:sp>
      <p:pic>
        <p:nvPicPr>
          <p:cNvPr id="4" name="Image 3" descr="Capture d’écran 2021-09-19 à 09.56.0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152400"/>
            <a:ext cx="6770272" cy="4495800"/>
          </a:xfrm>
          <a:prstGeom prst="rect">
            <a:avLst/>
          </a:prstGeom>
        </p:spPr>
      </p:pic>
    </p:spTree>
    <p:extLst>
      <p:ext uri="{BB962C8B-B14F-4D97-AF65-F5344CB8AC3E}">
        <p14:creationId xmlns:p14="http://schemas.microsoft.com/office/powerpoint/2010/main" val="172141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subTnLst>
                                    <p:animClr clrSpc="rgb" dir="cw">
                                      <p:cBhvr override="childStyle">
                                        <p:cTn dur="1" fill="hold" display="0" masterRel="nextClick" afterEffect="1"/>
                                        <p:tgtEl>
                                          <p:spTgt spid="3">
                                            <p:txEl>
                                              <p:pRg st="3" end="3"/>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16462"/>
            <a:ext cx="7886700" cy="4351338"/>
          </a:xfrm>
        </p:spPr>
        <p:txBody>
          <a:bodyPr/>
          <a:lstStyle/>
          <a:p>
            <a:pPr marL="514350" indent="-514350">
              <a:buFont typeface="+mj-lt"/>
              <a:buAutoNum type="alphaLcPeriod"/>
            </a:pPr>
            <a:r>
              <a:rPr lang="fr-FR" dirty="0" err="1" smtClean="0"/>
              <a:t>Khloe</a:t>
            </a:r>
            <a:r>
              <a:rPr lang="fr-FR" dirty="0" smtClean="0"/>
              <a:t> </a:t>
            </a:r>
            <a:r>
              <a:rPr lang="fr-FR" dirty="0" err="1"/>
              <a:t>Kardashian</a:t>
            </a:r>
            <a:endParaRPr lang="fr-FR" dirty="0"/>
          </a:p>
          <a:p>
            <a:pPr marL="514350" indent="-514350">
              <a:buFont typeface="+mj-lt"/>
              <a:buAutoNum type="alphaLcPeriod"/>
            </a:pPr>
            <a:r>
              <a:rPr lang="fr-FR" dirty="0"/>
              <a:t>Taylor Swift</a:t>
            </a:r>
          </a:p>
          <a:p>
            <a:pPr marL="514350" indent="-514350">
              <a:buFont typeface="+mj-lt"/>
              <a:buAutoNum type="alphaLcPeriod"/>
            </a:pPr>
            <a:r>
              <a:rPr lang="fr-FR" dirty="0"/>
              <a:t>Hillary </a:t>
            </a:r>
            <a:r>
              <a:rPr lang="fr-FR" dirty="0" err="1"/>
              <a:t>Swank</a:t>
            </a:r>
            <a:endParaRPr lang="fr-FR" dirty="0"/>
          </a:p>
          <a:p>
            <a:pPr marL="514350" indent="-514350">
              <a:buFont typeface="+mj-lt"/>
              <a:buAutoNum type="alphaLcPeriod"/>
            </a:pPr>
            <a:r>
              <a:rPr lang="fr-FR" dirty="0"/>
              <a:t>Jennifer </a:t>
            </a:r>
            <a:r>
              <a:rPr lang="fr-FR" dirty="0" err="1"/>
              <a:t>Aniston</a:t>
            </a:r>
            <a:endParaRPr lang="fr-FR" dirty="0"/>
          </a:p>
          <a:p>
            <a:endParaRPr lang="fr-FR" dirty="0"/>
          </a:p>
        </p:txBody>
      </p:sp>
      <p:pic>
        <p:nvPicPr>
          <p:cNvPr id="4" name="Image 3" descr="Capture d’écran 2021-09-19 à 10.01.0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228600"/>
            <a:ext cx="6642100" cy="4341310"/>
          </a:xfrm>
          <a:prstGeom prst="rect">
            <a:avLst/>
          </a:prstGeom>
        </p:spPr>
      </p:pic>
    </p:spTree>
    <p:extLst>
      <p:ext uri="{BB962C8B-B14F-4D97-AF65-F5344CB8AC3E}">
        <p14:creationId xmlns:p14="http://schemas.microsoft.com/office/powerpoint/2010/main" val="200989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458" name="Google Shape;458;p46"/>
          <p:cNvGrpSpPr/>
          <p:nvPr/>
        </p:nvGrpSpPr>
        <p:grpSpPr>
          <a:xfrm>
            <a:off x="428857" y="485286"/>
            <a:ext cx="6086243" cy="565433"/>
            <a:chOff x="801127" y="403254"/>
            <a:chExt cx="4331352" cy="565433"/>
          </a:xfrm>
        </p:grpSpPr>
        <p:sp>
          <p:nvSpPr>
            <p:cNvPr id="459" name="Google Shape;459;p46"/>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460" name="Google Shape;460;p46"/>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To recap</a:t>
              </a:r>
              <a:endParaRPr sz="1800">
                <a:solidFill>
                  <a:srgbClr val="FFFFFF"/>
                </a:solidFill>
                <a:latin typeface="Open Sans SemiBold"/>
                <a:ea typeface="Open Sans SemiBold"/>
                <a:cs typeface="Open Sans SemiBold"/>
                <a:sym typeface="Open Sans SemiBold"/>
              </a:endParaRPr>
            </a:p>
          </p:txBody>
        </p:sp>
      </p:grpSp>
      <p:pic>
        <p:nvPicPr>
          <p:cNvPr id="461" name="Google Shape;461;p46"/>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462" name="Google Shape;462;p46"/>
          <p:cNvSpPr txBox="1"/>
          <p:nvPr/>
        </p:nvSpPr>
        <p:spPr>
          <a:xfrm>
            <a:off x="457200" y="1524000"/>
            <a:ext cx="457200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chemeClr val="dk1"/>
                </a:solidFill>
                <a:latin typeface="Calibri"/>
                <a:ea typeface="Calibri"/>
                <a:cs typeface="Calibri"/>
                <a:sym typeface="Calibri"/>
              </a:rPr>
              <a:t>Volunteering your time, skills, and resources is one of the most powerful ways to make a difference, to help others, and as it turns out, to enhance your wellbeing.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3" name="Google Shape;463;p46"/>
          <p:cNvSpPr txBox="1"/>
          <p:nvPr/>
        </p:nvSpPr>
        <p:spPr>
          <a:xfrm>
            <a:off x="457200" y="3124200"/>
            <a:ext cx="2417136"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fr-FR" sz="1800">
                <a:solidFill>
                  <a:schemeClr val="dk1"/>
                </a:solidFill>
                <a:latin typeface="Arial"/>
                <a:ea typeface="Arial"/>
                <a:cs typeface="Arial"/>
                <a:sym typeface="Arial"/>
              </a:rPr>
              <a:t>Change your world …</a:t>
            </a:r>
            <a:endParaRPr/>
          </a:p>
          <a:p>
            <a:pPr marL="0" marR="0" lvl="0" indent="0" algn="l" rtl="0">
              <a:spcBef>
                <a:spcPts val="0"/>
              </a:spcBef>
              <a:spcAft>
                <a:spcPts val="0"/>
              </a:spcAft>
              <a:buNone/>
            </a:pPr>
            <a:r>
              <a:rPr lang="fr-FR" sz="1800">
                <a:solidFill>
                  <a:schemeClr val="dk1"/>
                </a:solidFill>
                <a:latin typeface="Arial"/>
                <a:ea typeface="Arial"/>
                <a:cs typeface="Arial"/>
                <a:sym typeface="Arial"/>
              </a:rPr>
              <a:t>START NOW!</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62">
                                            <p:txEl>
                                              <p:pRg st="0" end="0"/>
                                            </p:txEl>
                                          </p:spTgt>
                                        </p:tgtEl>
                                        <p:attrNameLst>
                                          <p:attrName>style.visibility</p:attrName>
                                        </p:attrNameLst>
                                      </p:cBhvr>
                                      <p:to>
                                        <p:strVal val="visible"/>
                                      </p:to>
                                    </p:set>
                                    <p:anim calcmode="lin" valueType="num">
                                      <p:cBhvr additive="base">
                                        <p:cTn id="7" dur="500"/>
                                        <p:tgtEl>
                                          <p:spTgt spid="462">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462">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62">
                                            <p:txEl>
                                              <p:pRg st="1" end="1"/>
                                            </p:txEl>
                                          </p:spTgt>
                                        </p:tgtEl>
                                        <p:attrNameLst>
                                          <p:attrName>style.visibility</p:attrName>
                                        </p:attrNameLst>
                                      </p:cBhvr>
                                      <p:to>
                                        <p:strVal val="visible"/>
                                      </p:to>
                                    </p:set>
                                    <p:anim calcmode="lin" valueType="num">
                                      <p:cBhvr additive="base">
                                        <p:cTn id="13" dur="500"/>
                                        <p:tgtEl>
                                          <p:spTgt spid="462">
                                            <p:txEl>
                                              <p:pRg st="1" end="1"/>
                                            </p:txEl>
                                          </p:spTgt>
                                        </p:tgtEl>
                                        <p:attrNameLst>
                                          <p:attrName>ppt_w</p:attrName>
                                        </p:attrNameLst>
                                      </p:cBhvr>
                                      <p:tavLst>
                                        <p:tav tm="0">
                                          <p:val>
                                            <p:strVal val="0"/>
                                          </p:val>
                                        </p:tav>
                                        <p:tav tm="100000">
                                          <p:val>
                                            <p:strVal val="#ppt_w"/>
                                          </p:val>
                                        </p:tav>
                                      </p:tavLst>
                                    </p:anim>
                                    <p:anim calcmode="lin" valueType="num">
                                      <p:cBhvr additive="base">
                                        <p:cTn id="14" dur="500"/>
                                        <p:tgtEl>
                                          <p:spTgt spid="462">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463"/>
                                        </p:tgtEl>
                                        <p:attrNameLst>
                                          <p:attrName>style.visibility</p:attrName>
                                        </p:attrNameLst>
                                      </p:cBhvr>
                                      <p:to>
                                        <p:strVal val="visible"/>
                                      </p:to>
                                    </p:set>
                                    <p:anim calcmode="lin" valueType="num">
                                      <p:cBhvr additive="base">
                                        <p:cTn id="19" dur="500"/>
                                        <p:tgtEl>
                                          <p:spTgt spid="463"/>
                                        </p:tgtEl>
                                        <p:attrNameLst>
                                          <p:attrName>ppt_w</p:attrName>
                                        </p:attrNameLst>
                                      </p:cBhvr>
                                      <p:tavLst>
                                        <p:tav tm="0">
                                          <p:val>
                                            <p:strVal val="0"/>
                                          </p:val>
                                        </p:tav>
                                        <p:tav tm="100000">
                                          <p:val>
                                            <p:strVal val="#ppt_w"/>
                                          </p:val>
                                        </p:tav>
                                      </p:tavLst>
                                    </p:anim>
                                    <p:anim calcmode="lin" valueType="num">
                                      <p:cBhvr additive="base">
                                        <p:cTn id="20" dur="500"/>
                                        <p:tgtEl>
                                          <p:spTgt spid="46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grpSp>
        <p:nvGrpSpPr>
          <p:cNvPr id="469" name="Google Shape;469;p47"/>
          <p:cNvGrpSpPr/>
          <p:nvPr/>
        </p:nvGrpSpPr>
        <p:grpSpPr>
          <a:xfrm>
            <a:off x="1528879" y="381000"/>
            <a:ext cx="6086243" cy="2438400"/>
            <a:chOff x="1075743" y="349205"/>
            <a:chExt cx="4331352" cy="864780"/>
          </a:xfrm>
        </p:grpSpPr>
        <p:sp>
          <p:nvSpPr>
            <p:cNvPr id="470" name="Google Shape;470;p47"/>
            <p:cNvSpPr/>
            <p:nvPr/>
          </p:nvSpPr>
          <p:spPr>
            <a:xfrm>
              <a:off x="1075743" y="349205"/>
              <a:ext cx="4331352" cy="864780"/>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471" name="Google Shape;471;p47"/>
            <p:cNvSpPr/>
            <p:nvPr/>
          </p:nvSpPr>
          <p:spPr>
            <a:xfrm>
              <a:off x="1153614" y="349205"/>
              <a:ext cx="4175609" cy="735738"/>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3200">
                  <a:solidFill>
                    <a:srgbClr val="FFFFFF"/>
                  </a:solidFill>
                  <a:latin typeface="Open Sans SemiBold"/>
                  <a:ea typeface="Open Sans SemiBold"/>
                  <a:cs typeface="Open Sans SemiBold"/>
                  <a:sym typeface="Open Sans SemiBold"/>
                </a:rPr>
                <a:t>CCCA3 PROJECT</a:t>
              </a:r>
              <a:endParaRPr/>
            </a:p>
            <a:p>
              <a:pPr marL="0" marR="0" lvl="0" indent="0" algn="ctr" rtl="0">
                <a:spcBef>
                  <a:spcPts val="0"/>
                </a:spcBef>
                <a:spcAft>
                  <a:spcPts val="0"/>
                </a:spcAft>
                <a:buNone/>
              </a:pPr>
              <a:endParaRPr sz="3200">
                <a:solidFill>
                  <a:srgbClr val="FFFFFF"/>
                </a:solidFill>
                <a:latin typeface="Open Sans SemiBold"/>
                <a:ea typeface="Open Sans SemiBold"/>
                <a:cs typeface="Open Sans SemiBold"/>
                <a:sym typeface="Open Sans SemiBold"/>
              </a:endParaRPr>
            </a:p>
            <a:p>
              <a:pPr marL="0" marR="0" lvl="0" indent="0" algn="ctr" rtl="0">
                <a:spcBef>
                  <a:spcPts val="0"/>
                </a:spcBef>
                <a:spcAft>
                  <a:spcPts val="0"/>
                </a:spcAft>
                <a:buNone/>
              </a:pPr>
              <a:endParaRPr sz="3200">
                <a:solidFill>
                  <a:srgbClr val="FFFFFF"/>
                </a:solidFill>
                <a:latin typeface="Open Sans SemiBold"/>
                <a:ea typeface="Open Sans SemiBold"/>
                <a:cs typeface="Open Sans SemiBold"/>
                <a:sym typeface="Open Sans SemiBold"/>
              </a:endParaRPr>
            </a:p>
            <a:p>
              <a:pPr marL="0" marR="0" lvl="0" indent="0" algn="ctr" rtl="0">
                <a:spcBef>
                  <a:spcPts val="0"/>
                </a:spcBef>
                <a:spcAft>
                  <a:spcPts val="0"/>
                </a:spcAft>
                <a:buNone/>
              </a:pPr>
              <a:r>
                <a:rPr lang="fr-FR" sz="3200">
                  <a:solidFill>
                    <a:srgbClr val="FFFFFF"/>
                  </a:solidFill>
                  <a:latin typeface="Open Sans SemiBold"/>
                  <a:ea typeface="Open Sans SemiBold"/>
                  <a:cs typeface="Open Sans SemiBold"/>
                  <a:sym typeface="Open Sans SemiBold"/>
                </a:rPr>
                <a:t>“NGO, stand for your cause!”</a:t>
              </a:r>
              <a:endParaRPr sz="3200">
                <a:solidFill>
                  <a:srgbClr val="FFFFFF"/>
                </a:solidFill>
                <a:latin typeface="Open Sans SemiBold"/>
                <a:ea typeface="Open Sans SemiBold"/>
                <a:cs typeface="Open Sans SemiBold"/>
                <a:sym typeface="Open Sans SemiBold"/>
              </a:endParaRPr>
            </a:p>
            <a:p>
              <a:pPr marL="0" marR="0" lvl="0" indent="0" algn="ctr" rtl="0">
                <a:spcBef>
                  <a:spcPts val="0"/>
                </a:spcBef>
                <a:spcAft>
                  <a:spcPts val="0"/>
                </a:spcAft>
                <a:buNone/>
              </a:pPr>
              <a:endParaRPr sz="3200">
                <a:solidFill>
                  <a:srgbClr val="FFFFFF"/>
                </a:solidFill>
                <a:latin typeface="Open Sans SemiBold"/>
                <a:ea typeface="Open Sans SemiBold"/>
                <a:cs typeface="Open Sans SemiBold"/>
                <a:sym typeface="Open Sans SemiBold"/>
              </a:endParaRPr>
            </a:p>
            <a:p>
              <a:pPr marL="0" marR="0" lvl="0" indent="0" algn="ctr" rtl="0">
                <a:spcBef>
                  <a:spcPts val="0"/>
                </a:spcBef>
                <a:spcAft>
                  <a:spcPts val="0"/>
                </a:spcAft>
                <a:buNone/>
              </a:pPr>
              <a:endParaRPr sz="3200">
                <a:solidFill>
                  <a:srgbClr val="FFFFFF"/>
                </a:solidFill>
                <a:latin typeface="Open Sans SemiBold"/>
                <a:ea typeface="Open Sans SemiBold"/>
                <a:cs typeface="Open Sans SemiBold"/>
                <a:sym typeface="Open Sans SemiBold"/>
              </a:endParaRPr>
            </a:p>
          </p:txBody>
        </p:sp>
      </p:grpSp>
      <p:pic>
        <p:nvPicPr>
          <p:cNvPr id="472" name="Google Shape;472;p47" descr="NGO_Wordcloud.jpg"/>
          <p:cNvPicPr preferRelativeResize="0"/>
          <p:nvPr/>
        </p:nvPicPr>
        <p:blipFill rotWithShape="1">
          <a:blip r:embed="rId3">
            <a:alphaModFix/>
          </a:blip>
          <a:srcRect/>
          <a:stretch/>
        </p:blipFill>
        <p:spPr>
          <a:xfrm>
            <a:off x="571500" y="2590800"/>
            <a:ext cx="8001000" cy="4267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69"/>
                                        </p:tgtEl>
                                        <p:attrNameLst>
                                          <p:attrName>style.visibility</p:attrName>
                                        </p:attrNameLst>
                                      </p:cBhvr>
                                      <p:to>
                                        <p:strVal val="visible"/>
                                      </p:to>
                                    </p:set>
                                    <p:anim calcmode="lin" valueType="num">
                                      <p:cBhvr additive="base">
                                        <p:cTn id="7" dur="500"/>
                                        <p:tgtEl>
                                          <p:spTgt spid="469"/>
                                        </p:tgtEl>
                                        <p:attrNameLst>
                                          <p:attrName>ppt_w</p:attrName>
                                        </p:attrNameLst>
                                      </p:cBhvr>
                                      <p:tavLst>
                                        <p:tav tm="0">
                                          <p:val>
                                            <p:strVal val="0"/>
                                          </p:val>
                                        </p:tav>
                                        <p:tav tm="100000">
                                          <p:val>
                                            <p:strVal val="#ppt_w"/>
                                          </p:val>
                                        </p:tav>
                                      </p:tavLst>
                                    </p:anim>
                                    <p:anim calcmode="lin" valueType="num">
                                      <p:cBhvr additive="base">
                                        <p:cTn id="8" dur="500"/>
                                        <p:tgtEl>
                                          <p:spTgt spid="469"/>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472"/>
                                        </p:tgtEl>
                                        <p:attrNameLst>
                                          <p:attrName>style.visibility</p:attrName>
                                        </p:attrNameLst>
                                      </p:cBhvr>
                                      <p:to>
                                        <p:strVal val="visible"/>
                                      </p:to>
                                    </p:set>
                                    <p:anim calcmode="lin" valueType="num">
                                      <p:cBhvr additive="base">
                                        <p:cTn id="11" dur="500"/>
                                        <p:tgtEl>
                                          <p:spTgt spid="472"/>
                                        </p:tgtEl>
                                        <p:attrNameLst>
                                          <p:attrName>ppt_w</p:attrName>
                                        </p:attrNameLst>
                                      </p:cBhvr>
                                      <p:tavLst>
                                        <p:tav tm="0">
                                          <p:val>
                                            <p:strVal val="0"/>
                                          </p:val>
                                        </p:tav>
                                        <p:tav tm="100000">
                                          <p:val>
                                            <p:strVal val="#ppt_w"/>
                                          </p:val>
                                        </p:tav>
                                      </p:tavLst>
                                    </p:anim>
                                    <p:anim calcmode="lin" valueType="num">
                                      <p:cBhvr additive="base">
                                        <p:cTn id="12" dur="500"/>
                                        <p:tgtEl>
                                          <p:spTgt spid="47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52"/>
          <p:cNvSpPr txBox="1">
            <a:spLocks noGrp="1"/>
          </p:cNvSpPr>
          <p:nvPr>
            <p:ph type="title"/>
          </p:nvPr>
        </p:nvSpPr>
        <p:spPr>
          <a:xfrm>
            <a:off x="989922" y="467320"/>
            <a:ext cx="6366880" cy="108485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F2C3F"/>
              </a:buClr>
              <a:buSzPts val="2800"/>
              <a:buFont typeface="Bebas Neue"/>
              <a:buNone/>
            </a:pPr>
            <a:r>
              <a:rPr lang="fr-FR" sz="2800" b="1" dirty="0"/>
              <a:t>This </a:t>
            </a:r>
            <a:r>
              <a:rPr lang="fr-FR" sz="2800" b="1" dirty="0" err="1"/>
              <a:t>project</a:t>
            </a:r>
            <a:r>
              <a:rPr lang="fr-FR" sz="2800" b="1" dirty="0"/>
              <a:t> </a:t>
            </a:r>
            <a:r>
              <a:rPr lang="fr-FR" sz="2800" b="1" dirty="0" err="1"/>
              <a:t>will</a:t>
            </a:r>
            <a:r>
              <a:rPr lang="fr-FR" sz="2800" b="1" dirty="0"/>
              <a:t> help </a:t>
            </a:r>
            <a:r>
              <a:rPr lang="fr-FR" sz="2800" b="1" dirty="0" err="1"/>
              <a:t>you</a:t>
            </a:r>
            <a:r>
              <a:rPr lang="fr-FR" sz="2800" b="1" dirty="0"/>
              <a:t> </a:t>
            </a:r>
            <a:r>
              <a:rPr lang="fr-FR" sz="2800" b="1" dirty="0" err="1"/>
              <a:t>acquire</a:t>
            </a:r>
            <a:r>
              <a:rPr lang="fr-FR" sz="2800" b="1" dirty="0"/>
              <a:t> </a:t>
            </a:r>
            <a:r>
              <a:rPr lang="fr-FR" sz="2800" b="1" dirty="0" err="1"/>
              <a:t>these</a:t>
            </a:r>
            <a:r>
              <a:rPr lang="fr-FR" sz="2800" b="1" dirty="0"/>
              <a:t> </a:t>
            </a:r>
            <a:r>
              <a:rPr lang="fr-FR" sz="2800" b="1" dirty="0">
                <a:solidFill>
                  <a:srgbClr val="FF0000"/>
                </a:solidFill>
              </a:rPr>
              <a:t>Soft</a:t>
            </a:r>
            <a:r>
              <a:rPr lang="fr-FR" sz="2800" b="1" dirty="0"/>
              <a:t> </a:t>
            </a:r>
            <a:r>
              <a:rPr lang="fr-FR" sz="2800" b="1" dirty="0" err="1">
                <a:solidFill>
                  <a:srgbClr val="FF0000"/>
                </a:solidFill>
              </a:rPr>
              <a:t>Skills</a:t>
            </a:r>
            <a:r>
              <a:rPr lang="fr-FR" sz="2800" b="1" dirty="0"/>
              <a:t>:</a:t>
            </a:r>
            <a:endParaRPr sz="2800" b="1" dirty="0"/>
          </a:p>
        </p:txBody>
      </p:sp>
      <p:grpSp>
        <p:nvGrpSpPr>
          <p:cNvPr id="518" name="Google Shape;518;p52"/>
          <p:cNvGrpSpPr/>
          <p:nvPr/>
        </p:nvGrpSpPr>
        <p:grpSpPr>
          <a:xfrm>
            <a:off x="1431945" y="1826489"/>
            <a:ext cx="5639595" cy="4373921"/>
            <a:chOff x="803295" y="864"/>
            <a:chExt cx="5639595" cy="4373921"/>
          </a:xfrm>
        </p:grpSpPr>
        <p:sp>
          <p:nvSpPr>
            <p:cNvPr id="519" name="Google Shape;519;p52"/>
            <p:cNvSpPr/>
            <p:nvPr/>
          </p:nvSpPr>
          <p:spPr>
            <a:xfrm>
              <a:off x="1402777" y="864"/>
              <a:ext cx="4373921" cy="4373921"/>
            </a:xfrm>
            <a:custGeom>
              <a:avLst/>
              <a:gdLst/>
              <a:ahLst/>
              <a:cxnLst/>
              <a:rect l="l" t="t" r="r" b="b"/>
              <a:pathLst>
                <a:path w="120000" h="120000" extrusionOk="0">
                  <a:moveTo>
                    <a:pt x="71069" y="4679"/>
                  </a:moveTo>
                  <a:lnTo>
                    <a:pt x="71069" y="4679"/>
                  </a:lnTo>
                  <a:cubicBezTo>
                    <a:pt x="98193" y="10106"/>
                    <a:pt x="117381" y="34397"/>
                    <a:pt x="116381" y="62040"/>
                  </a:cubicBezTo>
                  <a:cubicBezTo>
                    <a:pt x="115381" y="89683"/>
                    <a:pt x="94487" y="112524"/>
                    <a:pt x="67043" y="115977"/>
                  </a:cubicBezTo>
                  <a:cubicBezTo>
                    <a:pt x="39598" y="119430"/>
                    <a:pt x="13697" y="102476"/>
                    <a:pt x="5881" y="75942"/>
                  </a:cubicBezTo>
                  <a:cubicBezTo>
                    <a:pt x="-1935" y="49408"/>
                    <a:pt x="10639" y="21121"/>
                    <a:pt x="35572" y="9144"/>
                  </a:cubicBezTo>
                  <a:lnTo>
                    <a:pt x="34325" y="5802"/>
                  </a:lnTo>
                  <a:lnTo>
                    <a:pt x="41432" y="10261"/>
                  </a:lnTo>
                  <a:lnTo>
                    <a:pt x="39157" y="18747"/>
                  </a:lnTo>
                  <a:lnTo>
                    <a:pt x="37910" y="15406"/>
                  </a:lnTo>
                  <a:lnTo>
                    <a:pt x="37910" y="15406"/>
                  </a:lnTo>
                  <a:cubicBezTo>
                    <a:pt x="16097" y="26211"/>
                    <a:pt x="5302" y="51210"/>
                    <a:pt x="12393" y="74496"/>
                  </a:cubicBezTo>
                  <a:cubicBezTo>
                    <a:pt x="19484" y="97783"/>
                    <a:pt x="42379" y="112522"/>
                    <a:pt x="66512" y="109337"/>
                  </a:cubicBezTo>
                  <a:cubicBezTo>
                    <a:pt x="90645" y="106152"/>
                    <a:pt x="108932" y="85977"/>
                    <a:pt x="109738" y="61648"/>
                  </a:cubicBezTo>
                  <a:cubicBezTo>
                    <a:pt x="110544" y="37319"/>
                    <a:pt x="93633" y="15978"/>
                    <a:pt x="69764" y="11202"/>
                  </a:cubicBezTo>
                  <a:close/>
                </a:path>
              </a:pathLst>
            </a:custGeom>
            <a:solidFill>
              <a:srgbClr val="F3DD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2"/>
            <p:cNvSpPr/>
            <p:nvPr/>
          </p:nvSpPr>
          <p:spPr>
            <a:xfrm>
              <a:off x="2969738" y="39755"/>
              <a:ext cx="1239998" cy="619999"/>
            </a:xfrm>
            <a:prstGeom prst="roundRect">
              <a:avLst>
                <a:gd name="adj" fmla="val 16667"/>
              </a:avLst>
            </a:prstGeom>
            <a:solidFill>
              <a:srgbClr val="DE982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2"/>
            <p:cNvSpPr txBox="1"/>
            <p:nvPr/>
          </p:nvSpPr>
          <p:spPr>
            <a:xfrm>
              <a:off x="3000004" y="70021"/>
              <a:ext cx="1179466" cy="55946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None/>
              </a:pPr>
              <a:r>
                <a:rPr lang="fr-FR" sz="1100">
                  <a:solidFill>
                    <a:schemeClr val="lt1"/>
                  </a:solidFill>
                  <a:latin typeface="Calibri"/>
                  <a:ea typeface="Calibri"/>
                  <a:cs typeface="Calibri"/>
                  <a:sym typeface="Calibri"/>
                </a:rPr>
                <a:t>empathy</a:t>
              </a:r>
              <a:endParaRPr sz="1100">
                <a:solidFill>
                  <a:schemeClr val="lt1"/>
                </a:solidFill>
                <a:latin typeface="Calibri"/>
                <a:ea typeface="Calibri"/>
                <a:cs typeface="Calibri"/>
                <a:sym typeface="Calibri"/>
              </a:endParaRPr>
            </a:p>
          </p:txBody>
        </p:sp>
        <p:sp>
          <p:nvSpPr>
            <p:cNvPr id="522" name="Google Shape;522;p52"/>
            <p:cNvSpPr/>
            <p:nvPr/>
          </p:nvSpPr>
          <p:spPr>
            <a:xfrm>
              <a:off x="4642254" y="546765"/>
              <a:ext cx="1239998" cy="619999"/>
            </a:xfrm>
            <a:prstGeom prst="roundRect">
              <a:avLst>
                <a:gd name="adj" fmla="val 16667"/>
              </a:avLst>
            </a:prstGeom>
            <a:solidFill>
              <a:srgbClr val="DE982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2"/>
            <p:cNvSpPr txBox="1"/>
            <p:nvPr/>
          </p:nvSpPr>
          <p:spPr>
            <a:xfrm>
              <a:off x="4672520" y="577031"/>
              <a:ext cx="1179466" cy="55946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None/>
              </a:pPr>
              <a:r>
                <a:rPr lang="fr-FR" sz="1100">
                  <a:solidFill>
                    <a:schemeClr val="lt1"/>
                  </a:solidFill>
                  <a:latin typeface="Calibri"/>
                  <a:ea typeface="Calibri"/>
                  <a:cs typeface="Calibri"/>
                  <a:sym typeface="Calibri"/>
                </a:rPr>
                <a:t>teamwork</a:t>
              </a:r>
              <a:endParaRPr sz="1100">
                <a:solidFill>
                  <a:schemeClr val="lt1"/>
                </a:solidFill>
                <a:latin typeface="Calibri"/>
                <a:ea typeface="Calibri"/>
                <a:cs typeface="Calibri"/>
                <a:sym typeface="Calibri"/>
              </a:endParaRPr>
            </a:p>
          </p:txBody>
        </p:sp>
        <p:sp>
          <p:nvSpPr>
            <p:cNvPr id="524" name="Google Shape;524;p52"/>
            <p:cNvSpPr/>
            <p:nvPr/>
          </p:nvSpPr>
          <p:spPr>
            <a:xfrm>
              <a:off x="5202892" y="1586728"/>
              <a:ext cx="1239998" cy="619999"/>
            </a:xfrm>
            <a:prstGeom prst="roundRect">
              <a:avLst>
                <a:gd name="adj" fmla="val 16667"/>
              </a:avLst>
            </a:prstGeom>
            <a:solidFill>
              <a:srgbClr val="DE982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2"/>
            <p:cNvSpPr txBox="1"/>
            <p:nvPr/>
          </p:nvSpPr>
          <p:spPr>
            <a:xfrm>
              <a:off x="5233158" y="1616994"/>
              <a:ext cx="1179466" cy="55946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None/>
              </a:pPr>
              <a:r>
                <a:rPr lang="fr-FR" sz="1100">
                  <a:solidFill>
                    <a:schemeClr val="lt1"/>
                  </a:solidFill>
                  <a:latin typeface="Calibri"/>
                  <a:ea typeface="Calibri"/>
                  <a:cs typeface="Calibri"/>
                  <a:sym typeface="Calibri"/>
                </a:rPr>
                <a:t>Planning skills</a:t>
              </a:r>
              <a:endParaRPr sz="1100">
                <a:solidFill>
                  <a:schemeClr val="lt1"/>
                </a:solidFill>
                <a:latin typeface="Calibri"/>
                <a:ea typeface="Calibri"/>
                <a:cs typeface="Calibri"/>
                <a:sym typeface="Calibri"/>
              </a:endParaRPr>
            </a:p>
          </p:txBody>
        </p:sp>
        <p:sp>
          <p:nvSpPr>
            <p:cNvPr id="526" name="Google Shape;526;p52"/>
            <p:cNvSpPr/>
            <p:nvPr/>
          </p:nvSpPr>
          <p:spPr>
            <a:xfrm>
              <a:off x="4170777" y="3616752"/>
              <a:ext cx="1239998" cy="619999"/>
            </a:xfrm>
            <a:prstGeom prst="roundRect">
              <a:avLst>
                <a:gd name="adj" fmla="val 16667"/>
              </a:avLst>
            </a:prstGeom>
            <a:solidFill>
              <a:srgbClr val="DE982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2"/>
            <p:cNvSpPr txBox="1"/>
            <p:nvPr/>
          </p:nvSpPr>
          <p:spPr>
            <a:xfrm>
              <a:off x="4201043" y="3647018"/>
              <a:ext cx="1179466" cy="55946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None/>
              </a:pPr>
              <a:r>
                <a:rPr lang="fr-FR" sz="1100">
                  <a:solidFill>
                    <a:schemeClr val="lt1"/>
                  </a:solidFill>
                  <a:latin typeface="Calibri"/>
                  <a:ea typeface="Calibri"/>
                  <a:cs typeface="Calibri"/>
                  <a:sym typeface="Calibri"/>
                </a:rPr>
                <a:t>Emotional intelligence</a:t>
              </a:r>
              <a:endParaRPr sz="1100">
                <a:solidFill>
                  <a:schemeClr val="lt1"/>
                </a:solidFill>
                <a:latin typeface="Calibri"/>
                <a:ea typeface="Calibri"/>
                <a:cs typeface="Calibri"/>
                <a:sym typeface="Calibri"/>
              </a:endParaRPr>
            </a:p>
          </p:txBody>
        </p:sp>
        <p:sp>
          <p:nvSpPr>
            <p:cNvPr id="528" name="Google Shape;528;p52"/>
            <p:cNvSpPr/>
            <p:nvPr/>
          </p:nvSpPr>
          <p:spPr>
            <a:xfrm>
              <a:off x="1568384" y="3521340"/>
              <a:ext cx="1239998" cy="619999"/>
            </a:xfrm>
            <a:prstGeom prst="roundRect">
              <a:avLst>
                <a:gd name="adj" fmla="val 16667"/>
              </a:avLst>
            </a:prstGeom>
            <a:solidFill>
              <a:srgbClr val="DE982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2"/>
            <p:cNvSpPr txBox="1"/>
            <p:nvPr/>
          </p:nvSpPr>
          <p:spPr>
            <a:xfrm>
              <a:off x="1598650" y="3551606"/>
              <a:ext cx="1179466" cy="55946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None/>
              </a:pPr>
              <a:r>
                <a:rPr lang="fr-FR" sz="1100">
                  <a:solidFill>
                    <a:schemeClr val="lt1"/>
                  </a:solidFill>
                  <a:latin typeface="Calibri"/>
                  <a:ea typeface="Calibri"/>
                  <a:cs typeface="Calibri"/>
                  <a:sym typeface="Calibri"/>
                </a:rPr>
                <a:t>Presentation skills</a:t>
              </a:r>
              <a:endParaRPr sz="1100">
                <a:solidFill>
                  <a:schemeClr val="lt1"/>
                </a:solidFill>
                <a:latin typeface="Calibri"/>
                <a:ea typeface="Calibri"/>
                <a:cs typeface="Calibri"/>
                <a:sym typeface="Calibri"/>
              </a:endParaRPr>
            </a:p>
          </p:txBody>
        </p:sp>
        <p:sp>
          <p:nvSpPr>
            <p:cNvPr id="530" name="Google Shape;530;p52"/>
            <p:cNvSpPr/>
            <p:nvPr/>
          </p:nvSpPr>
          <p:spPr>
            <a:xfrm>
              <a:off x="943615" y="2451157"/>
              <a:ext cx="1239998" cy="619999"/>
            </a:xfrm>
            <a:prstGeom prst="roundRect">
              <a:avLst>
                <a:gd name="adj" fmla="val 16667"/>
              </a:avLst>
            </a:prstGeom>
            <a:solidFill>
              <a:srgbClr val="DE982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2"/>
            <p:cNvSpPr txBox="1"/>
            <p:nvPr/>
          </p:nvSpPr>
          <p:spPr>
            <a:xfrm>
              <a:off x="973881" y="2481423"/>
              <a:ext cx="1179466" cy="55946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None/>
              </a:pPr>
              <a:r>
                <a:rPr lang="fr-FR" sz="1100">
                  <a:solidFill>
                    <a:schemeClr val="lt1"/>
                  </a:solidFill>
                  <a:latin typeface="Calibri"/>
                  <a:ea typeface="Calibri"/>
                  <a:cs typeface="Calibri"/>
                  <a:sym typeface="Calibri"/>
                </a:rPr>
                <a:t>communication</a:t>
              </a:r>
              <a:endParaRPr sz="1100">
                <a:solidFill>
                  <a:schemeClr val="lt1"/>
                </a:solidFill>
                <a:latin typeface="Calibri"/>
                <a:ea typeface="Calibri"/>
                <a:cs typeface="Calibri"/>
                <a:sym typeface="Calibri"/>
              </a:endParaRPr>
            </a:p>
          </p:txBody>
        </p:sp>
        <p:sp>
          <p:nvSpPr>
            <p:cNvPr id="532" name="Google Shape;532;p52"/>
            <p:cNvSpPr/>
            <p:nvPr/>
          </p:nvSpPr>
          <p:spPr>
            <a:xfrm>
              <a:off x="803295" y="1066764"/>
              <a:ext cx="1239998" cy="619999"/>
            </a:xfrm>
            <a:prstGeom prst="roundRect">
              <a:avLst>
                <a:gd name="adj" fmla="val 16667"/>
              </a:avLst>
            </a:prstGeom>
            <a:solidFill>
              <a:srgbClr val="DE982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2"/>
            <p:cNvSpPr txBox="1"/>
            <p:nvPr/>
          </p:nvSpPr>
          <p:spPr>
            <a:xfrm>
              <a:off x="833561" y="1097030"/>
              <a:ext cx="1179466" cy="55946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None/>
              </a:pPr>
              <a:r>
                <a:rPr lang="fr-FR" sz="1100">
                  <a:solidFill>
                    <a:schemeClr val="lt1"/>
                  </a:solidFill>
                  <a:latin typeface="Calibri"/>
                  <a:ea typeface="Calibri"/>
                  <a:cs typeface="Calibri"/>
                  <a:sym typeface="Calibri"/>
                </a:rPr>
                <a:t>Problem solving and decision making</a:t>
              </a:r>
              <a:endParaRPr sz="1100">
                <a:solidFill>
                  <a:schemeClr val="lt1"/>
                </a:solidFill>
                <a:latin typeface="Calibri"/>
                <a:ea typeface="Calibri"/>
                <a:cs typeface="Calibri"/>
                <a:sym typeface="Calibri"/>
              </a:endParaRPr>
            </a:p>
          </p:txBody>
        </p:sp>
        <p:sp>
          <p:nvSpPr>
            <p:cNvPr id="534" name="Google Shape;534;p52"/>
            <p:cNvSpPr/>
            <p:nvPr/>
          </p:nvSpPr>
          <p:spPr>
            <a:xfrm>
              <a:off x="5003593" y="2589852"/>
              <a:ext cx="1239998" cy="619999"/>
            </a:xfrm>
            <a:prstGeom prst="roundRect">
              <a:avLst>
                <a:gd name="adj" fmla="val 16667"/>
              </a:avLst>
            </a:prstGeom>
            <a:solidFill>
              <a:srgbClr val="DE982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2"/>
            <p:cNvSpPr txBox="1"/>
            <p:nvPr/>
          </p:nvSpPr>
          <p:spPr>
            <a:xfrm>
              <a:off x="5033859" y="2620118"/>
              <a:ext cx="1179466" cy="55946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None/>
              </a:pPr>
              <a:r>
                <a:rPr lang="fr-FR" sz="1100">
                  <a:solidFill>
                    <a:schemeClr val="lt1"/>
                  </a:solidFill>
                  <a:latin typeface="Calibri"/>
                  <a:ea typeface="Calibri"/>
                  <a:cs typeface="Calibri"/>
                  <a:sym typeface="Calibri"/>
                </a:rPr>
                <a:t>Social intelligence</a:t>
              </a:r>
              <a:endParaRPr sz="1100">
                <a:solidFill>
                  <a:schemeClr val="lt1"/>
                </a:solidFill>
                <a:latin typeface="Calibri"/>
                <a:ea typeface="Calibri"/>
                <a:cs typeface="Calibri"/>
                <a:sym typeface="Calibri"/>
              </a:endParaRPr>
            </a:p>
          </p:txBody>
        </p:sp>
      </p:grpSp>
      <p:sp>
        <p:nvSpPr>
          <p:cNvPr id="536" name="Google Shape;536;p52"/>
          <p:cNvSpPr txBox="1">
            <a:spLocks noGrp="1"/>
          </p:cNvSpPr>
          <p:nvPr>
            <p:ph type="sldNum" idx="12"/>
          </p:nvPr>
        </p:nvSpPr>
        <p:spPr>
          <a:xfrm>
            <a:off x="7897906" y="6275668"/>
            <a:ext cx="9906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50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18"/>
                                        </p:tgtEl>
                                        <p:attrNameLst>
                                          <p:attrName>style.visibility</p:attrName>
                                        </p:attrNameLst>
                                      </p:cBhvr>
                                      <p:to>
                                        <p:strVal val="visible"/>
                                      </p:to>
                                    </p:set>
                                    <p:anim calcmode="lin" valueType="num">
                                      <p:cBhvr>
                                        <p:cTn id="7" dur="1000" fill="hold"/>
                                        <p:tgtEl>
                                          <p:spTgt spid="518"/>
                                        </p:tgtEl>
                                        <p:attrNameLst>
                                          <p:attrName>ppt_w</p:attrName>
                                        </p:attrNameLst>
                                      </p:cBhvr>
                                      <p:tavLst>
                                        <p:tav tm="0">
                                          <p:val>
                                            <p:strVal val="#ppt_w*0.70"/>
                                          </p:val>
                                        </p:tav>
                                        <p:tav tm="100000">
                                          <p:val>
                                            <p:strVal val="#ppt_w"/>
                                          </p:val>
                                        </p:tav>
                                      </p:tavLst>
                                    </p:anim>
                                    <p:anim calcmode="lin" valueType="num">
                                      <p:cBhvr>
                                        <p:cTn id="8" dur="1000" fill="hold"/>
                                        <p:tgtEl>
                                          <p:spTgt spid="518"/>
                                        </p:tgtEl>
                                        <p:attrNameLst>
                                          <p:attrName>ppt_h</p:attrName>
                                        </p:attrNameLst>
                                      </p:cBhvr>
                                      <p:tavLst>
                                        <p:tav tm="0">
                                          <p:val>
                                            <p:strVal val="#ppt_h"/>
                                          </p:val>
                                        </p:tav>
                                        <p:tav tm="100000">
                                          <p:val>
                                            <p:strVal val="#ppt_h"/>
                                          </p:val>
                                        </p:tav>
                                      </p:tavLst>
                                    </p:anim>
                                    <p:animEffect transition="in" filter="fade">
                                      <p:cBhvr>
                                        <p:cTn id="9" dur="10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grpSp>
        <p:nvGrpSpPr>
          <p:cNvPr id="478" name="Google Shape;478;p48"/>
          <p:cNvGrpSpPr/>
          <p:nvPr/>
        </p:nvGrpSpPr>
        <p:grpSpPr>
          <a:xfrm>
            <a:off x="428857" y="485286"/>
            <a:ext cx="6086243" cy="565433"/>
            <a:chOff x="801127" y="403254"/>
            <a:chExt cx="4331352" cy="565433"/>
          </a:xfrm>
        </p:grpSpPr>
        <p:sp>
          <p:nvSpPr>
            <p:cNvPr id="479" name="Google Shape;479;p48"/>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480" name="Google Shape;480;p48"/>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Introduction</a:t>
              </a:r>
              <a:endParaRPr sz="1800">
                <a:solidFill>
                  <a:srgbClr val="FFFFFF"/>
                </a:solidFill>
                <a:latin typeface="Open Sans SemiBold"/>
                <a:ea typeface="Open Sans SemiBold"/>
                <a:cs typeface="Open Sans SemiBold"/>
                <a:sym typeface="Open Sans SemiBold"/>
              </a:endParaRPr>
            </a:p>
          </p:txBody>
        </p:sp>
      </p:grpSp>
      <p:pic>
        <p:nvPicPr>
          <p:cNvPr id="481" name="Google Shape;481;p48"/>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482" name="Google Shape;482;p48"/>
          <p:cNvSpPr/>
          <p:nvPr/>
        </p:nvSpPr>
        <p:spPr>
          <a:xfrm>
            <a:off x="152400" y="1828800"/>
            <a:ext cx="6324600" cy="3416320"/>
          </a:xfrm>
          <a:prstGeom prst="rect">
            <a:avLst/>
          </a:prstGeom>
          <a:noFill/>
          <a:ln w="9525" cap="flat" cmpd="sng">
            <a:solidFill>
              <a:srgbClr val="4F81BD"/>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fr-FR" sz="2400">
                <a:solidFill>
                  <a:schemeClr val="dk1"/>
                </a:solidFill>
                <a:latin typeface="Calibri"/>
                <a:ea typeface="Calibri"/>
                <a:cs typeface="Calibri"/>
                <a:sym typeface="Calibri"/>
              </a:rPr>
              <a:t>Have you ever seen a problem and wanted to do something about it? Of course you have. The schools, police, government welfare offices and families aren’t handling it.</a:t>
            </a:r>
            <a:endParaRPr/>
          </a:p>
          <a:p>
            <a:pPr marL="0" marR="0" lvl="0" indent="0" algn="just" rtl="0">
              <a:spcBef>
                <a:spcPts val="0"/>
              </a:spcBef>
              <a:spcAft>
                <a:spcPts val="0"/>
              </a:spcAft>
              <a:buNone/>
            </a:pPr>
            <a:endParaRPr sz="2400">
              <a:solidFill>
                <a:schemeClr val="dk1"/>
              </a:solidFill>
              <a:latin typeface="Calibri"/>
              <a:ea typeface="Calibri"/>
              <a:cs typeface="Calibri"/>
              <a:sym typeface="Calibri"/>
            </a:endParaRPr>
          </a:p>
          <a:p>
            <a:pPr marL="0" marR="0" lvl="0" indent="0" algn="just" rtl="0">
              <a:spcBef>
                <a:spcPts val="0"/>
              </a:spcBef>
              <a:spcAft>
                <a:spcPts val="0"/>
              </a:spcAft>
              <a:buNone/>
            </a:pPr>
            <a:r>
              <a:rPr lang="fr-FR" sz="2400">
                <a:solidFill>
                  <a:schemeClr val="dk1"/>
                </a:solidFill>
                <a:latin typeface="Calibri"/>
                <a:ea typeface="Calibri"/>
                <a:cs typeface="Calibri"/>
                <a:sym typeface="Calibri"/>
              </a:rPr>
              <a:t>Others share your concerns and want to do something. That’s why you would start a nongovernmental organization, your own NGO.</a:t>
            </a:r>
            <a:endParaRPr/>
          </a:p>
          <a:p>
            <a:pPr marL="0" marR="0" lvl="0" indent="0" algn="just" rtl="0">
              <a:spcBef>
                <a:spcPts val="0"/>
              </a:spcBef>
              <a:spcAft>
                <a:spcPts val="0"/>
              </a:spcAft>
              <a:buNone/>
            </a:pPr>
            <a:r>
              <a:rPr lang="fr-FR" sz="2400">
                <a:solidFill>
                  <a:schemeClr val="dk1"/>
                </a:solidFill>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Effect transition="in" filter="fade">
                                      <p:cBhvr>
                                        <p:cTn id="7" dur="500"/>
                                        <p:tgtEl>
                                          <p:spTgt spid="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texte 2"/>
          <p:cNvSpPr>
            <a:spLocks noGrp="1"/>
          </p:cNvSpPr>
          <p:nvPr>
            <p:ph type="body" idx="1"/>
          </p:nvPr>
        </p:nvSpPr>
        <p:spPr/>
        <p:txBody>
          <a:bodyPr/>
          <a:lstStyle/>
          <a:p>
            <a:endParaRPr lang="fr-FR" dirty="0"/>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500" y="762000"/>
            <a:ext cx="5715000" cy="5334000"/>
          </a:xfrm>
          <a:prstGeom prst="rect">
            <a:avLst/>
          </a:prstGeom>
        </p:spPr>
      </p:pic>
    </p:spTree>
    <p:extLst>
      <p:ext uri="{BB962C8B-B14F-4D97-AF65-F5344CB8AC3E}">
        <p14:creationId xmlns:p14="http://schemas.microsoft.com/office/powerpoint/2010/main" val="23802158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grpSp>
        <p:nvGrpSpPr>
          <p:cNvPr id="488" name="Google Shape;488;p49"/>
          <p:cNvGrpSpPr/>
          <p:nvPr/>
        </p:nvGrpSpPr>
        <p:grpSpPr>
          <a:xfrm>
            <a:off x="428857" y="485286"/>
            <a:ext cx="6086243" cy="565433"/>
            <a:chOff x="801127" y="403254"/>
            <a:chExt cx="4331352" cy="565433"/>
          </a:xfrm>
        </p:grpSpPr>
        <p:sp>
          <p:nvSpPr>
            <p:cNvPr id="489" name="Google Shape;489;p49"/>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490" name="Google Shape;490;p49"/>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Overview</a:t>
              </a:r>
              <a:endParaRPr sz="1800">
                <a:solidFill>
                  <a:srgbClr val="FFFFFF"/>
                </a:solidFill>
                <a:latin typeface="Open Sans SemiBold"/>
                <a:ea typeface="Open Sans SemiBold"/>
                <a:cs typeface="Open Sans SemiBold"/>
                <a:sym typeface="Open Sans SemiBold"/>
              </a:endParaRPr>
            </a:p>
          </p:txBody>
        </p:sp>
      </p:grpSp>
      <p:pic>
        <p:nvPicPr>
          <p:cNvPr id="491" name="Google Shape;491;p49"/>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492" name="Google Shape;492;p49"/>
          <p:cNvSpPr txBox="1"/>
          <p:nvPr/>
        </p:nvSpPr>
        <p:spPr>
          <a:xfrm>
            <a:off x="457200" y="1524000"/>
            <a:ext cx="5257800" cy="4893647"/>
          </a:xfrm>
          <a:prstGeom prst="rect">
            <a:avLst/>
          </a:prstGeom>
          <a:noFill/>
          <a:ln w="9525" cap="flat" cmpd="sng">
            <a:solidFill>
              <a:srgbClr val="4F81BD"/>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fr-FR" sz="2400">
                <a:solidFill>
                  <a:schemeClr val="dk1"/>
                </a:solidFill>
                <a:latin typeface="Calibri"/>
                <a:ea typeface="Calibri"/>
                <a:cs typeface="Calibri"/>
                <a:sym typeface="Calibri"/>
              </a:rPr>
              <a:t>NGOs are organizations that are independent of government involvement. They are known as non-governmental organizations or non-government organizations, with NGO as an </a:t>
            </a:r>
            <a:r>
              <a:rPr lang="fr-FR" sz="2400" u="sng">
                <a:solidFill>
                  <a:schemeClr val="dk1"/>
                </a:solidFill>
                <a:latin typeface="Calibri"/>
                <a:ea typeface="Calibri"/>
                <a:cs typeface="Calibri"/>
                <a:sym typeface="Calibri"/>
                <a:hlinkClick r:id="rId4">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acronym</a:t>
            </a:r>
            <a:r>
              <a:rPr lang="fr-FR" sz="2400">
                <a:solidFill>
                  <a:schemeClr val="dk1"/>
                </a:solidFill>
                <a:latin typeface="Calibri"/>
                <a:ea typeface="Calibri"/>
                <a:cs typeface="Calibri"/>
                <a:sym typeface="Calibri"/>
              </a:rPr>
              <a:t>. NGOs are a subgroup of organizations founded by citizens, which include </a:t>
            </a:r>
            <a:r>
              <a:rPr lang="fr-FR" sz="2400" b="1">
                <a:solidFill>
                  <a:schemeClr val="dk1"/>
                </a:solidFill>
                <a:latin typeface="Calibri"/>
                <a:ea typeface="Calibri"/>
                <a:cs typeface="Calibri"/>
                <a:sym typeface="Calibri"/>
              </a:rPr>
              <a:t>clubs</a:t>
            </a:r>
            <a:r>
              <a:rPr lang="fr-FR" sz="2400">
                <a:solidFill>
                  <a:schemeClr val="dk1"/>
                </a:solidFill>
                <a:latin typeface="Calibri"/>
                <a:ea typeface="Calibri"/>
                <a:cs typeface="Calibri"/>
                <a:sym typeface="Calibri"/>
              </a:rPr>
              <a:t> and </a:t>
            </a:r>
            <a:r>
              <a:rPr lang="fr-FR" sz="2400" b="1">
                <a:solidFill>
                  <a:schemeClr val="dk1"/>
                </a:solidFill>
                <a:latin typeface="Calibri"/>
                <a:ea typeface="Calibri"/>
                <a:cs typeface="Calibri"/>
                <a:sym typeface="Calibri"/>
              </a:rPr>
              <a:t>associations</a:t>
            </a:r>
            <a:r>
              <a:rPr lang="fr-FR" sz="2400">
                <a:solidFill>
                  <a:schemeClr val="dk1"/>
                </a:solidFill>
                <a:latin typeface="Calibri"/>
                <a:ea typeface="Calibri"/>
                <a:cs typeface="Calibri"/>
                <a:sym typeface="Calibri"/>
              </a:rPr>
              <a:t> that provide services to their members and others. NGOs are usually </a:t>
            </a:r>
            <a:r>
              <a:rPr lang="fr-FR" sz="2400" u="sng">
                <a:solidFill>
                  <a:schemeClr val="dk1"/>
                </a:solidFill>
                <a:latin typeface="Calibri"/>
                <a:ea typeface="Calibri"/>
                <a:cs typeface="Calibri"/>
                <a:sym typeface="Calibri"/>
                <a:hlinkClick r:id="rId5">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nonprofit organizations</a:t>
            </a:r>
            <a:r>
              <a:rPr lang="fr-FR" sz="2400">
                <a:solidFill>
                  <a:schemeClr val="dk1"/>
                </a:solidFill>
                <a:latin typeface="Calibri"/>
                <a:ea typeface="Calibri"/>
                <a:cs typeface="Calibri"/>
                <a:sym typeface="Calibri"/>
              </a:rPr>
              <a:t>, and many of them are active in </a:t>
            </a:r>
            <a:r>
              <a:rPr lang="fr-FR" sz="2400" b="1">
                <a:solidFill>
                  <a:schemeClr val="dk1"/>
                </a:solidFill>
                <a:latin typeface="Calibri"/>
                <a:ea typeface="Calibri"/>
                <a:cs typeface="Calibri"/>
                <a:sym typeface="Calibri"/>
              </a:rPr>
              <a:t>humanitarianism</a:t>
            </a:r>
            <a:r>
              <a:rPr lang="fr-FR" sz="2400">
                <a:solidFill>
                  <a:schemeClr val="dk1"/>
                </a:solidFill>
                <a:latin typeface="Calibri"/>
                <a:ea typeface="Calibri"/>
                <a:cs typeface="Calibri"/>
                <a:sym typeface="Calibri"/>
              </a:rPr>
              <a:t> or the </a:t>
            </a:r>
            <a:r>
              <a:rPr lang="fr-FR" sz="2400" b="1">
                <a:solidFill>
                  <a:schemeClr val="dk1"/>
                </a:solidFill>
                <a:latin typeface="Calibri"/>
                <a:ea typeface="Calibri"/>
                <a:cs typeface="Calibri"/>
                <a:sym typeface="Calibri"/>
              </a:rPr>
              <a:t>social sciences</a:t>
            </a:r>
            <a:r>
              <a:rPr lang="fr-FR" sz="2400">
                <a:solidFill>
                  <a:schemeClr val="dk1"/>
                </a:solidFill>
                <a:latin typeface="Calibri"/>
                <a:ea typeface="Calibri"/>
                <a:cs typeface="Calibri"/>
                <a:sym typeface="Calibri"/>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92">
                                            <p:txEl>
                                              <p:pRg st="0" end="0"/>
                                            </p:txEl>
                                          </p:spTgt>
                                        </p:tgtEl>
                                        <p:attrNameLst>
                                          <p:attrName>style.visibility</p:attrName>
                                        </p:attrNameLst>
                                      </p:cBhvr>
                                      <p:to>
                                        <p:strVal val="visible"/>
                                      </p:to>
                                    </p:set>
                                    <p:anim calcmode="lin" valueType="num">
                                      <p:cBhvr additive="base">
                                        <p:cTn id="7" dur="500"/>
                                        <p:tgtEl>
                                          <p:spTgt spid="492">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492">
                                            <p:txEl>
                                              <p:pRg st="0" end="0"/>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grpSp>
        <p:nvGrpSpPr>
          <p:cNvPr id="498" name="Google Shape;498;p50"/>
          <p:cNvGrpSpPr/>
          <p:nvPr/>
        </p:nvGrpSpPr>
        <p:grpSpPr>
          <a:xfrm>
            <a:off x="428857" y="485286"/>
            <a:ext cx="6086243" cy="565433"/>
            <a:chOff x="801127" y="403254"/>
            <a:chExt cx="4331352" cy="565433"/>
          </a:xfrm>
        </p:grpSpPr>
        <p:sp>
          <p:nvSpPr>
            <p:cNvPr id="499" name="Google Shape;499;p50"/>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500" name="Google Shape;500;p50"/>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Objective</a:t>
              </a:r>
              <a:endParaRPr sz="1800">
                <a:solidFill>
                  <a:srgbClr val="FFFFFF"/>
                </a:solidFill>
                <a:latin typeface="Open Sans SemiBold"/>
                <a:ea typeface="Open Sans SemiBold"/>
                <a:cs typeface="Open Sans SemiBold"/>
                <a:sym typeface="Open Sans SemiBold"/>
              </a:endParaRPr>
            </a:p>
          </p:txBody>
        </p:sp>
      </p:grpSp>
      <p:pic>
        <p:nvPicPr>
          <p:cNvPr id="501" name="Google Shape;501;p50"/>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502" name="Google Shape;502;p50"/>
          <p:cNvSpPr txBox="1"/>
          <p:nvPr/>
        </p:nvSpPr>
        <p:spPr>
          <a:xfrm>
            <a:off x="457200" y="1524000"/>
            <a:ext cx="6115064" cy="4154984"/>
          </a:xfrm>
          <a:prstGeom prst="rect">
            <a:avLst/>
          </a:prstGeom>
          <a:noFill/>
          <a:ln w="9525" cap="flat" cmpd="sng">
            <a:solidFill>
              <a:srgbClr val="4F81B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fr-FR" sz="2400">
                <a:solidFill>
                  <a:schemeClr val="dk1"/>
                </a:solidFill>
                <a:latin typeface="Calibri"/>
                <a:ea typeface="Calibri"/>
                <a:cs typeface="Calibri"/>
                <a:sym typeface="Calibri"/>
              </a:rPr>
              <a:t>Nongovernmental groups have been at the forefront of major social movements to improve people’s lives. </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fr-FR" sz="2400">
                <a:solidFill>
                  <a:schemeClr val="dk1"/>
                </a:solidFill>
                <a:latin typeface="Calibri"/>
                <a:ea typeface="Calibri"/>
                <a:cs typeface="Calibri"/>
                <a:sym typeface="Calibri"/>
              </a:rPr>
              <a:t>Most NGOs are founded by people who are passionate about their communities or causes. Yet starting and running an NGO takes more than passion. It takes </a:t>
            </a:r>
            <a:r>
              <a:rPr lang="fr-FR" sz="2400" b="1">
                <a:solidFill>
                  <a:schemeClr val="dk1"/>
                </a:solidFill>
                <a:latin typeface="Calibri"/>
                <a:ea typeface="Calibri"/>
                <a:cs typeface="Calibri"/>
                <a:sym typeface="Calibri"/>
              </a:rPr>
              <a:t>knowledge, skills, resources and relationships</a:t>
            </a:r>
            <a:r>
              <a:rPr lang="fr-FR" sz="2400">
                <a:solidFill>
                  <a:schemeClr val="dk1"/>
                </a:solidFill>
                <a:latin typeface="Calibri"/>
                <a:ea typeface="Calibri"/>
                <a:cs typeface="Calibri"/>
                <a:sym typeface="Calibri"/>
              </a:rPr>
              <a:t>. It also takes </a:t>
            </a:r>
            <a:r>
              <a:rPr lang="fr-FR" sz="2400" b="1">
                <a:solidFill>
                  <a:schemeClr val="dk1"/>
                </a:solidFill>
                <a:latin typeface="Calibri"/>
                <a:ea typeface="Calibri"/>
                <a:cs typeface="Calibri"/>
                <a:sym typeface="Calibri"/>
              </a:rPr>
              <a:t>time, planning, patience and flexibility</a:t>
            </a:r>
            <a:r>
              <a:rPr lang="fr-FR" sz="2400">
                <a:solidFill>
                  <a:schemeClr val="dk1"/>
                </a:solidFill>
                <a:latin typeface="Calibri"/>
                <a:ea typeface="Calibri"/>
                <a:cs typeface="Calibri"/>
                <a:sym typeface="Calibri"/>
              </a:rPr>
              <a:t>. To be effective, an NGO needs to be </a:t>
            </a:r>
            <a:r>
              <a:rPr lang="fr-FR" sz="2400" b="1">
                <a:solidFill>
                  <a:schemeClr val="dk1"/>
                </a:solidFill>
                <a:latin typeface="Calibri"/>
                <a:ea typeface="Calibri"/>
                <a:cs typeface="Calibri"/>
                <a:sym typeface="Calibri"/>
              </a:rPr>
              <a:t>legitimate, transparent and accountable.</a:t>
            </a:r>
            <a:r>
              <a:rPr lang="fr-FR"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02">
                                            <p:txEl>
                                              <p:pRg st="0" end="0"/>
                                            </p:txEl>
                                          </p:spTgt>
                                        </p:tgtEl>
                                        <p:attrNameLst>
                                          <p:attrName>style.visibility</p:attrName>
                                        </p:attrNameLst>
                                      </p:cBhvr>
                                      <p:to>
                                        <p:strVal val="visible"/>
                                      </p:to>
                                    </p:set>
                                    <p:anim calcmode="lin" valueType="num">
                                      <p:cBhvr additive="base">
                                        <p:cTn id="7" dur="500"/>
                                        <p:tgtEl>
                                          <p:spTgt spid="502">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502">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02">
                                            <p:txEl>
                                              <p:pRg st="1" end="1"/>
                                            </p:txEl>
                                          </p:spTgt>
                                        </p:tgtEl>
                                        <p:attrNameLst>
                                          <p:attrName>style.visibility</p:attrName>
                                        </p:attrNameLst>
                                      </p:cBhvr>
                                      <p:to>
                                        <p:strVal val="visible"/>
                                      </p:to>
                                    </p:set>
                                    <p:anim calcmode="lin" valueType="num">
                                      <p:cBhvr additive="base">
                                        <p:cTn id="13" dur="500"/>
                                        <p:tgtEl>
                                          <p:spTgt spid="502">
                                            <p:txEl>
                                              <p:pRg st="1" end="1"/>
                                            </p:txEl>
                                          </p:spTgt>
                                        </p:tgtEl>
                                        <p:attrNameLst>
                                          <p:attrName>ppt_w</p:attrName>
                                        </p:attrNameLst>
                                      </p:cBhvr>
                                      <p:tavLst>
                                        <p:tav tm="0">
                                          <p:val>
                                            <p:strVal val="0"/>
                                          </p:val>
                                        </p:tav>
                                        <p:tav tm="100000">
                                          <p:val>
                                            <p:strVal val="#ppt_w"/>
                                          </p:val>
                                        </p:tav>
                                      </p:tavLst>
                                    </p:anim>
                                    <p:anim calcmode="lin" valueType="num">
                                      <p:cBhvr additive="base">
                                        <p:cTn id="14" dur="500"/>
                                        <p:tgtEl>
                                          <p:spTgt spid="502">
                                            <p:txEl>
                                              <p:pRg st="1" end="1"/>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grpSp>
        <p:nvGrpSpPr>
          <p:cNvPr id="508" name="Google Shape;508;p51"/>
          <p:cNvGrpSpPr/>
          <p:nvPr/>
        </p:nvGrpSpPr>
        <p:grpSpPr>
          <a:xfrm>
            <a:off x="428857" y="485286"/>
            <a:ext cx="6086243" cy="565433"/>
            <a:chOff x="801127" y="403254"/>
            <a:chExt cx="4331352" cy="565433"/>
          </a:xfrm>
        </p:grpSpPr>
        <p:sp>
          <p:nvSpPr>
            <p:cNvPr id="509" name="Google Shape;509;p51"/>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510" name="Google Shape;510;p51"/>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Main aim</a:t>
              </a:r>
              <a:endParaRPr/>
            </a:p>
          </p:txBody>
        </p:sp>
      </p:grpSp>
      <p:pic>
        <p:nvPicPr>
          <p:cNvPr id="511" name="Google Shape;511;p51"/>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512" name="Google Shape;512;p51"/>
          <p:cNvSpPr txBox="1"/>
          <p:nvPr/>
        </p:nvSpPr>
        <p:spPr>
          <a:xfrm>
            <a:off x="457200" y="1524000"/>
            <a:ext cx="4572000" cy="4154943"/>
          </a:xfrm>
          <a:prstGeom prst="rect">
            <a:avLst/>
          </a:prstGeom>
          <a:noFill/>
          <a:ln w="9525" cap="flat" cmpd="sng">
            <a:solidFill>
              <a:srgbClr val="4F81BD"/>
            </a:solidFill>
            <a:prstDash val="solid"/>
            <a:round/>
            <a:headEnd type="none" w="sm" len="sm"/>
            <a:tailEnd type="none" w="sm" len="sm"/>
          </a:ln>
        </p:spPr>
        <p:txBody>
          <a:bodyPr spcFirstLastPara="1" wrap="square" lIns="91425" tIns="45700" rIns="91425" bIns="45700" anchor="t" anchorCtr="0">
            <a:spAutoFit/>
          </a:bodyPr>
          <a:lstStyle/>
          <a:p>
            <a:pPr lvl="0"/>
            <a:r>
              <a:rPr lang="en-US" sz="2400" dirty="0"/>
              <a:t>Added to that, </a:t>
            </a:r>
            <a:r>
              <a:rPr lang="en-US" sz="2400" b="1" u="sng" dirty="0">
                <a:solidFill>
                  <a:srgbClr val="FF0000"/>
                </a:solidFill>
              </a:rPr>
              <a:t>NGOs</a:t>
            </a:r>
            <a:r>
              <a:rPr lang="en-US" sz="2400" dirty="0"/>
              <a:t> can play a key role in the march towards the attainment of Sustainable Development Goals </a:t>
            </a:r>
            <a:r>
              <a:rPr lang="en-US" sz="2400" b="1" u="sng" dirty="0">
                <a:solidFill>
                  <a:srgbClr val="FF0000"/>
                </a:solidFill>
              </a:rPr>
              <a:t>(SDGs) </a:t>
            </a:r>
            <a:r>
              <a:rPr lang="en-US" sz="2400" dirty="0"/>
              <a:t>2030. Therefore, in this project, you will become familiar with the variety of ways in which NGOs work to bring about </a:t>
            </a:r>
            <a:r>
              <a:rPr lang="en-US" sz="2400" dirty="0">
                <a:solidFill>
                  <a:srgbClr val="FF0000"/>
                </a:solidFill>
              </a:rPr>
              <a:t>sustainable</a:t>
            </a:r>
            <a:r>
              <a:rPr lang="en-US" sz="2400" dirty="0"/>
              <a:t> change in </a:t>
            </a:r>
            <a:r>
              <a:rPr lang="en-US" sz="2400" b="1" u="sng" dirty="0"/>
              <a:t>TUNISIA</a:t>
            </a:r>
            <a:r>
              <a:rPr lang="en-US" sz="2400" dirty="0"/>
              <a:t>.  It is your turn now to start building your own local NGO!</a:t>
            </a:r>
            <a:endParaRPr sz="24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12">
                                            <p:txEl>
                                              <p:pRg st="0" end="0"/>
                                            </p:txEl>
                                          </p:spTgt>
                                        </p:tgtEl>
                                        <p:attrNameLst>
                                          <p:attrName>style.visibility</p:attrName>
                                        </p:attrNameLst>
                                      </p:cBhvr>
                                      <p:to>
                                        <p:strVal val="visible"/>
                                      </p:to>
                                    </p:set>
                                    <p:anim calcmode="lin" valueType="num">
                                      <p:cBhvr additive="base">
                                        <p:cTn id="7" dur="500"/>
                                        <p:tgtEl>
                                          <p:spTgt spid="512">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512">
                                            <p:txEl>
                                              <p:pRg st="0" end="0"/>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79269" y="0"/>
            <a:ext cx="7886700" cy="3411227"/>
          </a:xfrm>
        </p:spPr>
        <p:txBody>
          <a:bodyPr>
            <a:noAutofit/>
          </a:bodyPr>
          <a:lstStyle/>
          <a:p>
            <a:r>
              <a:rPr lang="en-US" sz="2400" b="0" dirty="0"/>
              <a:t/>
            </a:r>
            <a:br>
              <a:rPr lang="en-US" sz="2400" b="0" dirty="0"/>
            </a:br>
            <a:r>
              <a:rPr lang="en-US" sz="2400" b="0" u="sng" dirty="0" err="1">
                <a:solidFill>
                  <a:srgbClr val="FF0000"/>
                </a:solidFill>
              </a:rPr>
              <a:t>Lits</a:t>
            </a:r>
            <a:r>
              <a:rPr lang="en-US" sz="2400" b="0" u="sng" dirty="0">
                <a:solidFill>
                  <a:srgbClr val="FF0000"/>
                </a:solidFill>
              </a:rPr>
              <a:t> of </a:t>
            </a:r>
            <a:r>
              <a:rPr lang="en-US" sz="2400" b="0" u="sng" dirty="0" err="1">
                <a:solidFill>
                  <a:srgbClr val="FF0000"/>
                </a:solidFill>
              </a:rPr>
              <a:t>Sustainbale</a:t>
            </a:r>
            <a:r>
              <a:rPr lang="en-US" sz="2400" b="0" u="sng" dirty="0">
                <a:solidFill>
                  <a:srgbClr val="FF0000"/>
                </a:solidFill>
              </a:rPr>
              <a:t> </a:t>
            </a:r>
            <a:r>
              <a:rPr lang="en-US" sz="2400" b="0" u="sng" dirty="0" err="1">
                <a:solidFill>
                  <a:srgbClr val="FF0000"/>
                </a:solidFill>
              </a:rPr>
              <a:t>Developent</a:t>
            </a:r>
            <a:r>
              <a:rPr lang="en-US" sz="2400" b="0" u="sng" dirty="0">
                <a:solidFill>
                  <a:srgbClr val="FF0000"/>
                </a:solidFill>
              </a:rPr>
              <a:t> Goals: </a:t>
            </a:r>
            <a:r>
              <a:rPr lang="en-US" sz="2400" b="0" u="sng" dirty="0" smtClean="0">
                <a:solidFill>
                  <a:srgbClr val="FF0000"/>
                </a:solidFill>
              </a:rPr>
              <a:t/>
            </a:r>
            <a:br>
              <a:rPr lang="en-US" sz="2400" b="0" u="sng" dirty="0" smtClean="0">
                <a:solidFill>
                  <a:srgbClr val="FF0000"/>
                </a:solidFill>
              </a:rPr>
            </a:br>
            <a:r>
              <a:rPr lang="en-US" sz="2400" b="0" dirty="0"/>
              <a:t/>
            </a:r>
            <a:br>
              <a:rPr lang="en-US" sz="2400" b="0" dirty="0"/>
            </a:br>
            <a:r>
              <a:rPr lang="en-US" sz="2000" b="0" dirty="0"/>
              <a:t>Your NGO is required to mobilize around the Sustainable Development Goals </a:t>
            </a:r>
            <a:r>
              <a:rPr lang="en-US" sz="2000" b="0" dirty="0">
                <a:solidFill>
                  <a:srgbClr val="FF0000"/>
                </a:solidFill>
              </a:rPr>
              <a:t>(SDGs) </a:t>
            </a:r>
            <a:r>
              <a:rPr lang="en-US" sz="2000" b="0" dirty="0"/>
              <a:t>to be implemented at the </a:t>
            </a:r>
            <a:r>
              <a:rPr lang="en-US" sz="2000" b="0" dirty="0">
                <a:solidFill>
                  <a:srgbClr val="FF0000"/>
                </a:solidFill>
              </a:rPr>
              <a:t>national</a:t>
            </a:r>
            <a:r>
              <a:rPr lang="en-US" sz="2000" b="0" dirty="0"/>
              <a:t> level.</a:t>
            </a:r>
            <a:r>
              <a:rPr lang="en-US" sz="2400" b="0" dirty="0"/>
              <a:t/>
            </a:r>
            <a:br>
              <a:rPr lang="en-US" sz="2400" b="0" dirty="0"/>
            </a:br>
            <a:r>
              <a:rPr lang="en-US" sz="1400" b="0" i="1" dirty="0"/>
              <a:t>(NGO ideas must not be of any sexual, political or religious aspect.) + (Avoid all virtual issues -such as cyberbullying or cybercrime- causes have to be concrete and existing in the Tunisian society.) </a:t>
            </a:r>
            <a:r>
              <a:rPr lang="en-US" sz="2400" b="0" dirty="0"/>
              <a:t/>
            </a:r>
            <a:br>
              <a:rPr lang="en-US" sz="2400" b="0" dirty="0"/>
            </a:br>
            <a:endParaRPr lang="fr-FR" sz="2400" b="0" dirty="0"/>
          </a:p>
        </p:txBody>
      </p:sp>
      <p:pic>
        <p:nvPicPr>
          <p:cNvPr id="1026" name="Picture 2" descr="https://lh4.googleusercontent.com/7OgzDPyRWk-Z1Lh5eG--sLa3b35uM8Vlkhxa1b4kiqXnTkzu9nIFPEK70qcMR5qLKEEnPFzQzzrPU2GAhqmCMvaA7JUnBgycFf3mmlPsZ4zJNX0Oz9LQPc61slcgqukL77ZcgvhjvohSO4nEZpWSI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405" y="2537740"/>
            <a:ext cx="6792686" cy="432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2843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grpSp>
        <p:nvGrpSpPr>
          <p:cNvPr id="542" name="Google Shape;542;p53"/>
          <p:cNvGrpSpPr/>
          <p:nvPr/>
        </p:nvGrpSpPr>
        <p:grpSpPr>
          <a:xfrm>
            <a:off x="428857" y="76200"/>
            <a:ext cx="6086243" cy="565433"/>
            <a:chOff x="801127" y="403254"/>
            <a:chExt cx="4331352" cy="565433"/>
          </a:xfrm>
        </p:grpSpPr>
        <p:sp>
          <p:nvSpPr>
            <p:cNvPr id="543" name="Google Shape;543;p53"/>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544" name="Google Shape;544;p53"/>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General requirements </a:t>
              </a:r>
              <a:endParaRPr sz="1800">
                <a:solidFill>
                  <a:srgbClr val="FFFFFF"/>
                </a:solidFill>
                <a:latin typeface="Open Sans SemiBold"/>
                <a:ea typeface="Open Sans SemiBold"/>
                <a:cs typeface="Open Sans SemiBold"/>
                <a:sym typeface="Open Sans SemiBold"/>
              </a:endParaRPr>
            </a:p>
          </p:txBody>
        </p:sp>
      </p:grpSp>
      <p:pic>
        <p:nvPicPr>
          <p:cNvPr id="545" name="Google Shape;545;p53"/>
          <p:cNvPicPr preferRelativeResize="0"/>
          <p:nvPr/>
        </p:nvPicPr>
        <p:blipFill rotWithShape="1">
          <a:blip r:embed="rId3">
            <a:alphaModFix/>
          </a:blip>
          <a:srcRect/>
          <a:stretch/>
        </p:blipFill>
        <p:spPr>
          <a:xfrm>
            <a:off x="6868060" y="5187662"/>
            <a:ext cx="2275939" cy="1670338"/>
          </a:xfrm>
          <a:prstGeom prst="rect">
            <a:avLst/>
          </a:prstGeom>
          <a:noFill/>
          <a:ln>
            <a:noFill/>
          </a:ln>
        </p:spPr>
      </p:pic>
      <p:sp>
        <p:nvSpPr>
          <p:cNvPr id="546" name="Google Shape;546;p53"/>
          <p:cNvSpPr txBox="1"/>
          <p:nvPr/>
        </p:nvSpPr>
        <p:spPr>
          <a:xfrm>
            <a:off x="152400" y="862976"/>
            <a:ext cx="7419996" cy="6186269"/>
          </a:xfrm>
          <a:prstGeom prst="rect">
            <a:avLst/>
          </a:prstGeom>
          <a:noFill/>
          <a:ln w="9525" cap="flat" cmpd="sng">
            <a:solidFill>
              <a:srgbClr val="4F81B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fr-FR" sz="1800" dirty="0">
                <a:solidFill>
                  <a:schemeClr val="dk1"/>
                </a:solidFill>
                <a:latin typeface="Calibri"/>
                <a:ea typeface="Calibri"/>
                <a:cs typeface="Calibri"/>
                <a:sym typeface="Calibri"/>
              </a:rPr>
              <a:t>You are </a:t>
            </a:r>
            <a:r>
              <a:rPr lang="fr-FR" sz="1800" dirty="0" err="1">
                <a:solidFill>
                  <a:schemeClr val="dk1"/>
                </a:solidFill>
                <a:latin typeface="Calibri"/>
                <a:ea typeface="Calibri"/>
                <a:cs typeface="Calibri"/>
                <a:sym typeface="Calibri"/>
              </a:rPr>
              <a:t>asked</a:t>
            </a:r>
            <a:r>
              <a:rPr lang="fr-FR" sz="1800" dirty="0">
                <a:solidFill>
                  <a:schemeClr val="dk1"/>
                </a:solidFill>
                <a:latin typeface="Calibri"/>
                <a:ea typeface="Calibri"/>
                <a:cs typeface="Calibri"/>
                <a:sym typeface="Calibri"/>
              </a:rPr>
              <a:t> to:</a:t>
            </a:r>
            <a:endParaRPr dirty="0"/>
          </a:p>
          <a:p>
            <a:pPr marL="342900" lvl="0" indent="-342900">
              <a:lnSpc>
                <a:spcPct val="110000"/>
              </a:lnSpc>
              <a:buClr>
                <a:schemeClr val="dk1"/>
              </a:buClr>
              <a:buSzPts val="1800"/>
              <a:buFont typeface="Noto Sans Symbols"/>
              <a:buChar char="✔"/>
            </a:pPr>
            <a:r>
              <a:rPr lang="en-US" sz="1800" dirty="0">
                <a:solidFill>
                  <a:schemeClr val="dk1"/>
                </a:solidFill>
                <a:latin typeface="Calibri"/>
                <a:ea typeface="Calibri"/>
                <a:cs typeface="Calibri"/>
                <a:sym typeface="Calibri"/>
              </a:rPr>
              <a:t>You are asked to start and build your own</a:t>
            </a:r>
            <a:r>
              <a:rPr lang="en-US" sz="1800" b="1" dirty="0">
                <a:solidFill>
                  <a:schemeClr val="dk1"/>
                </a:solidFill>
                <a:latin typeface="Calibri"/>
                <a:ea typeface="Calibri"/>
                <a:cs typeface="Calibri"/>
                <a:sym typeface="Calibri"/>
              </a:rPr>
              <a:t> NGO </a:t>
            </a:r>
            <a:r>
              <a:rPr lang="en-US" sz="1800" dirty="0">
                <a:solidFill>
                  <a:schemeClr val="dk1"/>
                </a:solidFill>
                <a:latin typeface="Calibri"/>
                <a:ea typeface="Calibri"/>
                <a:cs typeface="Calibri"/>
                <a:sym typeface="Calibri"/>
              </a:rPr>
              <a:t>by first identifying what causes you are passionate about in Tunisia: emergency relief, women’s rights, economic development... (please refer to the list of </a:t>
            </a:r>
            <a:r>
              <a:rPr lang="en-US" sz="1800" b="1" dirty="0" err="1">
                <a:solidFill>
                  <a:schemeClr val="dk1"/>
                </a:solidFill>
                <a:latin typeface="Calibri"/>
                <a:ea typeface="Calibri"/>
                <a:cs typeface="Calibri"/>
                <a:sym typeface="Calibri"/>
              </a:rPr>
              <a:t>sustainbale</a:t>
            </a:r>
            <a:r>
              <a:rPr lang="en-US" sz="1800" b="1" dirty="0">
                <a:solidFill>
                  <a:schemeClr val="dk1"/>
                </a:solidFill>
                <a:latin typeface="Calibri"/>
                <a:ea typeface="Calibri"/>
                <a:cs typeface="Calibri"/>
                <a:sym typeface="Calibri"/>
              </a:rPr>
              <a:t> </a:t>
            </a:r>
            <a:r>
              <a:rPr lang="en-US" sz="1800" b="1" dirty="0" err="1">
                <a:solidFill>
                  <a:schemeClr val="dk1"/>
                </a:solidFill>
                <a:latin typeface="Calibri"/>
                <a:ea typeface="Calibri"/>
                <a:cs typeface="Calibri"/>
                <a:sym typeface="Calibri"/>
              </a:rPr>
              <a:t>developent</a:t>
            </a:r>
            <a:r>
              <a:rPr lang="en-US" sz="1800" b="1" dirty="0">
                <a:solidFill>
                  <a:schemeClr val="dk1"/>
                </a:solidFill>
                <a:latin typeface="Calibri"/>
                <a:ea typeface="Calibri"/>
                <a:cs typeface="Calibri"/>
                <a:sym typeface="Calibri"/>
              </a:rPr>
              <a:t> goals (SDG’s</a:t>
            </a:r>
            <a:r>
              <a:rPr lang="en-US" sz="1800" b="1" dirty="0" smtClean="0">
                <a:solidFill>
                  <a:schemeClr val="dk1"/>
                </a:solidFill>
                <a:latin typeface="Calibri"/>
                <a:ea typeface="Calibri"/>
                <a:cs typeface="Calibri"/>
                <a:sym typeface="Calibri"/>
              </a:rPr>
              <a:t>))</a:t>
            </a:r>
          </a:p>
          <a:p>
            <a:pPr lvl="0">
              <a:lnSpc>
                <a:spcPct val="110000"/>
              </a:lnSpc>
              <a:buClr>
                <a:schemeClr val="dk1"/>
              </a:buClr>
              <a:buSzPts val="1800"/>
            </a:pPr>
            <a:endParaRPr sz="1800" dirty="0" smtClean="0">
              <a:solidFill>
                <a:schemeClr val="dk1"/>
              </a:solidFill>
              <a:latin typeface="Calibri"/>
              <a:ea typeface="Calibri"/>
              <a:cs typeface="Calibri"/>
              <a:sym typeface="Calibri"/>
            </a:endParaRPr>
          </a:p>
          <a:p>
            <a:pPr marL="342900" marR="0" lvl="0" indent="-342900" algn="l" rtl="0">
              <a:lnSpc>
                <a:spcPct val="110000"/>
              </a:lnSpc>
              <a:spcBef>
                <a:spcPts val="0"/>
              </a:spcBef>
              <a:spcAft>
                <a:spcPts val="0"/>
              </a:spcAft>
              <a:buClr>
                <a:schemeClr val="dk1"/>
              </a:buClr>
              <a:buSzPts val="1800"/>
              <a:buFont typeface="Noto Sans Symbols"/>
              <a:buChar char="✔"/>
            </a:pPr>
            <a:r>
              <a:rPr lang="fr-FR" sz="1800" dirty="0" smtClean="0">
                <a:solidFill>
                  <a:schemeClr val="dk1"/>
                </a:solidFill>
                <a:latin typeface="Calibri"/>
                <a:ea typeface="Calibri"/>
                <a:cs typeface="Calibri"/>
                <a:sym typeface="Calibri"/>
              </a:rPr>
              <a:t>Organise </a:t>
            </a:r>
            <a:r>
              <a:rPr lang="fr-FR" sz="1800" dirty="0">
                <a:solidFill>
                  <a:schemeClr val="dk1"/>
                </a:solidFill>
                <a:latin typeface="Calibri"/>
                <a:ea typeface="Calibri"/>
                <a:cs typeface="Calibri"/>
                <a:sym typeface="Calibri"/>
              </a:rPr>
              <a:t>the </a:t>
            </a:r>
            <a:r>
              <a:rPr lang="fr-FR" sz="1800" dirty="0" err="1">
                <a:solidFill>
                  <a:schemeClr val="dk1"/>
                </a:solidFill>
                <a:latin typeface="Calibri"/>
                <a:ea typeface="Calibri"/>
                <a:cs typeface="Calibri"/>
                <a:sym typeface="Calibri"/>
              </a:rPr>
              <a:t>hierarchical</a:t>
            </a:r>
            <a:r>
              <a:rPr lang="fr-FR" sz="1800" dirty="0">
                <a:solidFill>
                  <a:schemeClr val="dk1"/>
                </a:solidFill>
                <a:latin typeface="Calibri"/>
                <a:ea typeface="Calibri"/>
                <a:cs typeface="Calibri"/>
                <a:sym typeface="Calibri"/>
              </a:rPr>
              <a:t> system </a:t>
            </a:r>
            <a:r>
              <a:rPr lang="fr-FR" sz="1800" dirty="0" err="1">
                <a:solidFill>
                  <a:schemeClr val="dk1"/>
                </a:solidFill>
                <a:latin typeface="Calibri"/>
                <a:ea typeface="Calibri"/>
                <a:cs typeface="Calibri"/>
                <a:sym typeface="Calibri"/>
              </a:rPr>
              <a:t>depending</a:t>
            </a:r>
            <a:r>
              <a:rPr lang="fr-FR" sz="1800" dirty="0">
                <a:solidFill>
                  <a:schemeClr val="dk1"/>
                </a:solidFill>
                <a:latin typeface="Calibri"/>
                <a:ea typeface="Calibri"/>
                <a:cs typeface="Calibri"/>
                <a:sym typeface="Calibri"/>
              </a:rPr>
              <a:t> on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management style: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should</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assign</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everyone</a:t>
            </a:r>
            <a:r>
              <a:rPr lang="fr-FR" sz="1800" dirty="0">
                <a:solidFill>
                  <a:schemeClr val="dk1"/>
                </a:solidFill>
                <a:latin typeface="Calibri"/>
                <a:ea typeface="Calibri"/>
                <a:cs typeface="Calibri"/>
                <a:sym typeface="Calibri"/>
              </a:rPr>
              <a:t> in the group a </a:t>
            </a:r>
            <a:r>
              <a:rPr lang="fr-FR" sz="1800" dirty="0" err="1">
                <a:solidFill>
                  <a:schemeClr val="dk1"/>
                </a:solidFill>
                <a:latin typeface="Calibri"/>
                <a:ea typeface="Calibri"/>
                <a:cs typeface="Calibri"/>
                <a:sym typeface="Calibri"/>
              </a:rPr>
              <a:t>clear</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role</a:t>
            </a:r>
            <a:r>
              <a:rPr lang="fr-FR" sz="1800" dirty="0">
                <a:solidFill>
                  <a:schemeClr val="dk1"/>
                </a:solidFill>
                <a:latin typeface="Calibri"/>
                <a:ea typeface="Calibri"/>
                <a:cs typeface="Calibri"/>
                <a:sym typeface="Calibri"/>
              </a:rPr>
              <a:t>: There </a:t>
            </a:r>
            <a:r>
              <a:rPr lang="fr-FR" sz="1800" dirty="0" err="1">
                <a:solidFill>
                  <a:schemeClr val="dk1"/>
                </a:solidFill>
                <a:latin typeface="Calibri"/>
                <a:ea typeface="Calibri"/>
                <a:cs typeface="Calibri"/>
                <a:sym typeface="Calibri"/>
              </a:rPr>
              <a:t>needs</a:t>
            </a:r>
            <a:r>
              <a:rPr lang="fr-FR" sz="1800" dirty="0">
                <a:solidFill>
                  <a:schemeClr val="dk1"/>
                </a:solidFill>
                <a:latin typeface="Calibri"/>
                <a:ea typeface="Calibri"/>
                <a:cs typeface="Calibri"/>
                <a:sym typeface="Calibri"/>
              </a:rPr>
              <a:t> to </a:t>
            </a:r>
            <a:r>
              <a:rPr lang="fr-FR" sz="1800" dirty="0" err="1">
                <a:solidFill>
                  <a:schemeClr val="dk1"/>
                </a:solidFill>
                <a:latin typeface="Calibri"/>
                <a:ea typeface="Calibri"/>
                <a:cs typeface="Calibri"/>
                <a:sym typeface="Calibri"/>
              </a:rPr>
              <a:t>be</a:t>
            </a:r>
            <a:r>
              <a:rPr lang="fr-FR" sz="1800" dirty="0">
                <a:solidFill>
                  <a:schemeClr val="dk1"/>
                </a:solidFill>
                <a:latin typeface="Calibri"/>
                <a:ea typeface="Calibri"/>
                <a:cs typeface="Calibri"/>
                <a:sym typeface="Calibri"/>
              </a:rPr>
              <a:t> a </a:t>
            </a:r>
            <a:r>
              <a:rPr lang="fr-FR" sz="1800" dirty="0" err="1">
                <a:solidFill>
                  <a:schemeClr val="dk1"/>
                </a:solidFill>
                <a:latin typeface="Calibri"/>
                <a:ea typeface="Calibri"/>
                <a:cs typeface="Calibri"/>
                <a:sym typeface="Calibri"/>
              </a:rPr>
              <a:t>board</a:t>
            </a:r>
            <a:r>
              <a:rPr lang="fr-FR" sz="1800" dirty="0">
                <a:solidFill>
                  <a:schemeClr val="dk1"/>
                </a:solidFill>
                <a:latin typeface="Calibri"/>
                <a:ea typeface="Calibri"/>
                <a:cs typeface="Calibri"/>
                <a:sym typeface="Calibri"/>
              </a:rPr>
              <a:t> of </a:t>
            </a:r>
            <a:r>
              <a:rPr lang="fr-FR" sz="1800" dirty="0" err="1">
                <a:solidFill>
                  <a:schemeClr val="dk1"/>
                </a:solidFill>
                <a:latin typeface="Calibri"/>
                <a:ea typeface="Calibri"/>
                <a:cs typeface="Calibri"/>
                <a:sym typeface="Calibri"/>
              </a:rPr>
              <a:t>directors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administrators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fundraisers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project</a:t>
            </a:r>
            <a:r>
              <a:rPr lang="fr-FR" sz="1800" dirty="0">
                <a:solidFill>
                  <a:schemeClr val="dk1"/>
                </a:solidFill>
                <a:latin typeface="Calibri"/>
                <a:ea typeface="Calibri"/>
                <a:cs typeface="Calibri"/>
                <a:sym typeface="Calibri"/>
              </a:rPr>
              <a:t> managers, </a:t>
            </a:r>
            <a:r>
              <a:rPr lang="fr-FR" sz="1800" dirty="0" err="1">
                <a:solidFill>
                  <a:schemeClr val="dk1"/>
                </a:solidFill>
                <a:latin typeface="Calibri"/>
                <a:ea typeface="Calibri"/>
                <a:cs typeface="Calibri"/>
                <a:sym typeface="Calibri"/>
              </a:rPr>
              <a:t>educators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ect</a:t>
            </a:r>
            <a:r>
              <a:rPr lang="fr-FR" sz="1800" dirty="0">
                <a:solidFill>
                  <a:schemeClr val="dk1"/>
                </a:solidFill>
                <a:latin typeface="Calibri"/>
                <a:ea typeface="Calibri"/>
                <a:cs typeface="Calibri"/>
                <a:sym typeface="Calibri"/>
              </a:rPr>
              <a:t>.</a:t>
            </a:r>
            <a:endParaRPr dirty="0"/>
          </a:p>
          <a:p>
            <a:pPr marL="342900" marR="0" lvl="0" indent="-228600" algn="l" rtl="0">
              <a:lnSpc>
                <a:spcPct val="110000"/>
              </a:lnSpc>
              <a:spcBef>
                <a:spcPts val="0"/>
              </a:spcBef>
              <a:spcAft>
                <a:spcPts val="0"/>
              </a:spcAft>
              <a:buClr>
                <a:schemeClr val="dk1"/>
              </a:buClr>
              <a:buSzPts val="1800"/>
              <a:buFont typeface="Noto Sans Symbols"/>
              <a:buNone/>
            </a:pPr>
            <a:endParaRPr sz="1800" dirty="0">
              <a:solidFill>
                <a:schemeClr val="dk1"/>
              </a:solidFill>
              <a:latin typeface="Calibri"/>
              <a:ea typeface="Calibri"/>
              <a:cs typeface="Calibri"/>
              <a:sym typeface="Calibri"/>
            </a:endParaRPr>
          </a:p>
          <a:p>
            <a:pPr marL="342900" marR="0" lvl="0" indent="-342900" algn="l" rtl="0">
              <a:lnSpc>
                <a:spcPct val="110000"/>
              </a:lnSpc>
              <a:spcBef>
                <a:spcPts val="0"/>
              </a:spcBef>
              <a:spcAft>
                <a:spcPts val="0"/>
              </a:spcAft>
              <a:buClr>
                <a:schemeClr val="dk1"/>
              </a:buClr>
              <a:buSzPts val="1800"/>
              <a:buFont typeface="Noto Sans Symbols"/>
              <a:buChar char="✔"/>
            </a:pPr>
            <a:r>
              <a:rPr lang="fr-FR" sz="1800" dirty="0" err="1">
                <a:solidFill>
                  <a:schemeClr val="dk1"/>
                </a:solidFill>
                <a:latin typeface="Calibri"/>
                <a:ea typeface="Calibri"/>
                <a:cs typeface="Calibri"/>
                <a:sym typeface="Calibri"/>
              </a:rPr>
              <a:t>Clarify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vision and goals: </a:t>
            </a:r>
            <a:r>
              <a:rPr lang="fr-FR" sz="1800" dirty="0" err="1">
                <a:solidFill>
                  <a:schemeClr val="dk1"/>
                </a:solidFill>
                <a:latin typeface="Calibri"/>
                <a:ea typeface="Calibri"/>
                <a:cs typeface="Calibri"/>
                <a:sym typeface="Calibri"/>
              </a:rPr>
              <a:t>What</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is</a:t>
            </a:r>
            <a:r>
              <a:rPr lang="fr-FR" sz="1800" dirty="0">
                <a:solidFill>
                  <a:schemeClr val="dk1"/>
                </a:solidFill>
                <a:latin typeface="Calibri"/>
                <a:ea typeface="Calibri"/>
                <a:cs typeface="Calibri"/>
                <a:sym typeface="Calibri"/>
              </a:rPr>
              <a:t> the </a:t>
            </a:r>
            <a:r>
              <a:rPr lang="fr-FR" sz="1800" dirty="0" err="1">
                <a:solidFill>
                  <a:schemeClr val="dk1"/>
                </a:solidFill>
                <a:latin typeface="Calibri"/>
                <a:ea typeface="Calibri"/>
                <a:cs typeface="Calibri"/>
                <a:sym typeface="Calibri"/>
              </a:rPr>
              <a:t>purpose</a:t>
            </a:r>
            <a:r>
              <a:rPr lang="fr-FR" sz="1800" dirty="0">
                <a:solidFill>
                  <a:schemeClr val="dk1"/>
                </a:solidFill>
                <a:latin typeface="Calibri"/>
                <a:ea typeface="Calibri"/>
                <a:cs typeface="Calibri"/>
                <a:sym typeface="Calibri"/>
              </a:rPr>
              <a:t> of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NGO? </a:t>
            </a:r>
            <a:endParaRPr sz="1800" dirty="0">
              <a:solidFill>
                <a:schemeClr val="dk1"/>
              </a:solidFill>
              <a:latin typeface="Calibri"/>
              <a:ea typeface="Calibri"/>
              <a:cs typeface="Calibri"/>
              <a:sym typeface="Calibri"/>
            </a:endParaRPr>
          </a:p>
          <a:p>
            <a:pPr marL="342900" marR="0" lvl="0" indent="-228600" algn="l" rtl="0">
              <a:lnSpc>
                <a:spcPct val="110000"/>
              </a:lnSpc>
              <a:spcBef>
                <a:spcPts val="0"/>
              </a:spcBef>
              <a:spcAft>
                <a:spcPts val="0"/>
              </a:spcAft>
              <a:buClr>
                <a:schemeClr val="dk1"/>
              </a:buClr>
              <a:buSzPts val="1800"/>
              <a:buFont typeface="Noto Sans Symbols"/>
              <a:buNone/>
            </a:pPr>
            <a:endParaRPr sz="1800" dirty="0">
              <a:solidFill>
                <a:schemeClr val="dk1"/>
              </a:solidFill>
              <a:latin typeface="Calibri"/>
              <a:ea typeface="Calibri"/>
              <a:cs typeface="Calibri"/>
              <a:sym typeface="Calibri"/>
            </a:endParaRPr>
          </a:p>
          <a:p>
            <a:pPr marL="342900" marR="0" lvl="0" indent="-342900" algn="l" rtl="0">
              <a:lnSpc>
                <a:spcPct val="110000"/>
              </a:lnSpc>
              <a:spcBef>
                <a:spcPts val="0"/>
              </a:spcBef>
              <a:spcAft>
                <a:spcPts val="0"/>
              </a:spcAft>
              <a:buClr>
                <a:schemeClr val="dk1"/>
              </a:buClr>
              <a:buSzPts val="1800"/>
              <a:buFont typeface="Noto Sans Symbols"/>
              <a:buChar char="✔"/>
            </a:pPr>
            <a:r>
              <a:rPr lang="fr-FR" sz="1800" dirty="0" err="1">
                <a:solidFill>
                  <a:schemeClr val="dk1"/>
                </a:solidFill>
                <a:latin typeface="Calibri"/>
                <a:ea typeface="Calibri"/>
                <a:cs typeface="Calibri"/>
                <a:sym typeface="Calibri"/>
              </a:rPr>
              <a:t>Conduct</a:t>
            </a:r>
            <a:r>
              <a:rPr lang="fr-FR" sz="1800" dirty="0">
                <a:solidFill>
                  <a:schemeClr val="dk1"/>
                </a:solidFill>
                <a:latin typeface="Calibri"/>
                <a:ea typeface="Calibri"/>
                <a:cs typeface="Calibri"/>
                <a:sym typeface="Calibri"/>
              </a:rPr>
              <a:t> local </a:t>
            </a:r>
            <a:r>
              <a:rPr lang="fr-FR" sz="1800" dirty="0" err="1">
                <a:solidFill>
                  <a:schemeClr val="dk1"/>
                </a:solidFill>
                <a:latin typeface="Calibri"/>
                <a:ea typeface="Calibri"/>
                <a:cs typeface="Calibri"/>
                <a:sym typeface="Calibri"/>
              </a:rPr>
              <a:t>research</a:t>
            </a:r>
            <a:r>
              <a:rPr lang="fr-FR" sz="1800" dirty="0">
                <a:solidFill>
                  <a:schemeClr val="dk1"/>
                </a:solidFill>
                <a:latin typeface="Calibri"/>
                <a:ea typeface="Calibri"/>
                <a:cs typeface="Calibri"/>
                <a:sym typeface="Calibri"/>
              </a:rPr>
              <a:t>, network, and </a:t>
            </a:r>
            <a:r>
              <a:rPr lang="fr-FR" sz="1800" dirty="0" err="1">
                <a:solidFill>
                  <a:schemeClr val="dk1"/>
                </a:solidFill>
                <a:latin typeface="Calibri"/>
                <a:ea typeface="Calibri"/>
                <a:cs typeface="Calibri"/>
                <a:sym typeface="Calibri"/>
              </a:rPr>
              <a:t>form</a:t>
            </a:r>
            <a:r>
              <a:rPr lang="fr-FR" sz="1800" dirty="0">
                <a:solidFill>
                  <a:schemeClr val="dk1"/>
                </a:solidFill>
                <a:latin typeface="Calibri"/>
                <a:ea typeface="Calibri"/>
                <a:cs typeface="Calibri"/>
                <a:sym typeface="Calibri"/>
              </a:rPr>
              <a:t> an action plan: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need</a:t>
            </a:r>
            <a:r>
              <a:rPr lang="fr-FR" sz="1800" dirty="0">
                <a:solidFill>
                  <a:schemeClr val="dk1"/>
                </a:solidFill>
                <a:latin typeface="Calibri"/>
                <a:ea typeface="Calibri"/>
                <a:cs typeface="Calibri"/>
                <a:sym typeface="Calibri"/>
              </a:rPr>
              <a:t> to </a:t>
            </a:r>
            <a:r>
              <a:rPr lang="fr-FR" sz="1800" dirty="0" err="1">
                <a:solidFill>
                  <a:schemeClr val="dk1"/>
                </a:solidFill>
                <a:latin typeface="Calibri"/>
                <a:ea typeface="Calibri"/>
                <a:cs typeface="Calibri"/>
                <a:sym typeface="Calibri"/>
              </a:rPr>
              <a:t>research</a:t>
            </a:r>
            <a:r>
              <a:rPr lang="fr-FR" sz="1800" dirty="0">
                <a:solidFill>
                  <a:schemeClr val="dk1"/>
                </a:solidFill>
                <a:latin typeface="Calibri"/>
                <a:ea typeface="Calibri"/>
                <a:cs typeface="Calibri"/>
                <a:sym typeface="Calibri"/>
              </a:rPr>
              <a:t> the areas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want</a:t>
            </a:r>
            <a:r>
              <a:rPr lang="fr-FR" sz="1800" dirty="0">
                <a:solidFill>
                  <a:schemeClr val="dk1"/>
                </a:solidFill>
                <a:latin typeface="Calibri"/>
                <a:ea typeface="Calibri"/>
                <a:cs typeface="Calibri"/>
                <a:sym typeface="Calibri"/>
              </a:rPr>
              <a:t> to </a:t>
            </a:r>
            <a:r>
              <a:rPr lang="fr-FR" sz="1800" dirty="0" err="1">
                <a:solidFill>
                  <a:schemeClr val="dk1"/>
                </a:solidFill>
                <a:latin typeface="Calibri"/>
                <a:ea typeface="Calibri"/>
                <a:cs typeface="Calibri"/>
                <a:sym typeface="Calibri"/>
              </a:rPr>
              <a:t>work</a:t>
            </a:r>
            <a:r>
              <a:rPr lang="fr-FR" sz="1800" dirty="0">
                <a:solidFill>
                  <a:schemeClr val="dk1"/>
                </a:solidFill>
                <a:latin typeface="Calibri"/>
                <a:ea typeface="Calibri"/>
                <a:cs typeface="Calibri"/>
                <a:sym typeface="Calibri"/>
              </a:rPr>
              <a:t> in: </a:t>
            </a:r>
            <a:r>
              <a:rPr lang="fr-FR" sz="1800" dirty="0" err="1">
                <a:solidFill>
                  <a:schemeClr val="dk1"/>
                </a:solidFill>
                <a:latin typeface="Calibri"/>
                <a:ea typeface="Calibri"/>
                <a:cs typeface="Calibri"/>
                <a:sym typeface="Calibri"/>
              </a:rPr>
              <a:t>Identify</a:t>
            </a:r>
            <a:r>
              <a:rPr lang="fr-FR" sz="1800" dirty="0">
                <a:solidFill>
                  <a:schemeClr val="dk1"/>
                </a:solidFill>
                <a:latin typeface="Calibri"/>
                <a:ea typeface="Calibri"/>
                <a:cs typeface="Calibri"/>
                <a:sym typeface="Calibri"/>
              </a:rPr>
              <a:t> the challenges, cultural </a:t>
            </a:r>
            <a:r>
              <a:rPr lang="fr-FR" sz="1800" dirty="0" err="1">
                <a:solidFill>
                  <a:schemeClr val="dk1"/>
                </a:solidFill>
                <a:latin typeface="Calibri"/>
                <a:ea typeface="Calibri"/>
                <a:cs typeface="Calibri"/>
                <a:sym typeface="Calibri"/>
              </a:rPr>
              <a:t>history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political</a:t>
            </a:r>
            <a:r>
              <a:rPr lang="fr-FR" sz="1800" dirty="0">
                <a:solidFill>
                  <a:schemeClr val="dk1"/>
                </a:solidFill>
                <a:latin typeface="Calibri"/>
                <a:ea typeface="Calibri"/>
                <a:cs typeface="Calibri"/>
                <a:sym typeface="Calibri"/>
              </a:rPr>
              <a:t> state, </a:t>
            </a:r>
            <a:r>
              <a:rPr lang="fr-FR" sz="1800" dirty="0" err="1">
                <a:solidFill>
                  <a:schemeClr val="dk1"/>
                </a:solidFill>
                <a:latin typeface="Calibri"/>
                <a:ea typeface="Calibri"/>
                <a:cs typeface="Calibri"/>
                <a:sym typeface="Calibri"/>
              </a:rPr>
              <a:t>ect</a:t>
            </a:r>
            <a:r>
              <a:rPr lang="fr-FR" sz="1800" dirty="0">
                <a:solidFill>
                  <a:schemeClr val="dk1"/>
                </a:solidFill>
                <a:latin typeface="Calibri"/>
                <a:ea typeface="Calibri"/>
                <a:cs typeface="Calibri"/>
                <a:sym typeface="Calibri"/>
              </a:rPr>
              <a:t>.</a:t>
            </a:r>
            <a:endParaRPr dirty="0"/>
          </a:p>
          <a:p>
            <a:pPr marL="342900" marR="0" lvl="0" indent="-228600" algn="l" rtl="0">
              <a:lnSpc>
                <a:spcPct val="110000"/>
              </a:lnSpc>
              <a:spcBef>
                <a:spcPts val="0"/>
              </a:spcBef>
              <a:spcAft>
                <a:spcPts val="0"/>
              </a:spcAft>
              <a:buClr>
                <a:schemeClr val="dk1"/>
              </a:buClr>
              <a:buSzPts val="1800"/>
              <a:buFont typeface="Noto Sans Symbols"/>
              <a:buNone/>
            </a:pPr>
            <a:endParaRPr sz="1800" dirty="0">
              <a:solidFill>
                <a:schemeClr val="dk1"/>
              </a:solidFill>
              <a:latin typeface="Calibri"/>
              <a:ea typeface="Calibri"/>
              <a:cs typeface="Calibri"/>
              <a:sym typeface="Calibri"/>
            </a:endParaRPr>
          </a:p>
          <a:p>
            <a:pPr marL="342900" marR="0" lvl="0" indent="-342900" algn="l" rtl="0">
              <a:lnSpc>
                <a:spcPct val="110000"/>
              </a:lnSpc>
              <a:spcBef>
                <a:spcPts val="0"/>
              </a:spcBef>
              <a:spcAft>
                <a:spcPts val="0"/>
              </a:spcAft>
              <a:buClr>
                <a:schemeClr val="dk1"/>
              </a:buClr>
              <a:buSzPts val="1800"/>
              <a:buFont typeface="Noto Sans Symbols"/>
              <a:buChar char="✔"/>
            </a:pPr>
            <a:r>
              <a:rPr lang="fr-FR" sz="1800" dirty="0" err="1">
                <a:solidFill>
                  <a:schemeClr val="dk1"/>
                </a:solidFill>
                <a:latin typeface="Calibri"/>
                <a:ea typeface="Calibri"/>
                <a:cs typeface="Calibri"/>
                <a:sym typeface="Calibri"/>
              </a:rPr>
              <a:t>Identify</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your</a:t>
            </a:r>
            <a:r>
              <a:rPr lang="fr-FR" sz="1800" dirty="0">
                <a:solidFill>
                  <a:schemeClr val="dk1"/>
                </a:solidFill>
                <a:latin typeface="Calibri"/>
                <a:ea typeface="Calibri"/>
                <a:cs typeface="Calibri"/>
                <a:sym typeface="Calibri"/>
              </a:rPr>
              <a:t> budget and </a:t>
            </a:r>
            <a:r>
              <a:rPr lang="fr-FR" sz="1800" dirty="0" err="1">
                <a:solidFill>
                  <a:schemeClr val="dk1"/>
                </a:solidFill>
                <a:latin typeface="Calibri"/>
                <a:ea typeface="Calibri"/>
                <a:cs typeface="Calibri"/>
                <a:sym typeface="Calibri"/>
              </a:rPr>
              <a:t>fundraising</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process</a:t>
            </a:r>
            <a:r>
              <a:rPr lang="fr-FR" sz="1800" dirty="0">
                <a:solidFill>
                  <a:schemeClr val="dk1"/>
                </a:solidFill>
                <a:latin typeface="Calibri"/>
                <a:ea typeface="Calibri"/>
                <a:cs typeface="Calibri"/>
                <a:sym typeface="Calibri"/>
              </a:rPr>
              <a:t>: to figure out </a:t>
            </a:r>
            <a:r>
              <a:rPr lang="fr-FR" sz="1800" dirty="0" err="1">
                <a:solidFill>
                  <a:schemeClr val="dk1"/>
                </a:solidFill>
                <a:latin typeface="Calibri"/>
                <a:ea typeface="Calibri"/>
                <a:cs typeface="Calibri"/>
                <a:sym typeface="Calibri"/>
              </a:rPr>
              <a:t>where</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you</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will</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get</a:t>
            </a:r>
            <a:r>
              <a:rPr lang="fr-FR" sz="1800" dirty="0">
                <a:solidFill>
                  <a:schemeClr val="dk1"/>
                </a:solidFill>
                <a:latin typeface="Calibri"/>
                <a:ea typeface="Calibri"/>
                <a:cs typeface="Calibri"/>
                <a:sym typeface="Calibri"/>
              </a:rPr>
              <a:t> the money </a:t>
            </a:r>
            <a:r>
              <a:rPr lang="fr-FR" sz="1800" dirty="0" err="1">
                <a:solidFill>
                  <a:schemeClr val="dk1"/>
                </a:solidFill>
                <a:latin typeface="Calibri"/>
                <a:ea typeface="Calibri"/>
                <a:cs typeface="Calibri"/>
                <a:sym typeface="Calibri"/>
              </a:rPr>
              <a:t>from</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loans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grants</a:t>
            </a:r>
            <a:r>
              <a:rPr lang="fr-FR" sz="1800" dirty="0">
                <a:solidFill>
                  <a:schemeClr val="dk1"/>
                </a:solidFill>
                <a:latin typeface="Calibri"/>
                <a:ea typeface="Calibri"/>
                <a:cs typeface="Calibri"/>
                <a:sym typeface="Calibri"/>
              </a:rPr>
              <a:t>, </a:t>
            </a:r>
            <a:r>
              <a:rPr lang="fr-FR" sz="1800" dirty="0" err="1">
                <a:solidFill>
                  <a:schemeClr val="dk1"/>
                </a:solidFill>
                <a:latin typeface="Calibri"/>
                <a:ea typeface="Calibri"/>
                <a:cs typeface="Calibri"/>
                <a:sym typeface="Calibri"/>
              </a:rPr>
              <a:t>private</a:t>
            </a:r>
            <a:r>
              <a:rPr lang="fr-FR" sz="1800" dirty="0">
                <a:solidFill>
                  <a:schemeClr val="dk1"/>
                </a:solidFill>
                <a:latin typeface="Calibri"/>
                <a:ea typeface="Calibri"/>
                <a:cs typeface="Calibri"/>
                <a:sym typeface="Calibri"/>
              </a:rPr>
              <a:t> donations, </a:t>
            </a:r>
            <a:r>
              <a:rPr lang="fr-FR" sz="1800" dirty="0" err="1">
                <a:solidFill>
                  <a:schemeClr val="dk1"/>
                </a:solidFill>
                <a:latin typeface="Calibri"/>
                <a:ea typeface="Calibri"/>
                <a:cs typeface="Calibri"/>
                <a:sym typeface="Calibri"/>
              </a:rPr>
              <a:t>membership</a:t>
            </a:r>
            <a:r>
              <a:rPr lang="fr-FR" sz="1800" dirty="0">
                <a:solidFill>
                  <a:schemeClr val="dk1"/>
                </a:solidFill>
                <a:latin typeface="Calibri"/>
                <a:ea typeface="Calibri"/>
                <a:cs typeface="Calibri"/>
                <a:sym typeface="Calibri"/>
              </a:rPr>
              <a:t> dues, </a:t>
            </a:r>
            <a:r>
              <a:rPr lang="fr-FR" sz="1800" dirty="0" err="1">
                <a:solidFill>
                  <a:schemeClr val="dk1"/>
                </a:solidFill>
                <a:latin typeface="Calibri"/>
                <a:ea typeface="Calibri"/>
                <a:cs typeface="Calibri"/>
                <a:sym typeface="Calibri"/>
              </a:rPr>
              <a:t>ect</a:t>
            </a:r>
            <a:r>
              <a:rPr lang="fr-FR" sz="1800" dirty="0">
                <a:solidFill>
                  <a:schemeClr val="dk1"/>
                </a:solidFill>
                <a:latin typeface="Calibri"/>
                <a:ea typeface="Calibri"/>
                <a:cs typeface="Calibri"/>
                <a:sym typeface="Calibri"/>
              </a:rPr>
              <a:t>.</a:t>
            </a:r>
            <a:endParaRPr sz="18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46">
                                            <p:txEl>
                                              <p:pRg st="0" end="0"/>
                                            </p:txEl>
                                          </p:spTgt>
                                        </p:tgtEl>
                                        <p:attrNameLst>
                                          <p:attrName>style.visibility</p:attrName>
                                        </p:attrNameLst>
                                      </p:cBhvr>
                                      <p:to>
                                        <p:strVal val="visible"/>
                                      </p:to>
                                    </p:set>
                                    <p:anim calcmode="lin" valueType="num">
                                      <p:cBhvr additive="base">
                                        <p:cTn id="7" dur="500"/>
                                        <p:tgtEl>
                                          <p:spTgt spid="546">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546">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46">
                                            <p:txEl>
                                              <p:pRg st="1" end="1"/>
                                            </p:txEl>
                                          </p:spTgt>
                                        </p:tgtEl>
                                        <p:attrNameLst>
                                          <p:attrName>style.visibility</p:attrName>
                                        </p:attrNameLst>
                                      </p:cBhvr>
                                      <p:to>
                                        <p:strVal val="visible"/>
                                      </p:to>
                                    </p:set>
                                    <p:anim calcmode="lin" valueType="num">
                                      <p:cBhvr additive="base">
                                        <p:cTn id="13" dur="500"/>
                                        <p:tgtEl>
                                          <p:spTgt spid="546">
                                            <p:txEl>
                                              <p:pRg st="1" end="1"/>
                                            </p:txEl>
                                          </p:spTgt>
                                        </p:tgtEl>
                                        <p:attrNameLst>
                                          <p:attrName>ppt_w</p:attrName>
                                        </p:attrNameLst>
                                      </p:cBhvr>
                                      <p:tavLst>
                                        <p:tav tm="0">
                                          <p:val>
                                            <p:strVal val="0"/>
                                          </p:val>
                                        </p:tav>
                                        <p:tav tm="100000">
                                          <p:val>
                                            <p:strVal val="#ppt_w"/>
                                          </p:val>
                                        </p:tav>
                                      </p:tavLst>
                                    </p:anim>
                                    <p:anim calcmode="lin" valueType="num">
                                      <p:cBhvr additive="base">
                                        <p:cTn id="14" dur="500"/>
                                        <p:tgtEl>
                                          <p:spTgt spid="546">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46">
                                            <p:txEl>
                                              <p:pRg st="3" end="3"/>
                                            </p:txEl>
                                          </p:spTgt>
                                        </p:tgtEl>
                                        <p:attrNameLst>
                                          <p:attrName>style.visibility</p:attrName>
                                        </p:attrNameLst>
                                      </p:cBhvr>
                                      <p:to>
                                        <p:strVal val="visible"/>
                                      </p:to>
                                    </p:set>
                                    <p:anim calcmode="lin" valueType="num">
                                      <p:cBhvr additive="base">
                                        <p:cTn id="19" dur="500"/>
                                        <p:tgtEl>
                                          <p:spTgt spid="546">
                                            <p:txEl>
                                              <p:pRg st="3" end="3"/>
                                            </p:txEl>
                                          </p:spTgt>
                                        </p:tgtEl>
                                        <p:attrNameLst>
                                          <p:attrName>ppt_w</p:attrName>
                                        </p:attrNameLst>
                                      </p:cBhvr>
                                      <p:tavLst>
                                        <p:tav tm="0">
                                          <p:val>
                                            <p:strVal val="0"/>
                                          </p:val>
                                        </p:tav>
                                        <p:tav tm="100000">
                                          <p:val>
                                            <p:strVal val="#ppt_w"/>
                                          </p:val>
                                        </p:tav>
                                      </p:tavLst>
                                    </p:anim>
                                    <p:anim calcmode="lin" valueType="num">
                                      <p:cBhvr additive="base">
                                        <p:cTn id="20" dur="500"/>
                                        <p:tgtEl>
                                          <p:spTgt spid="546">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546">
                                            <p:txEl>
                                              <p:pRg st="5" end="5"/>
                                            </p:txEl>
                                          </p:spTgt>
                                        </p:tgtEl>
                                        <p:attrNameLst>
                                          <p:attrName>style.visibility</p:attrName>
                                        </p:attrNameLst>
                                      </p:cBhvr>
                                      <p:to>
                                        <p:strVal val="visible"/>
                                      </p:to>
                                    </p:set>
                                    <p:anim calcmode="lin" valueType="num">
                                      <p:cBhvr additive="base">
                                        <p:cTn id="25" dur="500"/>
                                        <p:tgtEl>
                                          <p:spTgt spid="546">
                                            <p:txEl>
                                              <p:pRg st="5" end="5"/>
                                            </p:txEl>
                                          </p:spTgt>
                                        </p:tgtEl>
                                        <p:attrNameLst>
                                          <p:attrName>ppt_w</p:attrName>
                                        </p:attrNameLst>
                                      </p:cBhvr>
                                      <p:tavLst>
                                        <p:tav tm="0">
                                          <p:val>
                                            <p:strVal val="0"/>
                                          </p:val>
                                        </p:tav>
                                        <p:tav tm="100000">
                                          <p:val>
                                            <p:strVal val="#ppt_w"/>
                                          </p:val>
                                        </p:tav>
                                      </p:tavLst>
                                    </p:anim>
                                    <p:anim calcmode="lin" valueType="num">
                                      <p:cBhvr additive="base">
                                        <p:cTn id="26" dur="500"/>
                                        <p:tgtEl>
                                          <p:spTgt spid="546">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46">
                                            <p:txEl>
                                              <p:pRg st="7" end="7"/>
                                            </p:txEl>
                                          </p:spTgt>
                                        </p:tgtEl>
                                        <p:attrNameLst>
                                          <p:attrName>style.visibility</p:attrName>
                                        </p:attrNameLst>
                                      </p:cBhvr>
                                      <p:to>
                                        <p:strVal val="visible"/>
                                      </p:to>
                                    </p:set>
                                    <p:anim calcmode="lin" valueType="num">
                                      <p:cBhvr additive="base">
                                        <p:cTn id="31" dur="500"/>
                                        <p:tgtEl>
                                          <p:spTgt spid="546">
                                            <p:txEl>
                                              <p:pRg st="7" end="7"/>
                                            </p:txEl>
                                          </p:spTgt>
                                        </p:tgtEl>
                                        <p:attrNameLst>
                                          <p:attrName>ppt_w</p:attrName>
                                        </p:attrNameLst>
                                      </p:cBhvr>
                                      <p:tavLst>
                                        <p:tav tm="0">
                                          <p:val>
                                            <p:strVal val="0"/>
                                          </p:val>
                                        </p:tav>
                                        <p:tav tm="100000">
                                          <p:val>
                                            <p:strVal val="#ppt_w"/>
                                          </p:val>
                                        </p:tav>
                                      </p:tavLst>
                                    </p:anim>
                                    <p:anim calcmode="lin" valueType="num">
                                      <p:cBhvr additive="base">
                                        <p:cTn id="32" dur="500"/>
                                        <p:tgtEl>
                                          <p:spTgt spid="546">
                                            <p:txEl>
                                              <p:pRg st="7" end="7"/>
                                            </p:txEl>
                                          </p:spTgt>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546">
                                            <p:txEl>
                                              <p:pRg st="9" end="9"/>
                                            </p:txEl>
                                          </p:spTgt>
                                        </p:tgtEl>
                                        <p:attrNameLst>
                                          <p:attrName>style.visibility</p:attrName>
                                        </p:attrNameLst>
                                      </p:cBhvr>
                                      <p:to>
                                        <p:strVal val="visible"/>
                                      </p:to>
                                    </p:set>
                                    <p:anim calcmode="lin" valueType="num">
                                      <p:cBhvr additive="base">
                                        <p:cTn id="37" dur="500"/>
                                        <p:tgtEl>
                                          <p:spTgt spid="546">
                                            <p:txEl>
                                              <p:pRg st="9" end="9"/>
                                            </p:txEl>
                                          </p:spTgt>
                                        </p:tgtEl>
                                        <p:attrNameLst>
                                          <p:attrName>ppt_w</p:attrName>
                                        </p:attrNameLst>
                                      </p:cBhvr>
                                      <p:tavLst>
                                        <p:tav tm="0">
                                          <p:val>
                                            <p:strVal val="0"/>
                                          </p:val>
                                        </p:tav>
                                        <p:tav tm="100000">
                                          <p:val>
                                            <p:strVal val="#ppt_w"/>
                                          </p:val>
                                        </p:tav>
                                      </p:tavLst>
                                    </p:anim>
                                    <p:anim calcmode="lin" valueType="num">
                                      <p:cBhvr additive="base">
                                        <p:cTn id="38" dur="500"/>
                                        <p:tgtEl>
                                          <p:spTgt spid="546">
                                            <p:txEl>
                                              <p:pRg st="9" end="9"/>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grpSp>
        <p:nvGrpSpPr>
          <p:cNvPr id="552" name="Google Shape;552;p54"/>
          <p:cNvGrpSpPr/>
          <p:nvPr/>
        </p:nvGrpSpPr>
        <p:grpSpPr>
          <a:xfrm>
            <a:off x="428857" y="76200"/>
            <a:ext cx="6086243" cy="565433"/>
            <a:chOff x="801127" y="403254"/>
            <a:chExt cx="4331352" cy="565433"/>
          </a:xfrm>
        </p:grpSpPr>
        <p:sp>
          <p:nvSpPr>
            <p:cNvPr id="553" name="Google Shape;553;p54"/>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554" name="Google Shape;554;p54"/>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Weekly-detailed requirements: </a:t>
              </a:r>
              <a:endParaRPr/>
            </a:p>
          </p:txBody>
        </p:sp>
      </p:grpSp>
      <p:pic>
        <p:nvPicPr>
          <p:cNvPr id="555" name="Google Shape;555;p54"/>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556" name="Google Shape;556;p54"/>
          <p:cNvSpPr txBox="1"/>
          <p:nvPr/>
        </p:nvSpPr>
        <p:spPr>
          <a:xfrm>
            <a:off x="152400" y="862976"/>
            <a:ext cx="6705600" cy="5811846"/>
          </a:xfrm>
          <a:prstGeom prst="rect">
            <a:avLst/>
          </a:prstGeom>
          <a:noFill/>
          <a:ln w="9525" cap="flat" cmpd="sng">
            <a:solidFill>
              <a:srgbClr val="4F81BD"/>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fr-FR" sz="2000" dirty="0" err="1">
                <a:solidFill>
                  <a:srgbClr val="FF0000"/>
                </a:solidFill>
                <a:latin typeface="Calibri"/>
                <a:ea typeface="Calibri"/>
                <a:cs typeface="Calibri"/>
                <a:sym typeface="Calibri"/>
              </a:rPr>
              <a:t>Week</a:t>
            </a:r>
            <a:r>
              <a:rPr lang="fr-FR" sz="2000" dirty="0">
                <a:solidFill>
                  <a:srgbClr val="FF0000"/>
                </a:solidFill>
                <a:latin typeface="Calibri"/>
                <a:ea typeface="Calibri"/>
                <a:cs typeface="Calibri"/>
                <a:sym typeface="Calibri"/>
              </a:rPr>
              <a:t> 3: </a:t>
            </a:r>
            <a:r>
              <a:rPr lang="fr-FR" sz="2000" dirty="0">
                <a:solidFill>
                  <a:schemeClr val="dk1"/>
                </a:solidFill>
                <a:latin typeface="Calibri"/>
                <a:ea typeface="Calibri"/>
                <a:cs typeface="Calibri"/>
                <a:sym typeface="Calibri"/>
              </a:rPr>
              <a:t>Project </a:t>
            </a:r>
            <a:r>
              <a:rPr lang="fr-FR" sz="2000" dirty="0" err="1">
                <a:solidFill>
                  <a:schemeClr val="dk1"/>
                </a:solidFill>
                <a:latin typeface="Calibri"/>
                <a:ea typeface="Calibri"/>
                <a:cs typeface="Calibri"/>
                <a:sym typeface="Calibri"/>
              </a:rPr>
              <a:t>launch</a:t>
            </a:r>
            <a:endParaRPr dirty="0"/>
          </a:p>
          <a:p>
            <a:pPr marL="0" marR="0" lvl="0" indent="0" algn="l" rtl="0">
              <a:spcBef>
                <a:spcPts val="0"/>
              </a:spcBef>
              <a:spcAft>
                <a:spcPts val="0"/>
              </a:spcAft>
              <a:buNone/>
            </a:pPr>
            <a:r>
              <a:rPr lang="fr-FR" sz="2000" dirty="0" err="1">
                <a:solidFill>
                  <a:srgbClr val="3366FF"/>
                </a:solidFill>
                <a:latin typeface="Calibri"/>
                <a:ea typeface="Calibri"/>
                <a:cs typeface="Calibri"/>
                <a:sym typeface="Calibri"/>
              </a:rPr>
              <a:t>Assignment</a:t>
            </a:r>
            <a:r>
              <a:rPr lang="fr-FR" sz="2000" dirty="0">
                <a:solidFill>
                  <a:srgbClr val="3366FF"/>
                </a:solidFill>
                <a:latin typeface="Calibri"/>
                <a:ea typeface="Calibri"/>
                <a:cs typeface="Calibri"/>
                <a:sym typeface="Calibri"/>
              </a:rPr>
              <a:t> 1: </a:t>
            </a:r>
            <a:r>
              <a:rPr lang="fr-FR" sz="2000" dirty="0">
                <a:solidFill>
                  <a:schemeClr val="dk1"/>
                </a:solidFill>
                <a:latin typeface="Calibri"/>
                <a:ea typeface="Calibri"/>
                <a:cs typeface="Calibri"/>
                <a:sym typeface="Calibri"/>
              </a:rPr>
              <a:t>PPT</a:t>
            </a:r>
            <a:endParaRPr dirty="0"/>
          </a:p>
          <a:p>
            <a:pPr marL="0" marR="0" lvl="0" indent="0" algn="l" rtl="0">
              <a:lnSpc>
                <a:spcPct val="110000"/>
              </a:lnSpc>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lnSpc>
                <a:spcPct val="110000"/>
              </a:lnSpc>
              <a:spcBef>
                <a:spcPts val="0"/>
              </a:spcBef>
              <a:spcAft>
                <a:spcPts val="0"/>
              </a:spcAft>
              <a:buNone/>
            </a:pPr>
            <a:r>
              <a:rPr lang="fr-FR" sz="2000" dirty="0" err="1">
                <a:solidFill>
                  <a:srgbClr val="FF0000"/>
                </a:solidFill>
                <a:latin typeface="Calibri"/>
                <a:ea typeface="Calibri"/>
                <a:cs typeface="Calibri"/>
                <a:sym typeface="Calibri"/>
              </a:rPr>
              <a:t>Week</a:t>
            </a:r>
            <a:r>
              <a:rPr lang="fr-FR" sz="2000" dirty="0">
                <a:solidFill>
                  <a:srgbClr val="FF0000"/>
                </a:solidFill>
                <a:latin typeface="Calibri"/>
                <a:ea typeface="Calibri"/>
                <a:cs typeface="Calibri"/>
                <a:sym typeface="Calibri"/>
              </a:rPr>
              <a:t> 5</a:t>
            </a:r>
            <a:r>
              <a:rPr lang="fr-FR" sz="2000" dirty="0">
                <a:solidFill>
                  <a:schemeClr val="dk1"/>
                </a:solidFill>
                <a:latin typeface="Calibri"/>
                <a:ea typeface="Calibri"/>
                <a:cs typeface="Calibri"/>
                <a:sym typeface="Calibri"/>
              </a:rPr>
              <a:t>: PPT</a:t>
            </a:r>
            <a:endParaRPr dirty="0"/>
          </a:p>
          <a:p>
            <a:pPr marL="0" marR="0" lvl="0" indent="0" algn="l" rtl="0">
              <a:lnSpc>
                <a:spcPct val="110000"/>
              </a:lnSpc>
              <a:spcBef>
                <a:spcPts val="0"/>
              </a:spcBef>
              <a:spcAft>
                <a:spcPts val="0"/>
              </a:spcAft>
              <a:buNone/>
            </a:pPr>
            <a:r>
              <a:rPr lang="fr-FR" sz="2000" dirty="0" err="1">
                <a:solidFill>
                  <a:srgbClr val="3366FF"/>
                </a:solidFill>
                <a:latin typeface="Calibri"/>
                <a:ea typeface="Calibri"/>
                <a:cs typeface="Calibri"/>
                <a:sym typeface="Calibri"/>
              </a:rPr>
              <a:t>Assignment</a:t>
            </a:r>
            <a:r>
              <a:rPr lang="fr-FR" sz="2000" dirty="0">
                <a:solidFill>
                  <a:srgbClr val="3366FF"/>
                </a:solidFill>
                <a:latin typeface="Calibri"/>
                <a:ea typeface="Calibri"/>
                <a:cs typeface="Calibri"/>
                <a:sym typeface="Calibri"/>
              </a:rPr>
              <a:t>  2: </a:t>
            </a:r>
            <a:r>
              <a:rPr lang="fr-FR" sz="2000" dirty="0" err="1">
                <a:solidFill>
                  <a:schemeClr val="dk1"/>
                </a:solidFill>
                <a:latin typeface="Calibri"/>
                <a:ea typeface="Calibri"/>
                <a:cs typeface="Calibri"/>
                <a:sym typeface="Calibri"/>
              </a:rPr>
              <a:t>Awareness</a:t>
            </a:r>
            <a:r>
              <a:rPr lang="fr-FR" sz="2000" dirty="0">
                <a:solidFill>
                  <a:schemeClr val="dk1"/>
                </a:solidFill>
                <a:latin typeface="Calibri"/>
                <a:ea typeface="Calibri"/>
                <a:cs typeface="Calibri"/>
                <a:sym typeface="Calibri"/>
              </a:rPr>
              <a:t> </a:t>
            </a:r>
            <a:r>
              <a:rPr lang="fr-FR" sz="2000" dirty="0" err="1">
                <a:solidFill>
                  <a:schemeClr val="dk1"/>
                </a:solidFill>
                <a:latin typeface="Calibri"/>
                <a:ea typeface="Calibri"/>
                <a:cs typeface="Calibri"/>
                <a:sym typeface="Calibri"/>
              </a:rPr>
              <a:t>campaign</a:t>
            </a:r>
            <a:r>
              <a:rPr lang="fr-FR" sz="2000" dirty="0">
                <a:solidFill>
                  <a:schemeClr val="dk1"/>
                </a:solidFill>
                <a:latin typeface="Calibri"/>
                <a:ea typeface="Calibri"/>
                <a:cs typeface="Calibri"/>
                <a:sym typeface="Calibri"/>
              </a:rPr>
              <a:t> (</a:t>
            </a:r>
            <a:r>
              <a:rPr lang="fr-FR" sz="2000" dirty="0" err="1">
                <a:solidFill>
                  <a:schemeClr val="dk1"/>
                </a:solidFill>
                <a:latin typeface="Calibri"/>
                <a:ea typeface="Calibri"/>
                <a:cs typeface="Calibri"/>
                <a:sym typeface="Calibri"/>
              </a:rPr>
              <a:t>graphic</a:t>
            </a:r>
            <a:r>
              <a:rPr lang="fr-FR" sz="2000" dirty="0">
                <a:solidFill>
                  <a:schemeClr val="dk1"/>
                </a:solidFill>
                <a:latin typeface="Calibri"/>
                <a:ea typeface="Calibri"/>
                <a:cs typeface="Calibri"/>
                <a:sym typeface="Calibri"/>
              </a:rPr>
              <a:t>)</a:t>
            </a:r>
            <a:r>
              <a:rPr lang="fr-FR" sz="2000" b="1" dirty="0">
                <a:solidFill>
                  <a:schemeClr val="dk1"/>
                </a:solidFill>
                <a:latin typeface="Calibri"/>
                <a:ea typeface="Calibri"/>
                <a:cs typeface="Calibri"/>
                <a:sym typeface="Calibri"/>
              </a:rPr>
              <a:t> </a:t>
            </a:r>
            <a:endParaRPr sz="2000" dirty="0">
              <a:solidFill>
                <a:schemeClr val="dk1"/>
              </a:solidFill>
              <a:latin typeface="Calibri"/>
              <a:ea typeface="Calibri"/>
              <a:cs typeface="Calibri"/>
              <a:sym typeface="Calibri"/>
            </a:endParaRPr>
          </a:p>
          <a:p>
            <a:pPr marL="0" marR="0" lvl="0" indent="0" algn="l" rtl="0">
              <a:lnSpc>
                <a:spcPct val="110000"/>
              </a:lnSpc>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lnSpc>
                <a:spcPct val="110000"/>
              </a:lnSpc>
              <a:spcBef>
                <a:spcPts val="0"/>
              </a:spcBef>
              <a:spcAft>
                <a:spcPts val="0"/>
              </a:spcAft>
              <a:buNone/>
            </a:pPr>
            <a:r>
              <a:rPr lang="fr-FR" sz="2000" dirty="0" err="1">
                <a:solidFill>
                  <a:srgbClr val="FF0000"/>
                </a:solidFill>
                <a:latin typeface="Calibri"/>
                <a:ea typeface="Calibri"/>
                <a:cs typeface="Calibri"/>
                <a:sym typeface="Calibri"/>
              </a:rPr>
              <a:t>Week</a:t>
            </a:r>
            <a:r>
              <a:rPr lang="fr-FR" sz="2000" dirty="0">
                <a:solidFill>
                  <a:srgbClr val="FF0000"/>
                </a:solidFill>
                <a:latin typeface="Calibri"/>
                <a:ea typeface="Calibri"/>
                <a:cs typeface="Calibri"/>
                <a:sym typeface="Calibri"/>
              </a:rPr>
              <a:t> 7: </a:t>
            </a:r>
            <a:r>
              <a:rPr lang="fr-FR" sz="2000" dirty="0" err="1">
                <a:solidFill>
                  <a:schemeClr val="dk1"/>
                </a:solidFill>
                <a:latin typeface="Calibri"/>
                <a:ea typeface="Calibri"/>
                <a:cs typeface="Calibri"/>
                <a:sym typeface="Calibri"/>
              </a:rPr>
              <a:t>Awareness</a:t>
            </a:r>
            <a:r>
              <a:rPr lang="fr-FR" sz="2000" dirty="0">
                <a:solidFill>
                  <a:schemeClr val="dk1"/>
                </a:solidFill>
                <a:latin typeface="Calibri"/>
                <a:ea typeface="Calibri"/>
                <a:cs typeface="Calibri"/>
                <a:sym typeface="Calibri"/>
              </a:rPr>
              <a:t> </a:t>
            </a:r>
            <a:r>
              <a:rPr lang="fr-FR" sz="2000" dirty="0" err="1">
                <a:solidFill>
                  <a:schemeClr val="dk1"/>
                </a:solidFill>
                <a:latin typeface="Calibri"/>
                <a:ea typeface="Calibri"/>
                <a:cs typeface="Calibri"/>
                <a:sym typeface="Calibri"/>
              </a:rPr>
              <a:t>campaign</a:t>
            </a:r>
            <a:r>
              <a:rPr lang="fr-FR" sz="2000" b="1" dirty="0">
                <a:solidFill>
                  <a:schemeClr val="dk1"/>
                </a:solidFill>
                <a:latin typeface="Calibri"/>
                <a:ea typeface="Calibri"/>
                <a:cs typeface="Calibri"/>
                <a:sym typeface="Calibri"/>
              </a:rPr>
              <a:t> </a:t>
            </a:r>
            <a:r>
              <a:rPr lang="fr-FR" sz="2000" dirty="0">
                <a:solidFill>
                  <a:schemeClr val="dk1"/>
                </a:solidFill>
                <a:latin typeface="Calibri"/>
                <a:ea typeface="Calibri"/>
                <a:cs typeface="Calibri"/>
                <a:sym typeface="Calibri"/>
              </a:rPr>
              <a:t>(</a:t>
            </a:r>
            <a:r>
              <a:rPr lang="fr-FR" sz="2000" dirty="0" err="1">
                <a:solidFill>
                  <a:schemeClr val="dk1"/>
                </a:solidFill>
                <a:latin typeface="Calibri"/>
                <a:ea typeface="Calibri"/>
                <a:cs typeface="Calibri"/>
                <a:sym typeface="Calibri"/>
              </a:rPr>
              <a:t>graphic</a:t>
            </a:r>
            <a:r>
              <a:rPr lang="fr-FR" sz="2000" dirty="0">
                <a:solidFill>
                  <a:schemeClr val="dk1"/>
                </a:solidFill>
                <a:latin typeface="Calibri"/>
                <a:ea typeface="Calibri"/>
                <a:cs typeface="Calibri"/>
                <a:sym typeface="Calibri"/>
              </a:rPr>
              <a:t>)</a:t>
            </a:r>
            <a:r>
              <a:rPr lang="fr-FR" sz="2000" b="1" dirty="0">
                <a:solidFill>
                  <a:schemeClr val="dk1"/>
                </a:solidFill>
                <a:latin typeface="Calibri"/>
                <a:ea typeface="Calibri"/>
                <a:cs typeface="Calibri"/>
                <a:sym typeface="Calibri"/>
              </a:rPr>
              <a:t> </a:t>
            </a:r>
            <a:endParaRPr dirty="0"/>
          </a:p>
          <a:p>
            <a:pPr marL="0" marR="0" lvl="0" indent="0" algn="l" rtl="0">
              <a:lnSpc>
                <a:spcPct val="110000"/>
              </a:lnSpc>
              <a:spcBef>
                <a:spcPts val="0"/>
              </a:spcBef>
              <a:spcAft>
                <a:spcPts val="0"/>
              </a:spcAft>
              <a:buNone/>
            </a:pPr>
            <a:r>
              <a:rPr lang="fr-FR" sz="2000" dirty="0" err="1">
                <a:solidFill>
                  <a:srgbClr val="3366FF"/>
                </a:solidFill>
                <a:latin typeface="Calibri"/>
                <a:ea typeface="Calibri"/>
                <a:cs typeface="Calibri"/>
                <a:sym typeface="Calibri"/>
              </a:rPr>
              <a:t>Assignment</a:t>
            </a:r>
            <a:r>
              <a:rPr lang="fr-FR" sz="2000" dirty="0">
                <a:solidFill>
                  <a:srgbClr val="3366FF"/>
                </a:solidFill>
                <a:latin typeface="Calibri"/>
                <a:ea typeface="Calibri"/>
                <a:cs typeface="Calibri"/>
                <a:sym typeface="Calibri"/>
              </a:rPr>
              <a:t> 3: </a:t>
            </a:r>
            <a:r>
              <a:rPr lang="fr-FR" sz="2000" dirty="0" err="1">
                <a:solidFill>
                  <a:schemeClr val="dk1"/>
                </a:solidFill>
                <a:latin typeface="Calibri"/>
                <a:ea typeface="Calibri"/>
                <a:cs typeface="Calibri"/>
                <a:sym typeface="Calibri"/>
              </a:rPr>
              <a:t>Awareness</a:t>
            </a:r>
            <a:r>
              <a:rPr lang="fr-FR" sz="2000" dirty="0">
                <a:solidFill>
                  <a:schemeClr val="dk1"/>
                </a:solidFill>
                <a:latin typeface="Calibri"/>
                <a:ea typeface="Calibri"/>
                <a:cs typeface="Calibri"/>
                <a:sym typeface="Calibri"/>
              </a:rPr>
              <a:t> </a:t>
            </a:r>
            <a:r>
              <a:rPr lang="fr-FR" sz="2000" dirty="0" err="1">
                <a:solidFill>
                  <a:schemeClr val="dk1"/>
                </a:solidFill>
                <a:latin typeface="Calibri"/>
                <a:ea typeface="Calibri"/>
                <a:cs typeface="Calibri"/>
                <a:sym typeface="Calibri"/>
              </a:rPr>
              <a:t>campaign</a:t>
            </a:r>
            <a:r>
              <a:rPr lang="fr-FR" sz="2000" dirty="0">
                <a:solidFill>
                  <a:schemeClr val="dk1"/>
                </a:solidFill>
                <a:latin typeface="Calibri"/>
                <a:ea typeface="Calibri"/>
                <a:cs typeface="Calibri"/>
                <a:sym typeface="Calibri"/>
              </a:rPr>
              <a:t> (media)</a:t>
            </a:r>
            <a:endParaRPr dirty="0"/>
          </a:p>
          <a:p>
            <a:pPr marL="0" marR="0" lvl="0" indent="0" algn="l" rtl="0">
              <a:lnSpc>
                <a:spcPct val="110000"/>
              </a:lnSpc>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lnSpc>
                <a:spcPct val="110000"/>
              </a:lnSpc>
              <a:spcBef>
                <a:spcPts val="0"/>
              </a:spcBef>
              <a:spcAft>
                <a:spcPts val="0"/>
              </a:spcAft>
              <a:buNone/>
            </a:pPr>
            <a:r>
              <a:rPr lang="fr-FR" sz="2000" dirty="0" err="1">
                <a:solidFill>
                  <a:srgbClr val="FF0000"/>
                </a:solidFill>
                <a:latin typeface="Calibri"/>
                <a:ea typeface="Calibri"/>
                <a:cs typeface="Calibri"/>
                <a:sym typeface="Calibri"/>
              </a:rPr>
              <a:t>Week</a:t>
            </a:r>
            <a:r>
              <a:rPr lang="fr-FR" sz="2000" dirty="0">
                <a:solidFill>
                  <a:srgbClr val="FF0000"/>
                </a:solidFill>
                <a:latin typeface="Calibri"/>
                <a:ea typeface="Calibri"/>
                <a:cs typeface="Calibri"/>
                <a:sym typeface="Calibri"/>
              </a:rPr>
              <a:t> 9: </a:t>
            </a:r>
            <a:r>
              <a:rPr lang="fr-FR" sz="2000" dirty="0" err="1">
                <a:solidFill>
                  <a:schemeClr val="dk1"/>
                </a:solidFill>
                <a:latin typeface="Calibri"/>
                <a:ea typeface="Calibri"/>
                <a:cs typeface="Calibri"/>
                <a:sym typeface="Calibri"/>
              </a:rPr>
              <a:t>Awareness</a:t>
            </a:r>
            <a:r>
              <a:rPr lang="fr-FR" sz="2000" dirty="0">
                <a:solidFill>
                  <a:schemeClr val="dk1"/>
                </a:solidFill>
                <a:latin typeface="Calibri"/>
                <a:ea typeface="Calibri"/>
                <a:cs typeface="Calibri"/>
                <a:sym typeface="Calibri"/>
              </a:rPr>
              <a:t> </a:t>
            </a:r>
            <a:r>
              <a:rPr lang="fr-FR" sz="2000" dirty="0" err="1">
                <a:solidFill>
                  <a:schemeClr val="dk1"/>
                </a:solidFill>
                <a:latin typeface="Calibri"/>
                <a:ea typeface="Calibri"/>
                <a:cs typeface="Calibri"/>
                <a:sym typeface="Calibri"/>
              </a:rPr>
              <a:t>campaign</a:t>
            </a:r>
            <a:r>
              <a:rPr lang="fr-FR" sz="2000" dirty="0">
                <a:solidFill>
                  <a:schemeClr val="dk1"/>
                </a:solidFill>
                <a:latin typeface="Calibri"/>
                <a:ea typeface="Calibri"/>
                <a:cs typeface="Calibri"/>
                <a:sym typeface="Calibri"/>
              </a:rPr>
              <a:t> (media)</a:t>
            </a:r>
            <a:endParaRPr dirty="0"/>
          </a:p>
          <a:p>
            <a:pPr marL="0" marR="0" lvl="0" indent="0" algn="l" rtl="0">
              <a:lnSpc>
                <a:spcPct val="110000"/>
              </a:lnSpc>
              <a:spcBef>
                <a:spcPts val="0"/>
              </a:spcBef>
              <a:spcAft>
                <a:spcPts val="0"/>
              </a:spcAft>
              <a:buNone/>
            </a:pPr>
            <a:r>
              <a:rPr lang="fr-FR" sz="2000" dirty="0" err="1">
                <a:solidFill>
                  <a:srgbClr val="3366FF"/>
                </a:solidFill>
                <a:latin typeface="Calibri"/>
                <a:ea typeface="Calibri"/>
                <a:cs typeface="Calibri"/>
                <a:sym typeface="Calibri"/>
              </a:rPr>
              <a:t>Assignment</a:t>
            </a:r>
            <a:r>
              <a:rPr lang="fr-FR" sz="2000" dirty="0">
                <a:solidFill>
                  <a:srgbClr val="3366FF"/>
                </a:solidFill>
                <a:latin typeface="Calibri"/>
                <a:ea typeface="Calibri"/>
                <a:cs typeface="Calibri"/>
                <a:sym typeface="Calibri"/>
              </a:rPr>
              <a:t> 4: </a:t>
            </a:r>
            <a:r>
              <a:rPr lang="fr-FR" sz="2000" dirty="0">
                <a:solidFill>
                  <a:schemeClr val="dk1"/>
                </a:solidFill>
                <a:latin typeface="Calibri"/>
                <a:ea typeface="Calibri"/>
                <a:cs typeface="Calibri"/>
                <a:sym typeface="Calibri"/>
              </a:rPr>
              <a:t>PPT and </a:t>
            </a:r>
            <a:r>
              <a:rPr lang="fr-FR" sz="2000" dirty="0" err="1">
                <a:solidFill>
                  <a:schemeClr val="dk1"/>
                </a:solidFill>
                <a:latin typeface="Calibri"/>
                <a:ea typeface="Calibri"/>
                <a:cs typeface="Calibri"/>
                <a:sym typeface="Calibri"/>
              </a:rPr>
              <a:t>animated</a:t>
            </a:r>
            <a:r>
              <a:rPr lang="fr-FR" sz="2000" dirty="0">
                <a:solidFill>
                  <a:schemeClr val="dk1"/>
                </a:solidFill>
                <a:latin typeface="Calibri"/>
                <a:ea typeface="Calibri"/>
                <a:cs typeface="Calibri"/>
                <a:sym typeface="Calibri"/>
              </a:rPr>
              <a:t> </a:t>
            </a:r>
            <a:r>
              <a:rPr lang="fr-FR" sz="2000" dirty="0" err="1">
                <a:solidFill>
                  <a:schemeClr val="dk1"/>
                </a:solidFill>
                <a:latin typeface="Calibri"/>
                <a:ea typeface="Calibri"/>
                <a:cs typeface="Calibri"/>
                <a:sym typeface="Calibri"/>
              </a:rPr>
              <a:t>video</a:t>
            </a:r>
            <a:r>
              <a:rPr lang="fr-FR" sz="2000" dirty="0">
                <a:solidFill>
                  <a:schemeClr val="dk1"/>
                </a:solidFill>
                <a:latin typeface="Calibri"/>
                <a:ea typeface="Calibri"/>
                <a:cs typeface="Calibri"/>
                <a:sym typeface="Calibri"/>
              </a:rPr>
              <a:t> </a:t>
            </a:r>
            <a:endParaRPr dirty="0"/>
          </a:p>
          <a:p>
            <a:pPr marL="0" marR="0" lvl="0" indent="0" algn="l" rtl="0">
              <a:lnSpc>
                <a:spcPct val="110000"/>
              </a:lnSpc>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lnSpc>
                <a:spcPct val="110000"/>
              </a:lnSpc>
              <a:spcBef>
                <a:spcPts val="0"/>
              </a:spcBef>
              <a:spcAft>
                <a:spcPts val="0"/>
              </a:spcAft>
              <a:buNone/>
            </a:pPr>
            <a:r>
              <a:rPr lang="fr-FR" sz="2000" dirty="0" err="1">
                <a:solidFill>
                  <a:srgbClr val="FF0000"/>
                </a:solidFill>
                <a:latin typeface="Calibri"/>
                <a:ea typeface="Calibri"/>
                <a:cs typeface="Calibri"/>
                <a:sym typeface="Calibri"/>
              </a:rPr>
              <a:t>Week</a:t>
            </a:r>
            <a:r>
              <a:rPr lang="fr-FR" sz="2000" dirty="0">
                <a:solidFill>
                  <a:srgbClr val="FF0000"/>
                </a:solidFill>
                <a:latin typeface="Calibri"/>
                <a:ea typeface="Calibri"/>
                <a:cs typeface="Calibri"/>
                <a:sym typeface="Calibri"/>
              </a:rPr>
              <a:t> 11</a:t>
            </a:r>
            <a:r>
              <a:rPr lang="fr-FR" sz="2000" dirty="0">
                <a:solidFill>
                  <a:schemeClr val="dk1"/>
                </a:solidFill>
                <a:latin typeface="Calibri"/>
                <a:ea typeface="Calibri"/>
                <a:cs typeface="Calibri"/>
                <a:sym typeface="Calibri"/>
              </a:rPr>
              <a:t>: Final PPT and </a:t>
            </a:r>
            <a:r>
              <a:rPr lang="fr-FR" sz="2000" dirty="0" err="1">
                <a:solidFill>
                  <a:schemeClr val="dk1"/>
                </a:solidFill>
                <a:latin typeface="Calibri"/>
                <a:ea typeface="Calibri"/>
                <a:cs typeface="Calibri"/>
                <a:sym typeface="Calibri"/>
              </a:rPr>
              <a:t>animated</a:t>
            </a:r>
            <a:r>
              <a:rPr lang="fr-FR" sz="2000" dirty="0">
                <a:solidFill>
                  <a:schemeClr val="dk1"/>
                </a:solidFill>
                <a:latin typeface="Calibri"/>
                <a:ea typeface="Calibri"/>
                <a:cs typeface="Calibri"/>
                <a:sym typeface="Calibri"/>
              </a:rPr>
              <a:t> </a:t>
            </a:r>
            <a:r>
              <a:rPr lang="fr-FR" sz="2000" dirty="0" err="1">
                <a:solidFill>
                  <a:schemeClr val="dk1"/>
                </a:solidFill>
                <a:latin typeface="Calibri"/>
                <a:ea typeface="Calibri"/>
                <a:cs typeface="Calibri"/>
                <a:sym typeface="Calibri"/>
              </a:rPr>
              <a:t>video</a:t>
            </a:r>
            <a:r>
              <a:rPr lang="fr-FR" sz="2000" dirty="0">
                <a:solidFill>
                  <a:schemeClr val="dk1"/>
                </a:solidFill>
                <a:latin typeface="Calibri"/>
                <a:ea typeface="Calibri"/>
                <a:cs typeface="Calibri"/>
                <a:sym typeface="Calibri"/>
              </a:rPr>
              <a:t> </a:t>
            </a:r>
            <a:endParaRPr dirty="0"/>
          </a:p>
          <a:p>
            <a:pPr marL="0" marR="0" lvl="0" indent="0" algn="l" rtl="0">
              <a:lnSpc>
                <a:spcPct val="110000"/>
              </a:lnSpc>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lnSpc>
                <a:spcPct val="110000"/>
              </a:lnSpc>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lnSpc>
                <a:spcPct val="110000"/>
              </a:lnSpc>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lnSpc>
                <a:spcPct val="110000"/>
              </a:lnSpc>
              <a:spcBef>
                <a:spcPts val="0"/>
              </a:spcBef>
              <a:spcAft>
                <a:spcPts val="0"/>
              </a:spcAft>
              <a:buNone/>
            </a:pPr>
            <a:endParaRPr sz="20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556">
                                            <p:txEl>
                                              <p:pRg st="0" end="0"/>
                                            </p:txEl>
                                          </p:spTgt>
                                        </p:tgtEl>
                                        <p:attrNameLst>
                                          <p:attrName>style.visibility</p:attrName>
                                        </p:attrNameLst>
                                      </p:cBhvr>
                                      <p:to>
                                        <p:strVal val="visible"/>
                                      </p:to>
                                    </p:set>
                                    <p:animEffect transition="in" filter="fade">
                                      <p:cBhvr>
                                        <p:cTn id="7" dur="1000"/>
                                        <p:tgtEl>
                                          <p:spTgt spid="556">
                                            <p:txEl>
                                              <p:pRg st="0" end="0"/>
                                            </p:txEl>
                                          </p:spTgt>
                                        </p:tgtEl>
                                      </p:cBhvr>
                                    </p:animEffect>
                                    <p:anim calcmode="lin" valueType="num">
                                      <p:cBhvr>
                                        <p:cTn id="8" dur="1000" fill="hold"/>
                                        <p:tgtEl>
                                          <p:spTgt spid="556">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556">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556">
                                            <p:txEl>
                                              <p:pRg st="0" end="0"/>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556">
                                            <p:txEl>
                                              <p:pRg st="1" end="1"/>
                                            </p:txEl>
                                          </p:spTgt>
                                        </p:tgtEl>
                                        <p:attrNameLst>
                                          <p:attrName>style.visibility</p:attrName>
                                        </p:attrNameLst>
                                      </p:cBhvr>
                                      <p:to>
                                        <p:strVal val="visible"/>
                                      </p:to>
                                    </p:set>
                                    <p:animEffect transition="in" filter="fade">
                                      <p:cBhvr>
                                        <p:cTn id="13" dur="1000"/>
                                        <p:tgtEl>
                                          <p:spTgt spid="556">
                                            <p:txEl>
                                              <p:pRg st="1" end="1"/>
                                            </p:txEl>
                                          </p:spTgt>
                                        </p:tgtEl>
                                      </p:cBhvr>
                                    </p:animEffect>
                                    <p:anim calcmode="lin" valueType="num">
                                      <p:cBhvr>
                                        <p:cTn id="14" dur="1000" fill="hold"/>
                                        <p:tgtEl>
                                          <p:spTgt spid="556">
                                            <p:txEl>
                                              <p:pRg st="1" end="1"/>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556">
                                            <p:txEl>
                                              <p:pRg st="1" end="1"/>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556">
                                            <p:txEl>
                                              <p:pRg st="1" end="1"/>
                                            </p:txEl>
                                          </p:spTgt>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556">
                                            <p:txEl>
                                              <p:pRg st="3" end="3"/>
                                            </p:txEl>
                                          </p:spTgt>
                                        </p:tgtEl>
                                        <p:attrNameLst>
                                          <p:attrName>style.visibility</p:attrName>
                                        </p:attrNameLst>
                                      </p:cBhvr>
                                      <p:to>
                                        <p:strVal val="visible"/>
                                      </p:to>
                                    </p:set>
                                    <p:animEffect transition="in" filter="fade">
                                      <p:cBhvr>
                                        <p:cTn id="19" dur="1000"/>
                                        <p:tgtEl>
                                          <p:spTgt spid="556">
                                            <p:txEl>
                                              <p:pRg st="3" end="3"/>
                                            </p:txEl>
                                          </p:spTgt>
                                        </p:tgtEl>
                                      </p:cBhvr>
                                    </p:animEffect>
                                    <p:anim calcmode="lin" valueType="num">
                                      <p:cBhvr>
                                        <p:cTn id="20" dur="1000" fill="hold"/>
                                        <p:tgtEl>
                                          <p:spTgt spid="556">
                                            <p:txEl>
                                              <p:pRg st="3" end="3"/>
                                            </p:txEl>
                                          </p:spTgt>
                                        </p:tgtEl>
                                        <p:attrNameLst>
                                          <p:attrName>ppt_x</p:attrName>
                                        </p:attrNameLst>
                                      </p:cBhvr>
                                      <p:tavLst>
                                        <p:tav tm="0">
                                          <p:val>
                                            <p:strVal val="#ppt_x"/>
                                          </p:val>
                                        </p:tav>
                                        <p:tav tm="100000">
                                          <p:val>
                                            <p:strVal val="#ppt_x"/>
                                          </p:val>
                                        </p:tav>
                                      </p:tavLst>
                                    </p:anim>
                                    <p:anim calcmode="lin" valueType="num">
                                      <p:cBhvr>
                                        <p:cTn id="21" dur="900" decel="100000" fill="hold"/>
                                        <p:tgtEl>
                                          <p:spTgt spid="556">
                                            <p:txEl>
                                              <p:pRg st="3" end="3"/>
                                            </p:txEl>
                                          </p:spTgt>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556">
                                            <p:txEl>
                                              <p:pRg st="3" end="3"/>
                                            </p:txEl>
                                          </p:spTgt>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0"/>
                                  </p:stCondLst>
                                  <p:childTnLst>
                                    <p:set>
                                      <p:cBhvr>
                                        <p:cTn id="24" dur="1" fill="hold">
                                          <p:stCondLst>
                                            <p:cond delay="0"/>
                                          </p:stCondLst>
                                        </p:cTn>
                                        <p:tgtEl>
                                          <p:spTgt spid="556">
                                            <p:txEl>
                                              <p:pRg st="4" end="4"/>
                                            </p:txEl>
                                          </p:spTgt>
                                        </p:tgtEl>
                                        <p:attrNameLst>
                                          <p:attrName>style.visibility</p:attrName>
                                        </p:attrNameLst>
                                      </p:cBhvr>
                                      <p:to>
                                        <p:strVal val="visible"/>
                                      </p:to>
                                    </p:set>
                                    <p:animEffect transition="in" filter="fade">
                                      <p:cBhvr>
                                        <p:cTn id="25" dur="1000"/>
                                        <p:tgtEl>
                                          <p:spTgt spid="556">
                                            <p:txEl>
                                              <p:pRg st="4" end="4"/>
                                            </p:txEl>
                                          </p:spTgt>
                                        </p:tgtEl>
                                      </p:cBhvr>
                                    </p:animEffect>
                                    <p:anim calcmode="lin" valueType="num">
                                      <p:cBhvr>
                                        <p:cTn id="26" dur="1000" fill="hold"/>
                                        <p:tgtEl>
                                          <p:spTgt spid="556">
                                            <p:txEl>
                                              <p:pRg st="4" end="4"/>
                                            </p:txEl>
                                          </p:spTgt>
                                        </p:tgtEl>
                                        <p:attrNameLst>
                                          <p:attrName>ppt_x</p:attrName>
                                        </p:attrNameLst>
                                      </p:cBhvr>
                                      <p:tavLst>
                                        <p:tav tm="0">
                                          <p:val>
                                            <p:strVal val="#ppt_x"/>
                                          </p:val>
                                        </p:tav>
                                        <p:tav tm="100000">
                                          <p:val>
                                            <p:strVal val="#ppt_x"/>
                                          </p:val>
                                        </p:tav>
                                      </p:tavLst>
                                    </p:anim>
                                    <p:anim calcmode="lin" valueType="num">
                                      <p:cBhvr>
                                        <p:cTn id="27" dur="900" decel="100000" fill="hold"/>
                                        <p:tgtEl>
                                          <p:spTgt spid="556">
                                            <p:txEl>
                                              <p:pRg st="4" end="4"/>
                                            </p:txEl>
                                          </p:spTgt>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556">
                                            <p:txEl>
                                              <p:pRg st="4" end="4"/>
                                            </p:txEl>
                                          </p:spTgt>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0"/>
                                  </p:stCondLst>
                                  <p:childTnLst>
                                    <p:set>
                                      <p:cBhvr>
                                        <p:cTn id="30" dur="1" fill="hold">
                                          <p:stCondLst>
                                            <p:cond delay="0"/>
                                          </p:stCondLst>
                                        </p:cTn>
                                        <p:tgtEl>
                                          <p:spTgt spid="556">
                                            <p:txEl>
                                              <p:pRg st="6" end="6"/>
                                            </p:txEl>
                                          </p:spTgt>
                                        </p:tgtEl>
                                        <p:attrNameLst>
                                          <p:attrName>style.visibility</p:attrName>
                                        </p:attrNameLst>
                                      </p:cBhvr>
                                      <p:to>
                                        <p:strVal val="visible"/>
                                      </p:to>
                                    </p:set>
                                    <p:animEffect transition="in" filter="fade">
                                      <p:cBhvr>
                                        <p:cTn id="31" dur="1000"/>
                                        <p:tgtEl>
                                          <p:spTgt spid="556">
                                            <p:txEl>
                                              <p:pRg st="6" end="6"/>
                                            </p:txEl>
                                          </p:spTgt>
                                        </p:tgtEl>
                                      </p:cBhvr>
                                    </p:animEffect>
                                    <p:anim calcmode="lin" valueType="num">
                                      <p:cBhvr>
                                        <p:cTn id="32" dur="1000" fill="hold"/>
                                        <p:tgtEl>
                                          <p:spTgt spid="556">
                                            <p:txEl>
                                              <p:pRg st="6" end="6"/>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556">
                                            <p:txEl>
                                              <p:pRg st="6" end="6"/>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556">
                                            <p:txEl>
                                              <p:pRg st="6" end="6"/>
                                            </p:txEl>
                                          </p:spTgt>
                                        </p:tgtEl>
                                        <p:attrNameLst>
                                          <p:attrName>ppt_y</p:attrName>
                                        </p:attrNameLst>
                                      </p:cBhvr>
                                      <p:tavLst>
                                        <p:tav tm="0">
                                          <p:val>
                                            <p:strVal val="#ppt_y-.03"/>
                                          </p:val>
                                        </p:tav>
                                        <p:tav tm="100000">
                                          <p:val>
                                            <p:strVal val="#ppt_y"/>
                                          </p:val>
                                        </p:tav>
                                      </p:tavLst>
                                    </p:anim>
                                  </p:childTnLst>
                                </p:cTn>
                              </p:par>
                              <p:par>
                                <p:cTn id="35" presetID="37" presetClass="entr" presetSubtype="0" fill="hold" nodeType="withEffect">
                                  <p:stCondLst>
                                    <p:cond delay="0"/>
                                  </p:stCondLst>
                                  <p:childTnLst>
                                    <p:set>
                                      <p:cBhvr>
                                        <p:cTn id="36" dur="1" fill="hold">
                                          <p:stCondLst>
                                            <p:cond delay="0"/>
                                          </p:stCondLst>
                                        </p:cTn>
                                        <p:tgtEl>
                                          <p:spTgt spid="556">
                                            <p:txEl>
                                              <p:pRg st="7" end="7"/>
                                            </p:txEl>
                                          </p:spTgt>
                                        </p:tgtEl>
                                        <p:attrNameLst>
                                          <p:attrName>style.visibility</p:attrName>
                                        </p:attrNameLst>
                                      </p:cBhvr>
                                      <p:to>
                                        <p:strVal val="visible"/>
                                      </p:to>
                                    </p:set>
                                    <p:animEffect transition="in" filter="fade">
                                      <p:cBhvr>
                                        <p:cTn id="37" dur="1000"/>
                                        <p:tgtEl>
                                          <p:spTgt spid="556">
                                            <p:txEl>
                                              <p:pRg st="7" end="7"/>
                                            </p:txEl>
                                          </p:spTgt>
                                        </p:tgtEl>
                                      </p:cBhvr>
                                    </p:animEffect>
                                    <p:anim calcmode="lin" valueType="num">
                                      <p:cBhvr>
                                        <p:cTn id="38" dur="1000" fill="hold"/>
                                        <p:tgtEl>
                                          <p:spTgt spid="556">
                                            <p:txEl>
                                              <p:pRg st="7" end="7"/>
                                            </p:txEl>
                                          </p:spTgt>
                                        </p:tgtEl>
                                        <p:attrNameLst>
                                          <p:attrName>ppt_x</p:attrName>
                                        </p:attrNameLst>
                                      </p:cBhvr>
                                      <p:tavLst>
                                        <p:tav tm="0">
                                          <p:val>
                                            <p:strVal val="#ppt_x"/>
                                          </p:val>
                                        </p:tav>
                                        <p:tav tm="100000">
                                          <p:val>
                                            <p:strVal val="#ppt_x"/>
                                          </p:val>
                                        </p:tav>
                                      </p:tavLst>
                                    </p:anim>
                                    <p:anim calcmode="lin" valueType="num">
                                      <p:cBhvr>
                                        <p:cTn id="39" dur="900" decel="100000" fill="hold"/>
                                        <p:tgtEl>
                                          <p:spTgt spid="556">
                                            <p:txEl>
                                              <p:pRg st="7" end="7"/>
                                            </p:txEl>
                                          </p:spTgt>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556">
                                            <p:txEl>
                                              <p:pRg st="7" end="7"/>
                                            </p:txEl>
                                          </p:spTgt>
                                        </p:tgtEl>
                                        <p:attrNameLst>
                                          <p:attrName>ppt_y</p:attrName>
                                        </p:attrNameLst>
                                      </p:cBhvr>
                                      <p:tavLst>
                                        <p:tav tm="0">
                                          <p:val>
                                            <p:strVal val="#ppt_y-.03"/>
                                          </p:val>
                                        </p:tav>
                                        <p:tav tm="100000">
                                          <p:val>
                                            <p:strVal val="#ppt_y"/>
                                          </p:val>
                                        </p:tav>
                                      </p:tavLst>
                                    </p:anim>
                                  </p:childTnLst>
                                </p:cTn>
                              </p:par>
                              <p:par>
                                <p:cTn id="41" presetID="37" presetClass="entr" presetSubtype="0" fill="hold" nodeType="withEffect">
                                  <p:stCondLst>
                                    <p:cond delay="0"/>
                                  </p:stCondLst>
                                  <p:childTnLst>
                                    <p:set>
                                      <p:cBhvr>
                                        <p:cTn id="42" dur="1" fill="hold">
                                          <p:stCondLst>
                                            <p:cond delay="0"/>
                                          </p:stCondLst>
                                        </p:cTn>
                                        <p:tgtEl>
                                          <p:spTgt spid="556">
                                            <p:txEl>
                                              <p:pRg st="9" end="9"/>
                                            </p:txEl>
                                          </p:spTgt>
                                        </p:tgtEl>
                                        <p:attrNameLst>
                                          <p:attrName>style.visibility</p:attrName>
                                        </p:attrNameLst>
                                      </p:cBhvr>
                                      <p:to>
                                        <p:strVal val="visible"/>
                                      </p:to>
                                    </p:set>
                                    <p:animEffect transition="in" filter="fade">
                                      <p:cBhvr>
                                        <p:cTn id="43" dur="1000"/>
                                        <p:tgtEl>
                                          <p:spTgt spid="556">
                                            <p:txEl>
                                              <p:pRg st="9" end="9"/>
                                            </p:txEl>
                                          </p:spTgt>
                                        </p:tgtEl>
                                      </p:cBhvr>
                                    </p:animEffect>
                                    <p:anim calcmode="lin" valueType="num">
                                      <p:cBhvr>
                                        <p:cTn id="44" dur="1000" fill="hold"/>
                                        <p:tgtEl>
                                          <p:spTgt spid="556">
                                            <p:txEl>
                                              <p:pRg st="9" end="9"/>
                                            </p:txEl>
                                          </p:spTgt>
                                        </p:tgtEl>
                                        <p:attrNameLst>
                                          <p:attrName>ppt_x</p:attrName>
                                        </p:attrNameLst>
                                      </p:cBhvr>
                                      <p:tavLst>
                                        <p:tav tm="0">
                                          <p:val>
                                            <p:strVal val="#ppt_x"/>
                                          </p:val>
                                        </p:tav>
                                        <p:tav tm="100000">
                                          <p:val>
                                            <p:strVal val="#ppt_x"/>
                                          </p:val>
                                        </p:tav>
                                      </p:tavLst>
                                    </p:anim>
                                    <p:anim calcmode="lin" valueType="num">
                                      <p:cBhvr>
                                        <p:cTn id="45" dur="900" decel="100000" fill="hold"/>
                                        <p:tgtEl>
                                          <p:spTgt spid="556">
                                            <p:txEl>
                                              <p:pRg st="9" end="9"/>
                                            </p:txEl>
                                          </p:spTgt>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556">
                                            <p:txEl>
                                              <p:pRg st="9" end="9"/>
                                            </p:txEl>
                                          </p:spTgt>
                                        </p:tgtEl>
                                        <p:attrNameLst>
                                          <p:attrName>ppt_y</p:attrName>
                                        </p:attrNameLst>
                                      </p:cBhvr>
                                      <p:tavLst>
                                        <p:tav tm="0">
                                          <p:val>
                                            <p:strVal val="#ppt_y-.03"/>
                                          </p:val>
                                        </p:tav>
                                        <p:tav tm="100000">
                                          <p:val>
                                            <p:strVal val="#ppt_y"/>
                                          </p:val>
                                        </p:tav>
                                      </p:tavLst>
                                    </p:anim>
                                  </p:childTnLst>
                                </p:cTn>
                              </p:par>
                              <p:par>
                                <p:cTn id="47" presetID="37" presetClass="entr" presetSubtype="0" fill="hold" nodeType="withEffect">
                                  <p:stCondLst>
                                    <p:cond delay="0"/>
                                  </p:stCondLst>
                                  <p:childTnLst>
                                    <p:set>
                                      <p:cBhvr>
                                        <p:cTn id="48" dur="1" fill="hold">
                                          <p:stCondLst>
                                            <p:cond delay="0"/>
                                          </p:stCondLst>
                                        </p:cTn>
                                        <p:tgtEl>
                                          <p:spTgt spid="556">
                                            <p:txEl>
                                              <p:pRg st="10" end="10"/>
                                            </p:txEl>
                                          </p:spTgt>
                                        </p:tgtEl>
                                        <p:attrNameLst>
                                          <p:attrName>style.visibility</p:attrName>
                                        </p:attrNameLst>
                                      </p:cBhvr>
                                      <p:to>
                                        <p:strVal val="visible"/>
                                      </p:to>
                                    </p:set>
                                    <p:animEffect transition="in" filter="fade">
                                      <p:cBhvr>
                                        <p:cTn id="49" dur="1000"/>
                                        <p:tgtEl>
                                          <p:spTgt spid="556">
                                            <p:txEl>
                                              <p:pRg st="10" end="10"/>
                                            </p:txEl>
                                          </p:spTgt>
                                        </p:tgtEl>
                                      </p:cBhvr>
                                    </p:animEffect>
                                    <p:anim calcmode="lin" valueType="num">
                                      <p:cBhvr>
                                        <p:cTn id="50" dur="1000" fill="hold"/>
                                        <p:tgtEl>
                                          <p:spTgt spid="556">
                                            <p:txEl>
                                              <p:pRg st="10" end="10"/>
                                            </p:txEl>
                                          </p:spTgt>
                                        </p:tgtEl>
                                        <p:attrNameLst>
                                          <p:attrName>ppt_x</p:attrName>
                                        </p:attrNameLst>
                                      </p:cBhvr>
                                      <p:tavLst>
                                        <p:tav tm="0">
                                          <p:val>
                                            <p:strVal val="#ppt_x"/>
                                          </p:val>
                                        </p:tav>
                                        <p:tav tm="100000">
                                          <p:val>
                                            <p:strVal val="#ppt_x"/>
                                          </p:val>
                                        </p:tav>
                                      </p:tavLst>
                                    </p:anim>
                                    <p:anim calcmode="lin" valueType="num">
                                      <p:cBhvr>
                                        <p:cTn id="51" dur="900" decel="100000" fill="hold"/>
                                        <p:tgtEl>
                                          <p:spTgt spid="556">
                                            <p:txEl>
                                              <p:pRg st="10" end="10"/>
                                            </p:txEl>
                                          </p:spTgt>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556">
                                            <p:txEl>
                                              <p:pRg st="10" end="10"/>
                                            </p:txEl>
                                          </p:spTgt>
                                        </p:tgtEl>
                                        <p:attrNameLst>
                                          <p:attrName>ppt_y</p:attrName>
                                        </p:attrNameLst>
                                      </p:cBhvr>
                                      <p:tavLst>
                                        <p:tav tm="0">
                                          <p:val>
                                            <p:strVal val="#ppt_y-.03"/>
                                          </p:val>
                                        </p:tav>
                                        <p:tav tm="100000">
                                          <p:val>
                                            <p:strVal val="#ppt_y"/>
                                          </p:val>
                                        </p:tav>
                                      </p:tavLst>
                                    </p:anim>
                                  </p:childTnLst>
                                </p:cTn>
                              </p:par>
                              <p:par>
                                <p:cTn id="53" presetID="37" presetClass="entr" presetSubtype="0" fill="hold" nodeType="withEffect">
                                  <p:stCondLst>
                                    <p:cond delay="0"/>
                                  </p:stCondLst>
                                  <p:childTnLst>
                                    <p:set>
                                      <p:cBhvr>
                                        <p:cTn id="54" dur="1" fill="hold">
                                          <p:stCondLst>
                                            <p:cond delay="0"/>
                                          </p:stCondLst>
                                        </p:cTn>
                                        <p:tgtEl>
                                          <p:spTgt spid="556">
                                            <p:txEl>
                                              <p:pRg st="12" end="12"/>
                                            </p:txEl>
                                          </p:spTgt>
                                        </p:tgtEl>
                                        <p:attrNameLst>
                                          <p:attrName>style.visibility</p:attrName>
                                        </p:attrNameLst>
                                      </p:cBhvr>
                                      <p:to>
                                        <p:strVal val="visible"/>
                                      </p:to>
                                    </p:set>
                                    <p:animEffect transition="in" filter="fade">
                                      <p:cBhvr>
                                        <p:cTn id="55" dur="1000"/>
                                        <p:tgtEl>
                                          <p:spTgt spid="556">
                                            <p:txEl>
                                              <p:pRg st="12" end="12"/>
                                            </p:txEl>
                                          </p:spTgt>
                                        </p:tgtEl>
                                      </p:cBhvr>
                                    </p:animEffect>
                                    <p:anim calcmode="lin" valueType="num">
                                      <p:cBhvr>
                                        <p:cTn id="56" dur="1000" fill="hold"/>
                                        <p:tgtEl>
                                          <p:spTgt spid="556">
                                            <p:txEl>
                                              <p:pRg st="12" end="12"/>
                                            </p:txEl>
                                          </p:spTgt>
                                        </p:tgtEl>
                                        <p:attrNameLst>
                                          <p:attrName>ppt_x</p:attrName>
                                        </p:attrNameLst>
                                      </p:cBhvr>
                                      <p:tavLst>
                                        <p:tav tm="0">
                                          <p:val>
                                            <p:strVal val="#ppt_x"/>
                                          </p:val>
                                        </p:tav>
                                        <p:tav tm="100000">
                                          <p:val>
                                            <p:strVal val="#ppt_x"/>
                                          </p:val>
                                        </p:tav>
                                      </p:tavLst>
                                    </p:anim>
                                    <p:anim calcmode="lin" valueType="num">
                                      <p:cBhvr>
                                        <p:cTn id="57" dur="900" decel="100000" fill="hold"/>
                                        <p:tgtEl>
                                          <p:spTgt spid="556">
                                            <p:txEl>
                                              <p:pRg st="12" end="12"/>
                                            </p:txEl>
                                          </p:spTgt>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556">
                                            <p:txEl>
                                              <p:pRg st="12" end="1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grpSp>
        <p:nvGrpSpPr>
          <p:cNvPr id="562" name="Google Shape;562;p55"/>
          <p:cNvGrpSpPr/>
          <p:nvPr/>
        </p:nvGrpSpPr>
        <p:grpSpPr>
          <a:xfrm>
            <a:off x="428857" y="228600"/>
            <a:ext cx="6086243" cy="565433"/>
            <a:chOff x="801127" y="403254"/>
            <a:chExt cx="4331352" cy="565433"/>
          </a:xfrm>
        </p:grpSpPr>
        <p:sp>
          <p:nvSpPr>
            <p:cNvPr id="563" name="Google Shape;563;p55"/>
            <p:cNvSpPr/>
            <p:nvPr/>
          </p:nvSpPr>
          <p:spPr>
            <a:xfrm>
              <a:off x="801127" y="403254"/>
              <a:ext cx="4331352" cy="565433"/>
            </a:xfrm>
            <a:prstGeom prst="roundRect">
              <a:avLst>
                <a:gd name="adj"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EA6D59"/>
                </a:solidFill>
                <a:latin typeface="Calibri"/>
                <a:ea typeface="Calibri"/>
                <a:cs typeface="Calibri"/>
                <a:sym typeface="Calibri"/>
              </a:endParaRPr>
            </a:p>
          </p:txBody>
        </p:sp>
        <p:sp>
          <p:nvSpPr>
            <p:cNvPr id="564" name="Google Shape;564;p55"/>
            <p:cNvSpPr/>
            <p:nvPr/>
          </p:nvSpPr>
          <p:spPr>
            <a:xfrm>
              <a:off x="1105964" y="438242"/>
              <a:ext cx="2457450" cy="408623"/>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FFFF"/>
                  </a:solidFill>
                  <a:latin typeface="Open Sans SemiBold"/>
                  <a:ea typeface="Open Sans SemiBold"/>
                  <a:cs typeface="Open Sans SemiBold"/>
                  <a:sym typeface="Open Sans SemiBold"/>
                </a:rPr>
                <a:t>Weekly-detailed requirements: </a:t>
              </a:r>
              <a:endParaRPr/>
            </a:p>
          </p:txBody>
        </p:sp>
      </p:grpSp>
      <p:pic>
        <p:nvPicPr>
          <p:cNvPr id="565" name="Google Shape;565;p55"/>
          <p:cNvPicPr preferRelativeResize="0"/>
          <p:nvPr/>
        </p:nvPicPr>
        <p:blipFill rotWithShape="1">
          <a:blip r:embed="rId3">
            <a:alphaModFix/>
          </a:blip>
          <a:srcRect/>
          <a:stretch/>
        </p:blipFill>
        <p:spPr>
          <a:xfrm>
            <a:off x="5875457" y="4647774"/>
            <a:ext cx="3268543" cy="2210226"/>
          </a:xfrm>
          <a:prstGeom prst="rect">
            <a:avLst/>
          </a:prstGeom>
          <a:noFill/>
          <a:ln>
            <a:noFill/>
          </a:ln>
        </p:spPr>
      </p:pic>
      <p:sp>
        <p:nvSpPr>
          <p:cNvPr id="566" name="Google Shape;566;p55"/>
          <p:cNvSpPr txBox="1"/>
          <p:nvPr/>
        </p:nvSpPr>
        <p:spPr>
          <a:xfrm>
            <a:off x="228600" y="914400"/>
            <a:ext cx="6248400" cy="6309379"/>
          </a:xfrm>
          <a:prstGeom prst="rect">
            <a:avLst/>
          </a:prstGeom>
          <a:noFill/>
          <a:ln w="9525" cap="flat" cmpd="sng">
            <a:solidFill>
              <a:srgbClr val="4F81BD"/>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2200" b="1" dirty="0" err="1">
                <a:solidFill>
                  <a:srgbClr val="FF0000"/>
                </a:solidFill>
                <a:latin typeface="Calibri"/>
                <a:ea typeface="Calibri"/>
                <a:cs typeface="Calibri"/>
                <a:sym typeface="Calibri"/>
              </a:rPr>
              <a:t>Week</a:t>
            </a:r>
            <a:r>
              <a:rPr lang="fr-FR" sz="2200" b="1" dirty="0">
                <a:solidFill>
                  <a:srgbClr val="FF0000"/>
                </a:solidFill>
                <a:latin typeface="Calibri"/>
                <a:ea typeface="Calibri"/>
                <a:cs typeface="Calibri"/>
                <a:sym typeface="Calibri"/>
              </a:rPr>
              <a:t> 3: “Project </a:t>
            </a:r>
            <a:r>
              <a:rPr lang="fr-FR" sz="2200" b="1" dirty="0" err="1">
                <a:solidFill>
                  <a:srgbClr val="FF0000"/>
                </a:solidFill>
                <a:latin typeface="Calibri"/>
                <a:ea typeface="Calibri"/>
                <a:cs typeface="Calibri"/>
                <a:sym typeface="Calibri"/>
              </a:rPr>
              <a:t>launch</a:t>
            </a:r>
            <a:r>
              <a:rPr lang="fr-FR" sz="2200" b="1" dirty="0">
                <a:solidFill>
                  <a:srgbClr val="FF0000"/>
                </a:solidFill>
                <a:latin typeface="Calibri"/>
                <a:ea typeface="Calibri"/>
                <a:cs typeface="Calibri"/>
                <a:sym typeface="Calibri"/>
              </a:rPr>
              <a:t>”</a:t>
            </a:r>
            <a:endParaRPr sz="2200" dirty="0">
              <a:solidFill>
                <a:srgbClr val="FF0000"/>
              </a:solidFill>
              <a:latin typeface="Calibri"/>
              <a:ea typeface="Calibri"/>
              <a:cs typeface="Calibri"/>
              <a:sym typeface="Calibri"/>
            </a:endParaRPr>
          </a:p>
          <a:p>
            <a:pPr marL="0" marR="0" lvl="0" indent="0" algn="ctr" rtl="0">
              <a:spcBef>
                <a:spcPts val="0"/>
              </a:spcBef>
              <a:spcAft>
                <a:spcPts val="0"/>
              </a:spcAft>
              <a:buNone/>
            </a:pPr>
            <a:r>
              <a:rPr lang="fr-FR" sz="2200" dirty="0">
                <a:solidFill>
                  <a:schemeClr val="dk1"/>
                </a:solidFill>
                <a:latin typeface="Calibri"/>
                <a:ea typeface="Calibri"/>
                <a:cs typeface="Calibri"/>
                <a:sym typeface="Calibri"/>
              </a:rPr>
              <a:t>Brainstorming </a:t>
            </a:r>
            <a:r>
              <a:rPr lang="fr-FR" sz="2200" dirty="0" err="1">
                <a:solidFill>
                  <a:schemeClr val="dk1"/>
                </a:solidFill>
                <a:latin typeface="Calibri"/>
                <a:ea typeface="Calibri"/>
                <a:cs typeface="Calibri"/>
                <a:sym typeface="Calibri"/>
              </a:rPr>
              <a:t>ideas</a:t>
            </a:r>
            <a:r>
              <a:rPr lang="fr-FR" sz="2200" dirty="0">
                <a:solidFill>
                  <a:schemeClr val="dk1"/>
                </a:solidFill>
                <a:latin typeface="Calibri"/>
                <a:ea typeface="Calibri"/>
                <a:cs typeface="Calibri"/>
                <a:sym typeface="Calibri"/>
              </a:rPr>
              <a:t>, groups </a:t>
            </a:r>
            <a:r>
              <a:rPr lang="fr-FR" sz="2200" dirty="0" err="1">
                <a:solidFill>
                  <a:schemeClr val="dk1"/>
                </a:solidFill>
                <a:latin typeface="Calibri"/>
                <a:ea typeface="Calibri"/>
                <a:cs typeface="Calibri"/>
                <a:sym typeface="Calibri"/>
              </a:rPr>
              <a:t>dividing</a:t>
            </a:r>
            <a:r>
              <a:rPr lang="fr-FR" sz="2200" dirty="0">
                <a:solidFill>
                  <a:schemeClr val="dk1"/>
                </a:solidFill>
                <a:latin typeface="Calibri"/>
                <a:ea typeface="Calibri"/>
                <a:cs typeface="Calibri"/>
                <a:sym typeface="Calibri"/>
              </a:rPr>
              <a:t> up.</a:t>
            </a:r>
            <a:endParaRPr dirty="0"/>
          </a:p>
          <a:p>
            <a:pPr marL="0" marR="0" lvl="0" indent="0" algn="just" rtl="0">
              <a:spcBef>
                <a:spcPts val="0"/>
              </a:spcBef>
              <a:spcAft>
                <a:spcPts val="0"/>
              </a:spcAft>
              <a:buNone/>
            </a:pPr>
            <a:endParaRPr sz="2200" dirty="0">
              <a:solidFill>
                <a:schemeClr val="dk1"/>
              </a:solidFill>
              <a:latin typeface="Calibri"/>
              <a:ea typeface="Calibri"/>
              <a:cs typeface="Calibri"/>
              <a:sym typeface="Calibri"/>
            </a:endParaRPr>
          </a:p>
          <a:p>
            <a:pPr marL="0" marR="0" lvl="0" indent="0" algn="just" rtl="0">
              <a:spcBef>
                <a:spcPts val="0"/>
              </a:spcBef>
              <a:spcAft>
                <a:spcPts val="0"/>
              </a:spcAft>
              <a:buNone/>
            </a:pPr>
            <a:r>
              <a:rPr lang="fr-FR" sz="2200" b="1" dirty="0" err="1">
                <a:solidFill>
                  <a:srgbClr val="FF0000"/>
                </a:solidFill>
                <a:latin typeface="Calibri"/>
                <a:ea typeface="Calibri"/>
                <a:cs typeface="Calibri"/>
                <a:sym typeface="Calibri"/>
              </a:rPr>
              <a:t>Assignment</a:t>
            </a:r>
            <a:r>
              <a:rPr lang="fr-FR" sz="2200" b="1" dirty="0">
                <a:solidFill>
                  <a:srgbClr val="FF0000"/>
                </a:solidFill>
                <a:latin typeface="Calibri"/>
                <a:ea typeface="Calibri"/>
                <a:cs typeface="Calibri"/>
                <a:sym typeface="Calibri"/>
              </a:rPr>
              <a:t> 1: </a:t>
            </a:r>
            <a:r>
              <a:rPr lang="fr-FR" sz="2200" b="1" u="sng" dirty="0">
                <a:solidFill>
                  <a:srgbClr val="FF0000"/>
                </a:solidFill>
                <a:latin typeface="Calibri"/>
                <a:ea typeface="Calibri"/>
                <a:cs typeface="Calibri"/>
                <a:sym typeface="Calibri"/>
              </a:rPr>
              <a:t>PPT</a:t>
            </a:r>
            <a:endParaRPr sz="2200" b="1" dirty="0">
              <a:solidFill>
                <a:srgbClr val="FF0000"/>
              </a:solidFill>
              <a:latin typeface="Calibri"/>
              <a:ea typeface="Calibri"/>
              <a:cs typeface="Calibri"/>
              <a:sym typeface="Calibri"/>
            </a:endParaRPr>
          </a:p>
          <a:p>
            <a:pPr marL="0" marR="0" lvl="0" indent="0" algn="just" rtl="0">
              <a:spcBef>
                <a:spcPts val="0"/>
              </a:spcBef>
              <a:spcAft>
                <a:spcPts val="0"/>
              </a:spcAft>
              <a:buNone/>
            </a:pPr>
            <a:r>
              <a:rPr lang="fr-FR" sz="2100" dirty="0">
                <a:solidFill>
                  <a:schemeClr val="dk1"/>
                </a:solidFill>
                <a:latin typeface="Calibri"/>
                <a:ea typeface="Calibri"/>
                <a:cs typeface="Calibri"/>
                <a:sym typeface="Calibri"/>
              </a:rPr>
              <a:t>You are </a:t>
            </a:r>
            <a:r>
              <a:rPr lang="fr-FR" sz="2100" dirty="0" err="1">
                <a:solidFill>
                  <a:schemeClr val="dk1"/>
                </a:solidFill>
                <a:latin typeface="Calibri"/>
                <a:ea typeface="Calibri"/>
                <a:cs typeface="Calibri"/>
                <a:sym typeface="Calibri"/>
              </a:rPr>
              <a:t>asked</a:t>
            </a:r>
            <a:r>
              <a:rPr lang="fr-FR" sz="2100" dirty="0">
                <a:solidFill>
                  <a:schemeClr val="dk1"/>
                </a:solidFill>
                <a:latin typeface="Calibri"/>
                <a:ea typeface="Calibri"/>
                <a:cs typeface="Calibri"/>
                <a:sym typeface="Calibri"/>
              </a:rPr>
              <a:t> to </a:t>
            </a:r>
            <a:r>
              <a:rPr lang="fr-FR" sz="2100" dirty="0" err="1">
                <a:solidFill>
                  <a:schemeClr val="dk1"/>
                </a:solidFill>
                <a:latin typeface="Calibri"/>
                <a:ea typeface="Calibri"/>
                <a:cs typeface="Calibri"/>
                <a:sym typeface="Calibri"/>
              </a:rPr>
              <a:t>prepare</a:t>
            </a:r>
            <a:r>
              <a:rPr lang="fr-FR" sz="2100" dirty="0">
                <a:solidFill>
                  <a:schemeClr val="dk1"/>
                </a:solidFill>
                <a:latin typeface="Calibri"/>
                <a:ea typeface="Calibri"/>
                <a:cs typeface="Calibri"/>
                <a:sym typeface="Calibri"/>
              </a:rPr>
              <a:t> a PPT </a:t>
            </a:r>
            <a:r>
              <a:rPr lang="fr-FR" sz="2100" dirty="0" err="1">
                <a:solidFill>
                  <a:schemeClr val="dk1"/>
                </a:solidFill>
                <a:latin typeface="Calibri"/>
                <a:ea typeface="Calibri"/>
                <a:cs typeface="Calibri"/>
                <a:sym typeface="Calibri"/>
              </a:rPr>
              <a:t>presentation</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highlighting</a:t>
            </a:r>
            <a:r>
              <a:rPr lang="fr-FR" sz="2100" dirty="0">
                <a:solidFill>
                  <a:schemeClr val="dk1"/>
                </a:solidFill>
                <a:latin typeface="Calibri"/>
                <a:ea typeface="Calibri"/>
                <a:cs typeface="Calibri"/>
                <a:sym typeface="Calibri"/>
              </a:rPr>
              <a:t> the </a:t>
            </a:r>
            <a:r>
              <a:rPr lang="fr-FR" sz="2100" dirty="0" err="1">
                <a:solidFill>
                  <a:schemeClr val="dk1"/>
                </a:solidFill>
                <a:latin typeface="Calibri"/>
                <a:ea typeface="Calibri"/>
                <a:cs typeface="Calibri"/>
                <a:sym typeface="Calibri"/>
              </a:rPr>
              <a:t>following</a:t>
            </a:r>
            <a:r>
              <a:rPr lang="fr-FR" sz="2100" dirty="0">
                <a:solidFill>
                  <a:schemeClr val="dk1"/>
                </a:solidFill>
                <a:latin typeface="Calibri"/>
                <a:ea typeface="Calibri"/>
                <a:cs typeface="Calibri"/>
                <a:sym typeface="Calibri"/>
              </a:rPr>
              <a:t>:</a:t>
            </a:r>
            <a:endParaRPr dirty="0"/>
          </a:p>
          <a:p>
            <a:pPr marL="457200" marR="0" lvl="0" indent="-457200" algn="just" rtl="0">
              <a:spcBef>
                <a:spcPts val="0"/>
              </a:spcBef>
              <a:spcAft>
                <a:spcPts val="0"/>
              </a:spcAft>
              <a:buClr>
                <a:schemeClr val="dk1"/>
              </a:buClr>
              <a:buSzPts val="2100"/>
              <a:buFont typeface="Calibri"/>
              <a:buAutoNum type="arabicPeriod"/>
            </a:pPr>
            <a:r>
              <a:rPr lang="fr-FR" sz="2100" dirty="0">
                <a:solidFill>
                  <a:schemeClr val="dk1"/>
                </a:solidFill>
                <a:latin typeface="Calibri"/>
                <a:ea typeface="Calibri"/>
                <a:cs typeface="Calibri"/>
                <a:sym typeface="Calibri"/>
              </a:rPr>
              <a:t>Name of the NGO &amp; </a:t>
            </a:r>
            <a:r>
              <a:rPr lang="fr-FR" sz="2100" dirty="0" err="1">
                <a:solidFill>
                  <a:schemeClr val="dk1"/>
                </a:solidFill>
                <a:latin typeface="Calibri"/>
                <a:ea typeface="Calibri"/>
                <a:cs typeface="Calibri"/>
                <a:sym typeface="Calibri"/>
              </a:rPr>
              <a:t>name</a:t>
            </a:r>
            <a:r>
              <a:rPr lang="fr-FR" sz="2100" dirty="0">
                <a:solidFill>
                  <a:schemeClr val="dk1"/>
                </a:solidFill>
                <a:latin typeface="Calibri"/>
                <a:ea typeface="Calibri"/>
                <a:cs typeface="Calibri"/>
                <a:sym typeface="Calibri"/>
              </a:rPr>
              <a:t> of the group.</a:t>
            </a:r>
            <a:endParaRPr dirty="0"/>
          </a:p>
          <a:p>
            <a:pPr marL="457200" marR="0" lvl="0" indent="-457200" algn="just" rtl="0">
              <a:spcBef>
                <a:spcPts val="0"/>
              </a:spcBef>
              <a:spcAft>
                <a:spcPts val="0"/>
              </a:spcAft>
              <a:buClr>
                <a:schemeClr val="dk1"/>
              </a:buClr>
              <a:buSzPts val="2100"/>
              <a:buFont typeface="Calibri"/>
              <a:buAutoNum type="arabicPeriod"/>
            </a:pPr>
            <a:r>
              <a:rPr lang="fr-FR" sz="2100" dirty="0" err="1">
                <a:solidFill>
                  <a:schemeClr val="dk1"/>
                </a:solidFill>
                <a:latin typeface="Calibri"/>
                <a:ea typeface="Calibri"/>
                <a:cs typeface="Calibri"/>
                <a:sym typeface="Calibri"/>
              </a:rPr>
              <a:t>Organization</a:t>
            </a:r>
            <a:r>
              <a:rPr lang="fr-FR" sz="2100" dirty="0">
                <a:solidFill>
                  <a:schemeClr val="dk1"/>
                </a:solidFill>
                <a:latin typeface="Calibri"/>
                <a:ea typeface="Calibri"/>
                <a:cs typeface="Calibri"/>
                <a:sym typeface="Calibri"/>
              </a:rPr>
              <a:t>: Introduction of the </a:t>
            </a:r>
            <a:r>
              <a:rPr lang="fr-FR" sz="2100" dirty="0" err="1">
                <a:solidFill>
                  <a:schemeClr val="dk1"/>
                </a:solidFill>
                <a:latin typeface="Calibri"/>
                <a:ea typeface="Calibri"/>
                <a:cs typeface="Calibri"/>
                <a:sym typeface="Calibri"/>
              </a:rPr>
              <a:t>board</a:t>
            </a:r>
            <a:r>
              <a:rPr lang="fr-FR" sz="2100" dirty="0">
                <a:solidFill>
                  <a:schemeClr val="dk1"/>
                </a:solidFill>
                <a:latin typeface="Calibri"/>
                <a:ea typeface="Calibri"/>
                <a:cs typeface="Calibri"/>
                <a:sym typeface="Calibri"/>
              </a:rPr>
              <a:t> of </a:t>
            </a:r>
            <a:r>
              <a:rPr lang="fr-FR" sz="2100" dirty="0" err="1">
                <a:solidFill>
                  <a:schemeClr val="dk1"/>
                </a:solidFill>
                <a:latin typeface="Calibri"/>
                <a:ea typeface="Calibri"/>
                <a:cs typeface="Calibri"/>
                <a:sym typeface="Calibri"/>
              </a:rPr>
              <a:t>directors</a:t>
            </a:r>
            <a:r>
              <a:rPr lang="fr-FR" sz="2100" dirty="0">
                <a:solidFill>
                  <a:schemeClr val="dk1"/>
                </a:solidFill>
                <a:latin typeface="Calibri"/>
                <a:ea typeface="Calibri"/>
                <a:cs typeface="Calibri"/>
                <a:sym typeface="Calibri"/>
              </a:rPr>
              <a:t>: The </a:t>
            </a:r>
            <a:r>
              <a:rPr lang="fr-FR" sz="2100" dirty="0" err="1">
                <a:solidFill>
                  <a:schemeClr val="dk1"/>
                </a:solidFill>
                <a:latin typeface="Calibri"/>
                <a:ea typeface="Calibri"/>
                <a:cs typeface="Calibri"/>
                <a:sym typeface="Calibri"/>
              </a:rPr>
              <a:t>board</a:t>
            </a:r>
            <a:r>
              <a:rPr lang="fr-FR" sz="2100" dirty="0">
                <a:solidFill>
                  <a:schemeClr val="dk1"/>
                </a:solidFill>
                <a:latin typeface="Calibri"/>
                <a:ea typeface="Calibri"/>
                <a:cs typeface="Calibri"/>
                <a:sym typeface="Calibri"/>
              </a:rPr>
              <a:t> of </a:t>
            </a:r>
            <a:r>
              <a:rPr lang="fr-FR" sz="2100" dirty="0" err="1">
                <a:solidFill>
                  <a:schemeClr val="dk1"/>
                </a:solidFill>
                <a:latin typeface="Calibri"/>
                <a:ea typeface="Calibri"/>
                <a:cs typeface="Calibri"/>
                <a:sym typeface="Calibri"/>
              </a:rPr>
              <a:t>directors</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is</a:t>
            </a:r>
            <a:r>
              <a:rPr lang="fr-FR" sz="2100" dirty="0">
                <a:solidFill>
                  <a:schemeClr val="dk1"/>
                </a:solidFill>
                <a:latin typeface="Calibri"/>
                <a:ea typeface="Calibri"/>
                <a:cs typeface="Calibri"/>
                <a:sym typeface="Calibri"/>
              </a:rPr>
              <a:t> the body </a:t>
            </a:r>
            <a:r>
              <a:rPr lang="fr-FR" sz="2100" dirty="0" err="1">
                <a:solidFill>
                  <a:schemeClr val="dk1"/>
                </a:solidFill>
                <a:latin typeface="Calibri"/>
                <a:ea typeface="Calibri"/>
                <a:cs typeface="Calibri"/>
                <a:sym typeface="Calibri"/>
              </a:rPr>
              <a:t>responsible</a:t>
            </a:r>
            <a:r>
              <a:rPr lang="fr-FR" sz="2100" dirty="0">
                <a:solidFill>
                  <a:schemeClr val="dk1"/>
                </a:solidFill>
                <a:latin typeface="Calibri"/>
                <a:ea typeface="Calibri"/>
                <a:cs typeface="Calibri"/>
                <a:sym typeface="Calibri"/>
              </a:rPr>
              <a:t> for </a:t>
            </a:r>
            <a:r>
              <a:rPr lang="fr-FR" sz="2100" dirty="0" err="1">
                <a:solidFill>
                  <a:schemeClr val="dk1"/>
                </a:solidFill>
                <a:latin typeface="Calibri"/>
                <a:ea typeface="Calibri"/>
                <a:cs typeface="Calibri"/>
                <a:sym typeface="Calibri"/>
              </a:rPr>
              <a:t>governing</a:t>
            </a:r>
            <a:r>
              <a:rPr lang="fr-FR" sz="2100" dirty="0">
                <a:solidFill>
                  <a:schemeClr val="dk1"/>
                </a:solidFill>
                <a:latin typeface="Calibri"/>
                <a:ea typeface="Calibri"/>
                <a:cs typeface="Calibri"/>
                <a:sym typeface="Calibri"/>
              </a:rPr>
              <a:t> the </a:t>
            </a:r>
            <a:r>
              <a:rPr lang="fr-FR" sz="2100" dirty="0" err="1">
                <a:solidFill>
                  <a:schemeClr val="dk1"/>
                </a:solidFill>
                <a:latin typeface="Calibri"/>
                <a:ea typeface="Calibri"/>
                <a:cs typeface="Calibri"/>
                <a:sym typeface="Calibri"/>
              </a:rPr>
              <a:t>organization</a:t>
            </a:r>
            <a:r>
              <a:rPr lang="fr-FR" sz="2100" dirty="0">
                <a:solidFill>
                  <a:schemeClr val="dk1"/>
                </a:solidFill>
                <a:latin typeface="Calibri"/>
                <a:ea typeface="Calibri"/>
                <a:cs typeface="Calibri"/>
                <a:sym typeface="Calibri"/>
              </a:rPr>
              <a:t>. The </a:t>
            </a:r>
            <a:r>
              <a:rPr lang="fr-FR" sz="2100" dirty="0" err="1">
                <a:solidFill>
                  <a:schemeClr val="dk1"/>
                </a:solidFill>
                <a:latin typeface="Calibri"/>
                <a:ea typeface="Calibri"/>
                <a:cs typeface="Calibri"/>
                <a:sym typeface="Calibri"/>
              </a:rPr>
              <a:t>board</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makes</a:t>
            </a:r>
            <a:r>
              <a:rPr lang="fr-FR" sz="2100" dirty="0">
                <a:solidFill>
                  <a:schemeClr val="dk1"/>
                </a:solidFill>
                <a:latin typeface="Calibri"/>
                <a:ea typeface="Calibri"/>
                <a:cs typeface="Calibri"/>
                <a:sym typeface="Calibri"/>
              </a:rPr>
              <a:t> sure an </a:t>
            </a:r>
            <a:r>
              <a:rPr lang="fr-FR" sz="2100" dirty="0" err="1">
                <a:solidFill>
                  <a:schemeClr val="dk1"/>
                </a:solidFill>
                <a:latin typeface="Calibri"/>
                <a:ea typeface="Calibri"/>
                <a:cs typeface="Calibri"/>
                <a:sym typeface="Calibri"/>
              </a:rPr>
              <a:t>NGO’s</a:t>
            </a:r>
            <a:r>
              <a:rPr lang="fr-FR" sz="2100" dirty="0">
                <a:solidFill>
                  <a:schemeClr val="dk1"/>
                </a:solidFill>
                <a:latin typeface="Calibri"/>
                <a:ea typeface="Calibri"/>
                <a:cs typeface="Calibri"/>
                <a:sym typeface="Calibri"/>
              </a:rPr>
              <a:t> mission </a:t>
            </a:r>
            <a:r>
              <a:rPr lang="fr-FR" sz="2100" dirty="0" err="1">
                <a:solidFill>
                  <a:schemeClr val="dk1"/>
                </a:solidFill>
                <a:latin typeface="Calibri"/>
                <a:ea typeface="Calibri"/>
                <a:cs typeface="Calibri"/>
                <a:sym typeface="Calibri"/>
              </a:rPr>
              <a:t>is</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carried</a:t>
            </a:r>
            <a:r>
              <a:rPr lang="fr-FR" sz="2100" dirty="0">
                <a:solidFill>
                  <a:schemeClr val="dk1"/>
                </a:solidFill>
                <a:latin typeface="Calibri"/>
                <a:ea typeface="Calibri"/>
                <a:cs typeface="Calibri"/>
                <a:sym typeface="Calibri"/>
              </a:rPr>
              <a:t> out </a:t>
            </a:r>
            <a:r>
              <a:rPr lang="fr-FR" sz="2100" dirty="0" err="1">
                <a:solidFill>
                  <a:schemeClr val="dk1"/>
                </a:solidFill>
                <a:latin typeface="Calibri"/>
                <a:ea typeface="Calibri"/>
                <a:cs typeface="Calibri"/>
                <a:sym typeface="Calibri"/>
              </a:rPr>
              <a:t>legally</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ethically</a:t>
            </a:r>
            <a:r>
              <a:rPr lang="fr-FR" sz="2100" dirty="0">
                <a:solidFill>
                  <a:schemeClr val="dk1"/>
                </a:solidFill>
                <a:latin typeface="Calibri"/>
                <a:ea typeface="Calibri"/>
                <a:cs typeface="Calibri"/>
                <a:sym typeface="Calibri"/>
              </a:rPr>
              <a:t> and </a:t>
            </a:r>
            <a:r>
              <a:rPr lang="fr-FR" sz="2100" dirty="0" err="1">
                <a:solidFill>
                  <a:schemeClr val="dk1"/>
                </a:solidFill>
                <a:latin typeface="Calibri"/>
                <a:ea typeface="Calibri"/>
                <a:cs typeface="Calibri"/>
                <a:sym typeface="Calibri"/>
              </a:rPr>
              <a:t>effectively</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Ultimately</a:t>
            </a:r>
            <a:r>
              <a:rPr lang="fr-FR" sz="2100" dirty="0">
                <a:solidFill>
                  <a:schemeClr val="dk1"/>
                </a:solidFill>
                <a:latin typeface="Calibri"/>
                <a:ea typeface="Calibri"/>
                <a:cs typeface="Calibri"/>
                <a:sym typeface="Calibri"/>
              </a:rPr>
              <a:t>, the </a:t>
            </a:r>
            <a:r>
              <a:rPr lang="fr-FR" sz="2100" dirty="0" err="1">
                <a:solidFill>
                  <a:schemeClr val="dk1"/>
                </a:solidFill>
                <a:latin typeface="Calibri"/>
                <a:ea typeface="Calibri"/>
                <a:cs typeface="Calibri"/>
                <a:sym typeface="Calibri"/>
              </a:rPr>
              <a:t>board</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is</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accountable</a:t>
            </a:r>
            <a:r>
              <a:rPr lang="fr-FR" sz="2100" dirty="0">
                <a:solidFill>
                  <a:schemeClr val="dk1"/>
                </a:solidFill>
                <a:latin typeface="Calibri"/>
                <a:ea typeface="Calibri"/>
                <a:cs typeface="Calibri"/>
                <a:sym typeface="Calibri"/>
              </a:rPr>
              <a:t> to the </a:t>
            </a:r>
            <a:r>
              <a:rPr lang="fr-FR" sz="2100" dirty="0" err="1">
                <a:solidFill>
                  <a:schemeClr val="dk1"/>
                </a:solidFill>
                <a:latin typeface="Calibri"/>
                <a:ea typeface="Calibri"/>
                <a:cs typeface="Calibri"/>
                <a:sym typeface="Calibri"/>
              </a:rPr>
              <a:t>community</a:t>
            </a:r>
            <a:r>
              <a:rPr lang="fr-FR" sz="2100" dirty="0">
                <a:solidFill>
                  <a:schemeClr val="dk1"/>
                </a:solidFill>
                <a:latin typeface="Calibri"/>
                <a:ea typeface="Calibri"/>
                <a:cs typeface="Calibri"/>
                <a:sym typeface="Calibri"/>
              </a:rPr>
              <a:t> the NGO serves, </a:t>
            </a:r>
            <a:r>
              <a:rPr lang="fr-FR" sz="2100" dirty="0" err="1">
                <a:solidFill>
                  <a:schemeClr val="dk1"/>
                </a:solidFill>
                <a:latin typeface="Calibri"/>
                <a:ea typeface="Calibri"/>
                <a:cs typeface="Calibri"/>
                <a:sym typeface="Calibri"/>
              </a:rPr>
              <a:t>its</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donors</a:t>
            </a:r>
            <a:r>
              <a:rPr lang="fr-FR" sz="2100" dirty="0">
                <a:solidFill>
                  <a:schemeClr val="dk1"/>
                </a:solidFill>
                <a:latin typeface="Calibri"/>
                <a:ea typeface="Calibri"/>
                <a:cs typeface="Calibri"/>
                <a:sym typeface="Calibri"/>
              </a:rPr>
              <a:t> and </a:t>
            </a:r>
            <a:r>
              <a:rPr lang="fr-FR" sz="2100" dirty="0" err="1">
                <a:solidFill>
                  <a:schemeClr val="dk1"/>
                </a:solidFill>
                <a:latin typeface="Calibri"/>
                <a:ea typeface="Calibri"/>
                <a:cs typeface="Calibri"/>
                <a:sym typeface="Calibri"/>
              </a:rPr>
              <a:t>other</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partners</a:t>
            </a:r>
            <a:r>
              <a:rPr lang="fr-FR" sz="2100" dirty="0">
                <a:solidFill>
                  <a:schemeClr val="dk1"/>
                </a:solidFill>
                <a:latin typeface="Calibri"/>
                <a:ea typeface="Calibri"/>
                <a:cs typeface="Calibri"/>
                <a:sym typeface="Calibri"/>
              </a:rPr>
              <a:t>.</a:t>
            </a:r>
            <a:endParaRPr dirty="0"/>
          </a:p>
          <a:p>
            <a:pPr marL="457200" marR="0" lvl="0" indent="-457200" algn="just" rtl="0">
              <a:spcBef>
                <a:spcPts val="0"/>
              </a:spcBef>
              <a:spcAft>
                <a:spcPts val="0"/>
              </a:spcAft>
              <a:buClr>
                <a:schemeClr val="dk1"/>
              </a:buClr>
              <a:buSzPts val="2100"/>
              <a:buFont typeface="Calibri"/>
              <a:buAutoNum type="arabicPeriod"/>
            </a:pPr>
            <a:r>
              <a:rPr lang="fr-FR" sz="2100" dirty="0" err="1">
                <a:solidFill>
                  <a:schemeClr val="dk1"/>
                </a:solidFill>
                <a:latin typeface="Calibri"/>
                <a:ea typeface="Calibri"/>
                <a:cs typeface="Calibri"/>
                <a:sym typeface="Calibri"/>
              </a:rPr>
              <a:t>Problem</a:t>
            </a:r>
            <a:r>
              <a:rPr lang="fr-FR" sz="2100" dirty="0">
                <a:solidFill>
                  <a:schemeClr val="dk1"/>
                </a:solidFill>
                <a:latin typeface="Calibri"/>
                <a:ea typeface="Calibri"/>
                <a:cs typeface="Calibri"/>
                <a:sym typeface="Calibri"/>
              </a:rPr>
              <a:t> </a:t>
            </a:r>
            <a:r>
              <a:rPr lang="fr-FR" sz="2100" dirty="0" err="1">
                <a:solidFill>
                  <a:schemeClr val="dk1"/>
                </a:solidFill>
                <a:latin typeface="Calibri"/>
                <a:ea typeface="Calibri"/>
                <a:cs typeface="Calibri"/>
                <a:sym typeface="Calibri"/>
              </a:rPr>
              <a:t>statement</a:t>
            </a:r>
            <a:r>
              <a:rPr lang="fr-FR" sz="2100" dirty="0">
                <a:solidFill>
                  <a:schemeClr val="dk1"/>
                </a:solidFill>
                <a:latin typeface="Calibri"/>
                <a:ea typeface="Calibri"/>
                <a:cs typeface="Calibri"/>
                <a:sym typeface="Calibri"/>
              </a:rPr>
              <a:t> </a:t>
            </a:r>
            <a:r>
              <a:rPr lang="fr-FR" sz="2100" dirty="0" smtClean="0">
                <a:solidFill>
                  <a:schemeClr val="dk1"/>
                </a:solidFill>
                <a:latin typeface="Calibri"/>
                <a:ea typeface="Calibri"/>
                <a:cs typeface="Calibri"/>
                <a:sym typeface="Calibri"/>
              </a:rPr>
              <a:t>/ </a:t>
            </a:r>
            <a:r>
              <a:rPr lang="fr-FR" sz="2100" dirty="0" err="1" smtClean="0">
                <a:solidFill>
                  <a:schemeClr val="dk1"/>
                </a:solidFill>
                <a:latin typeface="Calibri"/>
                <a:ea typeface="Calibri"/>
                <a:cs typeface="Calibri"/>
                <a:sym typeface="Calibri"/>
              </a:rPr>
              <a:t>chosen</a:t>
            </a:r>
            <a:r>
              <a:rPr lang="fr-FR" sz="2100" dirty="0" smtClean="0">
                <a:solidFill>
                  <a:schemeClr val="dk1"/>
                </a:solidFill>
                <a:latin typeface="Calibri"/>
                <a:ea typeface="Calibri"/>
                <a:cs typeface="Calibri"/>
                <a:sym typeface="Calibri"/>
              </a:rPr>
              <a:t> SDG</a:t>
            </a:r>
          </a:p>
          <a:p>
            <a:pPr marL="457200" marR="0" lvl="0" indent="-457200" algn="just" rtl="0">
              <a:spcBef>
                <a:spcPts val="0"/>
              </a:spcBef>
              <a:spcAft>
                <a:spcPts val="0"/>
              </a:spcAft>
              <a:buClr>
                <a:schemeClr val="dk1"/>
              </a:buClr>
              <a:buSzPts val="2100"/>
              <a:buFont typeface="Calibri"/>
              <a:buAutoNum type="arabicPeriod"/>
            </a:pPr>
            <a:r>
              <a:rPr lang="fr-FR" sz="2100" dirty="0" smtClean="0">
                <a:solidFill>
                  <a:schemeClr val="dk1"/>
                </a:solidFill>
                <a:latin typeface="Calibri"/>
                <a:ea typeface="Calibri"/>
                <a:cs typeface="Calibri"/>
                <a:sym typeface="Calibri"/>
              </a:rPr>
              <a:t>Values </a:t>
            </a:r>
            <a:r>
              <a:rPr lang="fr-FR" sz="2100" dirty="0">
                <a:solidFill>
                  <a:schemeClr val="dk1"/>
                </a:solidFill>
                <a:latin typeface="Calibri"/>
                <a:ea typeface="Calibri"/>
                <a:cs typeface="Calibri"/>
                <a:sym typeface="Calibri"/>
              </a:rPr>
              <a:t>&amp; vision</a:t>
            </a:r>
            <a:endParaRPr dirty="0"/>
          </a:p>
          <a:p>
            <a:pPr marL="457200" marR="0" lvl="0" indent="-457200" algn="just" rtl="0">
              <a:spcBef>
                <a:spcPts val="0"/>
              </a:spcBef>
              <a:spcAft>
                <a:spcPts val="0"/>
              </a:spcAft>
              <a:buClr>
                <a:schemeClr val="dk1"/>
              </a:buClr>
              <a:buSzPts val="2100"/>
              <a:buFont typeface="Calibri"/>
              <a:buAutoNum type="arabicPeriod"/>
            </a:pPr>
            <a:r>
              <a:rPr lang="fr-FR" sz="2100" dirty="0">
                <a:solidFill>
                  <a:schemeClr val="dk1"/>
                </a:solidFill>
                <a:latin typeface="Calibri"/>
                <a:ea typeface="Calibri"/>
                <a:cs typeface="Calibri"/>
                <a:sym typeface="Calibri"/>
              </a:rPr>
              <a:t>Mission (Solutions/</a:t>
            </a:r>
            <a:r>
              <a:rPr lang="fr-FR" sz="2100" dirty="0" err="1">
                <a:solidFill>
                  <a:schemeClr val="dk1"/>
                </a:solidFill>
                <a:latin typeface="Calibri"/>
                <a:ea typeface="Calibri"/>
                <a:cs typeface="Calibri"/>
                <a:sym typeface="Calibri"/>
              </a:rPr>
              <a:t>proposals</a:t>
            </a:r>
            <a:r>
              <a:rPr lang="fr-FR" sz="2100" dirty="0">
                <a:solidFill>
                  <a:schemeClr val="dk1"/>
                </a:solidFill>
                <a:latin typeface="Calibri"/>
                <a:ea typeface="Calibri"/>
                <a:cs typeface="Calibri"/>
                <a:sym typeface="Calibri"/>
              </a:rPr>
              <a:t>/action plan)</a:t>
            </a:r>
            <a:endParaRPr dirty="0"/>
          </a:p>
          <a:p>
            <a:pPr marL="457200" marR="0" lvl="0" indent="-457200" algn="just" rtl="0">
              <a:spcBef>
                <a:spcPts val="0"/>
              </a:spcBef>
              <a:spcAft>
                <a:spcPts val="0"/>
              </a:spcAft>
              <a:buClr>
                <a:schemeClr val="dk1"/>
              </a:buClr>
              <a:buSzPts val="2100"/>
              <a:buFont typeface="Calibri"/>
              <a:buAutoNum type="arabicPeriod"/>
            </a:pPr>
            <a:r>
              <a:rPr lang="fr-FR" sz="2100" dirty="0">
                <a:solidFill>
                  <a:schemeClr val="dk1"/>
                </a:solidFill>
                <a:latin typeface="Calibri"/>
                <a:ea typeface="Calibri"/>
                <a:cs typeface="Calibri"/>
                <a:sym typeface="Calibri"/>
              </a:rPr>
              <a:t>Possible Challenges &amp; obstacles</a:t>
            </a:r>
            <a:endParaRPr dirty="0"/>
          </a:p>
          <a:p>
            <a:pPr marL="0" marR="0" lvl="0" indent="0" algn="just" rtl="0">
              <a:spcBef>
                <a:spcPts val="0"/>
              </a:spcBef>
              <a:spcAft>
                <a:spcPts val="0"/>
              </a:spcAft>
              <a:buNone/>
            </a:pPr>
            <a:endParaRPr sz="22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66">
                                            <p:txEl>
                                              <p:pRg st="0" end="0"/>
                                            </p:txEl>
                                          </p:spTgt>
                                        </p:tgtEl>
                                        <p:attrNameLst>
                                          <p:attrName>style.visibility</p:attrName>
                                        </p:attrNameLst>
                                      </p:cBhvr>
                                      <p:to>
                                        <p:strVal val="visible"/>
                                      </p:to>
                                    </p:set>
                                    <p:anim calcmode="lin" valueType="num">
                                      <p:cBhvr additive="base">
                                        <p:cTn id="7" dur="500"/>
                                        <p:tgtEl>
                                          <p:spTgt spid="566">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566">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66">
                                            <p:txEl>
                                              <p:pRg st="1" end="1"/>
                                            </p:txEl>
                                          </p:spTgt>
                                        </p:tgtEl>
                                        <p:attrNameLst>
                                          <p:attrName>style.visibility</p:attrName>
                                        </p:attrNameLst>
                                      </p:cBhvr>
                                      <p:to>
                                        <p:strVal val="visible"/>
                                      </p:to>
                                    </p:set>
                                    <p:anim calcmode="lin" valueType="num">
                                      <p:cBhvr additive="base">
                                        <p:cTn id="13" dur="500"/>
                                        <p:tgtEl>
                                          <p:spTgt spid="566">
                                            <p:txEl>
                                              <p:pRg st="1" end="1"/>
                                            </p:txEl>
                                          </p:spTgt>
                                        </p:tgtEl>
                                        <p:attrNameLst>
                                          <p:attrName>ppt_w</p:attrName>
                                        </p:attrNameLst>
                                      </p:cBhvr>
                                      <p:tavLst>
                                        <p:tav tm="0">
                                          <p:val>
                                            <p:strVal val="0"/>
                                          </p:val>
                                        </p:tav>
                                        <p:tav tm="100000">
                                          <p:val>
                                            <p:strVal val="#ppt_w"/>
                                          </p:val>
                                        </p:tav>
                                      </p:tavLst>
                                    </p:anim>
                                    <p:anim calcmode="lin" valueType="num">
                                      <p:cBhvr additive="base">
                                        <p:cTn id="14" dur="500"/>
                                        <p:tgtEl>
                                          <p:spTgt spid="566">
                                            <p:txEl>
                                              <p:pRg st="1" end="1"/>
                                            </p:txEl>
                                          </p:spTgt>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66">
                                            <p:txEl>
                                              <p:pRg st="3" end="3"/>
                                            </p:txEl>
                                          </p:spTgt>
                                        </p:tgtEl>
                                        <p:attrNameLst>
                                          <p:attrName>style.visibility</p:attrName>
                                        </p:attrNameLst>
                                      </p:cBhvr>
                                      <p:to>
                                        <p:strVal val="visible"/>
                                      </p:to>
                                    </p:set>
                                    <p:anim calcmode="lin" valueType="num">
                                      <p:cBhvr additive="base">
                                        <p:cTn id="19" dur="500"/>
                                        <p:tgtEl>
                                          <p:spTgt spid="566">
                                            <p:txEl>
                                              <p:pRg st="3" end="3"/>
                                            </p:txEl>
                                          </p:spTgt>
                                        </p:tgtEl>
                                        <p:attrNameLst>
                                          <p:attrName>ppt_w</p:attrName>
                                        </p:attrNameLst>
                                      </p:cBhvr>
                                      <p:tavLst>
                                        <p:tav tm="0">
                                          <p:val>
                                            <p:strVal val="0"/>
                                          </p:val>
                                        </p:tav>
                                        <p:tav tm="100000">
                                          <p:val>
                                            <p:strVal val="#ppt_w"/>
                                          </p:val>
                                        </p:tav>
                                      </p:tavLst>
                                    </p:anim>
                                    <p:anim calcmode="lin" valueType="num">
                                      <p:cBhvr additive="base">
                                        <p:cTn id="20" dur="500"/>
                                        <p:tgtEl>
                                          <p:spTgt spid="566">
                                            <p:txEl>
                                              <p:pRg st="3" end="3"/>
                                            </p:txEl>
                                          </p:spTgt>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566">
                                            <p:txEl>
                                              <p:pRg st="4" end="4"/>
                                            </p:txEl>
                                          </p:spTgt>
                                        </p:tgtEl>
                                        <p:attrNameLst>
                                          <p:attrName>style.visibility</p:attrName>
                                        </p:attrNameLst>
                                      </p:cBhvr>
                                      <p:to>
                                        <p:strVal val="visible"/>
                                      </p:to>
                                    </p:set>
                                    <p:anim calcmode="lin" valueType="num">
                                      <p:cBhvr additive="base">
                                        <p:cTn id="25" dur="500"/>
                                        <p:tgtEl>
                                          <p:spTgt spid="566">
                                            <p:txEl>
                                              <p:pRg st="4" end="4"/>
                                            </p:txEl>
                                          </p:spTgt>
                                        </p:tgtEl>
                                        <p:attrNameLst>
                                          <p:attrName>ppt_w</p:attrName>
                                        </p:attrNameLst>
                                      </p:cBhvr>
                                      <p:tavLst>
                                        <p:tav tm="0">
                                          <p:val>
                                            <p:strVal val="0"/>
                                          </p:val>
                                        </p:tav>
                                        <p:tav tm="100000">
                                          <p:val>
                                            <p:strVal val="#ppt_w"/>
                                          </p:val>
                                        </p:tav>
                                      </p:tavLst>
                                    </p:anim>
                                    <p:anim calcmode="lin" valueType="num">
                                      <p:cBhvr additive="base">
                                        <p:cTn id="26" dur="500"/>
                                        <p:tgtEl>
                                          <p:spTgt spid="566">
                                            <p:txEl>
                                              <p:pRg st="4" end="4"/>
                                            </p:txEl>
                                          </p:spTgt>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66">
                                            <p:txEl>
                                              <p:pRg st="5" end="5"/>
                                            </p:txEl>
                                          </p:spTgt>
                                        </p:tgtEl>
                                        <p:attrNameLst>
                                          <p:attrName>style.visibility</p:attrName>
                                        </p:attrNameLst>
                                      </p:cBhvr>
                                      <p:to>
                                        <p:strVal val="visible"/>
                                      </p:to>
                                    </p:set>
                                    <p:anim calcmode="lin" valueType="num">
                                      <p:cBhvr additive="base">
                                        <p:cTn id="31" dur="500"/>
                                        <p:tgtEl>
                                          <p:spTgt spid="566">
                                            <p:txEl>
                                              <p:pRg st="5" end="5"/>
                                            </p:txEl>
                                          </p:spTgt>
                                        </p:tgtEl>
                                        <p:attrNameLst>
                                          <p:attrName>ppt_w</p:attrName>
                                        </p:attrNameLst>
                                      </p:cBhvr>
                                      <p:tavLst>
                                        <p:tav tm="0">
                                          <p:val>
                                            <p:strVal val="0"/>
                                          </p:val>
                                        </p:tav>
                                        <p:tav tm="100000">
                                          <p:val>
                                            <p:strVal val="#ppt_w"/>
                                          </p:val>
                                        </p:tav>
                                      </p:tavLst>
                                    </p:anim>
                                    <p:anim calcmode="lin" valueType="num">
                                      <p:cBhvr additive="base">
                                        <p:cTn id="32" dur="500"/>
                                        <p:tgtEl>
                                          <p:spTgt spid="566">
                                            <p:txEl>
                                              <p:pRg st="5" end="5"/>
                                            </p:txEl>
                                          </p:spTgt>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566">
                                            <p:txEl>
                                              <p:pRg st="6" end="6"/>
                                            </p:txEl>
                                          </p:spTgt>
                                        </p:tgtEl>
                                        <p:attrNameLst>
                                          <p:attrName>style.visibility</p:attrName>
                                        </p:attrNameLst>
                                      </p:cBhvr>
                                      <p:to>
                                        <p:strVal val="visible"/>
                                      </p:to>
                                    </p:set>
                                    <p:anim calcmode="lin" valueType="num">
                                      <p:cBhvr additive="base">
                                        <p:cTn id="37" dur="500"/>
                                        <p:tgtEl>
                                          <p:spTgt spid="566">
                                            <p:txEl>
                                              <p:pRg st="6" end="6"/>
                                            </p:txEl>
                                          </p:spTgt>
                                        </p:tgtEl>
                                        <p:attrNameLst>
                                          <p:attrName>ppt_w</p:attrName>
                                        </p:attrNameLst>
                                      </p:cBhvr>
                                      <p:tavLst>
                                        <p:tav tm="0">
                                          <p:val>
                                            <p:strVal val="0"/>
                                          </p:val>
                                        </p:tav>
                                        <p:tav tm="100000">
                                          <p:val>
                                            <p:strVal val="#ppt_w"/>
                                          </p:val>
                                        </p:tav>
                                      </p:tavLst>
                                    </p:anim>
                                    <p:anim calcmode="lin" valueType="num">
                                      <p:cBhvr additive="base">
                                        <p:cTn id="38" dur="500"/>
                                        <p:tgtEl>
                                          <p:spTgt spid="566">
                                            <p:txEl>
                                              <p:pRg st="6" end="6"/>
                                            </p:txEl>
                                          </p:spTgt>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566">
                                            <p:txEl>
                                              <p:pRg st="7" end="7"/>
                                            </p:txEl>
                                          </p:spTgt>
                                        </p:tgtEl>
                                        <p:attrNameLst>
                                          <p:attrName>style.visibility</p:attrName>
                                        </p:attrNameLst>
                                      </p:cBhvr>
                                      <p:to>
                                        <p:strVal val="visible"/>
                                      </p:to>
                                    </p:set>
                                    <p:anim calcmode="lin" valueType="num">
                                      <p:cBhvr additive="base">
                                        <p:cTn id="43" dur="500"/>
                                        <p:tgtEl>
                                          <p:spTgt spid="566">
                                            <p:txEl>
                                              <p:pRg st="7" end="7"/>
                                            </p:txEl>
                                          </p:spTgt>
                                        </p:tgtEl>
                                        <p:attrNameLst>
                                          <p:attrName>ppt_w</p:attrName>
                                        </p:attrNameLst>
                                      </p:cBhvr>
                                      <p:tavLst>
                                        <p:tav tm="0">
                                          <p:val>
                                            <p:strVal val="0"/>
                                          </p:val>
                                        </p:tav>
                                        <p:tav tm="100000">
                                          <p:val>
                                            <p:strVal val="#ppt_w"/>
                                          </p:val>
                                        </p:tav>
                                      </p:tavLst>
                                    </p:anim>
                                    <p:anim calcmode="lin" valueType="num">
                                      <p:cBhvr additive="base">
                                        <p:cTn id="44" dur="500"/>
                                        <p:tgtEl>
                                          <p:spTgt spid="566">
                                            <p:txEl>
                                              <p:pRg st="7" end="7"/>
                                            </p:txEl>
                                          </p:spTgt>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566">
                                            <p:txEl>
                                              <p:pRg st="8" end="8"/>
                                            </p:txEl>
                                          </p:spTgt>
                                        </p:tgtEl>
                                        <p:attrNameLst>
                                          <p:attrName>style.visibility</p:attrName>
                                        </p:attrNameLst>
                                      </p:cBhvr>
                                      <p:to>
                                        <p:strVal val="visible"/>
                                      </p:to>
                                    </p:set>
                                    <p:anim calcmode="lin" valueType="num">
                                      <p:cBhvr additive="base">
                                        <p:cTn id="49" dur="500"/>
                                        <p:tgtEl>
                                          <p:spTgt spid="566">
                                            <p:txEl>
                                              <p:pRg st="8" end="8"/>
                                            </p:txEl>
                                          </p:spTgt>
                                        </p:tgtEl>
                                        <p:attrNameLst>
                                          <p:attrName>ppt_w</p:attrName>
                                        </p:attrNameLst>
                                      </p:cBhvr>
                                      <p:tavLst>
                                        <p:tav tm="0">
                                          <p:val>
                                            <p:strVal val="0"/>
                                          </p:val>
                                        </p:tav>
                                        <p:tav tm="100000">
                                          <p:val>
                                            <p:strVal val="#ppt_w"/>
                                          </p:val>
                                        </p:tav>
                                      </p:tavLst>
                                    </p:anim>
                                    <p:anim calcmode="lin" valueType="num">
                                      <p:cBhvr additive="base">
                                        <p:cTn id="50" dur="500"/>
                                        <p:tgtEl>
                                          <p:spTgt spid="566">
                                            <p:txEl>
                                              <p:pRg st="8" end="8"/>
                                            </p:txEl>
                                          </p:spTgt>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566">
                                            <p:txEl>
                                              <p:pRg st="9" end="9"/>
                                            </p:txEl>
                                          </p:spTgt>
                                        </p:tgtEl>
                                        <p:attrNameLst>
                                          <p:attrName>style.visibility</p:attrName>
                                        </p:attrNameLst>
                                      </p:cBhvr>
                                      <p:to>
                                        <p:strVal val="visible"/>
                                      </p:to>
                                    </p:set>
                                    <p:anim calcmode="lin" valueType="num">
                                      <p:cBhvr additive="base">
                                        <p:cTn id="55" dur="500"/>
                                        <p:tgtEl>
                                          <p:spTgt spid="566">
                                            <p:txEl>
                                              <p:pRg st="9" end="9"/>
                                            </p:txEl>
                                          </p:spTgt>
                                        </p:tgtEl>
                                        <p:attrNameLst>
                                          <p:attrName>ppt_w</p:attrName>
                                        </p:attrNameLst>
                                      </p:cBhvr>
                                      <p:tavLst>
                                        <p:tav tm="0">
                                          <p:val>
                                            <p:strVal val="0"/>
                                          </p:val>
                                        </p:tav>
                                        <p:tav tm="100000">
                                          <p:val>
                                            <p:strVal val="#ppt_w"/>
                                          </p:val>
                                        </p:tav>
                                      </p:tavLst>
                                    </p:anim>
                                    <p:anim calcmode="lin" valueType="num">
                                      <p:cBhvr additive="base">
                                        <p:cTn id="56" dur="500"/>
                                        <p:tgtEl>
                                          <p:spTgt spid="566">
                                            <p:txEl>
                                              <p:pRg st="9" end="9"/>
                                            </p:txEl>
                                          </p:spTgt>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566">
                                            <p:txEl>
                                              <p:pRg st="10" end="10"/>
                                            </p:txEl>
                                          </p:spTgt>
                                        </p:tgtEl>
                                        <p:attrNameLst>
                                          <p:attrName>style.visibility</p:attrName>
                                        </p:attrNameLst>
                                      </p:cBhvr>
                                      <p:to>
                                        <p:strVal val="visible"/>
                                      </p:to>
                                    </p:set>
                                    <p:anim calcmode="lin" valueType="num">
                                      <p:cBhvr additive="base">
                                        <p:cTn id="61" dur="500"/>
                                        <p:tgtEl>
                                          <p:spTgt spid="566">
                                            <p:txEl>
                                              <p:pRg st="10" end="10"/>
                                            </p:txEl>
                                          </p:spTgt>
                                        </p:tgtEl>
                                        <p:attrNameLst>
                                          <p:attrName>ppt_w</p:attrName>
                                        </p:attrNameLst>
                                      </p:cBhvr>
                                      <p:tavLst>
                                        <p:tav tm="0">
                                          <p:val>
                                            <p:strVal val="0"/>
                                          </p:val>
                                        </p:tav>
                                        <p:tav tm="100000">
                                          <p:val>
                                            <p:strVal val="#ppt_w"/>
                                          </p:val>
                                        </p:tav>
                                      </p:tavLst>
                                    </p:anim>
                                    <p:anim calcmode="lin" valueType="num">
                                      <p:cBhvr additive="base">
                                        <p:cTn id="62" dur="500"/>
                                        <p:tgtEl>
                                          <p:spTgt spid="566">
                                            <p:txEl>
                                              <p:pRg st="10" end="10"/>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571" name="Google Shape;571;p56" descr="téléchargement.jpeg"/>
          <p:cNvPicPr preferRelativeResize="0"/>
          <p:nvPr/>
        </p:nvPicPr>
        <p:blipFill rotWithShape="1">
          <a:blip r:embed="rId3">
            <a:alphaModFix/>
          </a:blip>
          <a:srcRect/>
          <a:stretch/>
        </p:blipFill>
        <p:spPr>
          <a:xfrm>
            <a:off x="2184400" y="533400"/>
            <a:ext cx="4521200" cy="1790700"/>
          </a:xfrm>
          <a:prstGeom prst="rect">
            <a:avLst/>
          </a:prstGeom>
          <a:noFill/>
          <a:ln>
            <a:noFill/>
          </a:ln>
        </p:spPr>
      </p:pic>
      <p:sp>
        <p:nvSpPr>
          <p:cNvPr id="572" name="Google Shape;572;p56"/>
          <p:cNvSpPr txBox="1"/>
          <p:nvPr/>
        </p:nvSpPr>
        <p:spPr>
          <a:xfrm>
            <a:off x="1905000" y="2438400"/>
            <a:ext cx="4906136"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3600" b="1" dirty="0">
                <a:solidFill>
                  <a:schemeClr val="dk1"/>
                </a:solidFill>
                <a:latin typeface="Calibri"/>
                <a:ea typeface="Calibri"/>
                <a:cs typeface="Calibri"/>
                <a:sym typeface="Calibri"/>
              </a:rPr>
              <a:t>Due to </a:t>
            </a:r>
            <a:r>
              <a:rPr lang="fr-FR" sz="3600" b="1" dirty="0" err="1">
                <a:solidFill>
                  <a:schemeClr val="dk1"/>
                </a:solidFill>
                <a:latin typeface="Calibri"/>
                <a:ea typeface="Calibri"/>
                <a:cs typeface="Calibri"/>
                <a:sym typeface="Calibri"/>
              </a:rPr>
              <a:t>week</a:t>
            </a:r>
            <a:r>
              <a:rPr lang="fr-FR" sz="3600" b="1" dirty="0">
                <a:solidFill>
                  <a:schemeClr val="dk1"/>
                </a:solidFill>
                <a:latin typeface="Calibri"/>
                <a:ea typeface="Calibri"/>
                <a:cs typeface="Calibri"/>
                <a:sym typeface="Calibri"/>
              </a:rPr>
              <a:t>: </a:t>
            </a:r>
            <a:r>
              <a:rPr lang="fr-FR" sz="3600" b="1" dirty="0" smtClean="0">
                <a:solidFill>
                  <a:schemeClr val="dk1"/>
                </a:solidFill>
                <a:latin typeface="Calibri"/>
                <a:ea typeface="Calibri"/>
                <a:cs typeface="Calibri"/>
                <a:sym typeface="Calibri"/>
              </a:rPr>
              <a:t>9</a:t>
            </a:r>
            <a:r>
              <a:rPr lang="fr-FR" sz="3600" b="1" dirty="0" smtClean="0">
                <a:solidFill>
                  <a:schemeClr val="dk1"/>
                </a:solidFill>
                <a:latin typeface="Calibri"/>
                <a:ea typeface="Calibri"/>
                <a:cs typeface="Calibri"/>
                <a:sym typeface="Calibri"/>
              </a:rPr>
              <a:t>-15 </a:t>
            </a:r>
            <a:r>
              <a:rPr lang="fr-FR" sz="3600" b="1" dirty="0">
                <a:solidFill>
                  <a:schemeClr val="dk1"/>
                </a:solidFill>
                <a:latin typeface="Calibri"/>
                <a:ea typeface="Calibri"/>
                <a:cs typeface="Calibri"/>
                <a:sym typeface="Calibri"/>
              </a:rPr>
              <a:t>OCT </a:t>
            </a:r>
            <a:endParaRPr sz="36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73" name="Google Shape;573;p56"/>
          <p:cNvSpPr txBox="1">
            <a:spLocks noGrp="1"/>
          </p:cNvSpPr>
          <p:nvPr>
            <p:ph type="sldNum" idx="12"/>
          </p:nvPr>
        </p:nvSpPr>
        <p:spPr>
          <a:xfrm>
            <a:off x="7897906" y="6275668"/>
            <a:ext cx="9906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fr-FR"/>
              <a:t>60</a:t>
            </a:fld>
            <a:endParaRPr/>
          </a:p>
        </p:txBody>
      </p:sp>
      <p:sp>
        <p:nvSpPr>
          <p:cNvPr id="574" name="Google Shape;574;p56"/>
          <p:cNvSpPr txBox="1"/>
          <p:nvPr/>
        </p:nvSpPr>
        <p:spPr>
          <a:xfrm>
            <a:off x="566375" y="4114800"/>
            <a:ext cx="2938825"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3200" b="1">
                <a:solidFill>
                  <a:schemeClr val="dk1"/>
                </a:solidFill>
                <a:latin typeface="Calibri"/>
                <a:ea typeface="Calibri"/>
                <a:cs typeface="Calibri"/>
                <a:sym typeface="Calibri"/>
              </a:rPr>
              <a:t>Group mark</a:t>
            </a:r>
            <a:endParaRPr/>
          </a:p>
          <a:p>
            <a:pPr marL="0" marR="0" lvl="0" indent="0" algn="ctr" rtl="0">
              <a:spcBef>
                <a:spcPts val="0"/>
              </a:spcBef>
              <a:spcAft>
                <a:spcPts val="0"/>
              </a:spcAft>
              <a:buNone/>
            </a:pPr>
            <a:r>
              <a:rPr lang="fr-FR" sz="3200" b="1">
                <a:solidFill>
                  <a:schemeClr val="dk1"/>
                </a:solidFill>
                <a:latin typeface="Calibri"/>
                <a:ea typeface="Calibri"/>
                <a:cs typeface="Calibri"/>
                <a:sym typeface="Calibri"/>
              </a:rPr>
              <a:t>&amp;</a:t>
            </a:r>
            <a:endParaRPr sz="3200" b="1">
              <a:solidFill>
                <a:schemeClr val="dk1"/>
              </a:solidFill>
              <a:latin typeface="Calibri"/>
              <a:ea typeface="Calibri"/>
              <a:cs typeface="Calibri"/>
              <a:sym typeface="Calibri"/>
            </a:endParaRPr>
          </a:p>
          <a:p>
            <a:pPr marL="0" marR="0" lvl="0" indent="0" algn="ctr" rtl="0">
              <a:spcBef>
                <a:spcPts val="0"/>
              </a:spcBef>
              <a:spcAft>
                <a:spcPts val="0"/>
              </a:spcAft>
              <a:buNone/>
            </a:pPr>
            <a:r>
              <a:rPr lang="fr-FR" sz="3200" b="1">
                <a:solidFill>
                  <a:schemeClr val="dk1"/>
                </a:solidFill>
                <a:latin typeface="Calibri"/>
                <a:ea typeface="Calibri"/>
                <a:cs typeface="Calibri"/>
                <a:sym typeface="Calibri"/>
              </a:rPr>
              <a:t> Individual mark </a:t>
            </a:r>
            <a:endParaRPr sz="3200" b="1">
              <a:solidFill>
                <a:schemeClr val="dk1"/>
              </a:solidFill>
              <a:latin typeface="Calibri"/>
              <a:ea typeface="Calibri"/>
              <a:cs typeface="Calibri"/>
              <a:sym typeface="Calibri"/>
            </a:endParaRPr>
          </a:p>
        </p:txBody>
      </p:sp>
      <p:pic>
        <p:nvPicPr>
          <p:cNvPr id="575" name="Google Shape;575;p56" descr="evaluation.png"/>
          <p:cNvPicPr preferRelativeResize="0"/>
          <p:nvPr/>
        </p:nvPicPr>
        <p:blipFill rotWithShape="1">
          <a:blip r:embed="rId4">
            <a:alphaModFix/>
          </a:blip>
          <a:srcRect/>
          <a:stretch/>
        </p:blipFill>
        <p:spPr>
          <a:xfrm>
            <a:off x="3733800" y="4191000"/>
            <a:ext cx="3657600" cy="2438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2"/>
                                        </p:tgtEl>
                                        <p:attrNameLst>
                                          <p:attrName>style.visibility</p:attrName>
                                        </p:attrNameLst>
                                      </p:cBhvr>
                                      <p:to>
                                        <p:strVal val="visible"/>
                                      </p:to>
                                    </p:set>
                                    <p:animEffect transition="in" filter="fade">
                                      <p:cBhvr>
                                        <p:cTn id="7" dur="1000"/>
                                        <p:tgtEl>
                                          <p:spTgt spid="572"/>
                                        </p:tgtEl>
                                      </p:cBhvr>
                                    </p:animEffect>
                                  </p:childTnLst>
                                </p:cTn>
                              </p:par>
                              <p:par>
                                <p:cTn id="8" presetID="10" presetClass="entr" presetSubtype="0" fill="hold" nodeType="withEffect">
                                  <p:stCondLst>
                                    <p:cond delay="0"/>
                                  </p:stCondLst>
                                  <p:childTnLst>
                                    <p:set>
                                      <p:cBhvr>
                                        <p:cTn id="9" dur="1" fill="hold">
                                          <p:stCondLst>
                                            <p:cond delay="0"/>
                                          </p:stCondLst>
                                        </p:cTn>
                                        <p:tgtEl>
                                          <p:spTgt spid="571"/>
                                        </p:tgtEl>
                                        <p:attrNameLst>
                                          <p:attrName>style.visibility</p:attrName>
                                        </p:attrNameLst>
                                      </p:cBhvr>
                                      <p:to>
                                        <p:strVal val="visible"/>
                                      </p:to>
                                    </p:set>
                                    <p:animEffect transition="in" filter="fade">
                                      <p:cBhvr>
                                        <p:cTn id="10" dur="1000"/>
                                        <p:tgtEl>
                                          <p:spTgt spid="57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74"/>
                                        </p:tgtEl>
                                        <p:attrNameLst>
                                          <p:attrName>style.visibility</p:attrName>
                                        </p:attrNameLst>
                                      </p:cBhvr>
                                      <p:to>
                                        <p:strVal val="visible"/>
                                      </p:to>
                                    </p:set>
                                    <p:animEffect transition="in" filter="fade">
                                      <p:cBhvr>
                                        <p:cTn id="15" dur="1000"/>
                                        <p:tgtEl>
                                          <p:spTgt spid="574"/>
                                        </p:tgtEl>
                                      </p:cBhvr>
                                    </p:animEffect>
                                  </p:childTnLst>
                                </p:cTn>
                              </p:par>
                              <p:par>
                                <p:cTn id="16" presetID="10" presetClass="entr" presetSubtype="0" fill="hold" nodeType="withEffect">
                                  <p:stCondLst>
                                    <p:cond delay="0"/>
                                  </p:stCondLst>
                                  <p:childTnLst>
                                    <p:set>
                                      <p:cBhvr>
                                        <p:cTn id="17" dur="1" fill="hold">
                                          <p:stCondLst>
                                            <p:cond delay="0"/>
                                          </p:stCondLst>
                                        </p:cTn>
                                        <p:tgtEl>
                                          <p:spTgt spid="575"/>
                                        </p:tgtEl>
                                        <p:attrNameLst>
                                          <p:attrName>style.visibility</p:attrName>
                                        </p:attrNameLst>
                                      </p:cBhvr>
                                      <p:to>
                                        <p:strVal val="visible"/>
                                      </p:to>
                                    </p:set>
                                    <p:animEffect transition="in" filter="fade">
                                      <p:cBhvr>
                                        <p:cTn id="18" dur="1000"/>
                                        <p:tgtEl>
                                          <p:spTgt spid="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57"/>
          <p:cNvSpPr txBox="1">
            <a:spLocks noGrp="1"/>
          </p:cNvSpPr>
          <p:nvPr>
            <p:ph type="body" idx="1"/>
          </p:nvPr>
        </p:nvSpPr>
        <p:spPr>
          <a:xfrm>
            <a:off x="533400" y="1066800"/>
            <a:ext cx="78867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2599CC"/>
              </a:buClr>
              <a:buSzPts val="4000"/>
              <a:buNone/>
            </a:pPr>
            <a:r>
              <a:rPr lang="fr-FR" sz="4000" b="1">
                <a:solidFill>
                  <a:srgbClr val="2599CC"/>
                </a:solidFill>
              </a:rPr>
              <a:t>THANK YOU FOR YOUR ATTENTION!</a:t>
            </a:r>
            <a:endParaRPr/>
          </a:p>
          <a:p>
            <a:pPr marL="0" lvl="0" indent="0" algn="ctr" rtl="0">
              <a:lnSpc>
                <a:spcPct val="90000"/>
              </a:lnSpc>
              <a:spcBef>
                <a:spcPts val="1000"/>
              </a:spcBef>
              <a:spcAft>
                <a:spcPts val="0"/>
              </a:spcAft>
              <a:buClr>
                <a:srgbClr val="2599CC"/>
              </a:buClr>
              <a:buSzPts val="4000"/>
              <a:buNone/>
            </a:pPr>
            <a:r>
              <a:rPr lang="fr-FR" sz="4000" b="1">
                <a:solidFill>
                  <a:srgbClr val="2599CC"/>
                </a:solidFill>
              </a:rPr>
              <a:t>ANY QUESTIONS ?</a:t>
            </a:r>
            <a:endParaRPr sz="4000" b="1">
              <a:solidFill>
                <a:srgbClr val="2599CC"/>
              </a:solidFill>
            </a:endParaRPr>
          </a:p>
        </p:txBody>
      </p:sp>
      <p:pic>
        <p:nvPicPr>
          <p:cNvPr id="581" name="Google Shape;581;p57" descr="volunteer.png"/>
          <p:cNvPicPr preferRelativeResize="0"/>
          <p:nvPr/>
        </p:nvPicPr>
        <p:blipFill rotWithShape="1">
          <a:blip r:embed="rId3">
            <a:alphaModFix/>
          </a:blip>
          <a:srcRect/>
          <a:stretch/>
        </p:blipFill>
        <p:spPr>
          <a:xfrm>
            <a:off x="1213104" y="3293533"/>
            <a:ext cx="7092696" cy="3031067"/>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DSS Project">
      <a:dk1>
        <a:srgbClr val="000000"/>
      </a:dk1>
      <a:lt1>
        <a:srgbClr val="FFFFFF"/>
      </a:lt1>
      <a:dk2>
        <a:srgbClr val="A23330"/>
      </a:dk2>
      <a:lt2>
        <a:srgbClr val="C85232"/>
      </a:lt2>
      <a:accent1>
        <a:srgbClr val="E09930"/>
      </a:accent1>
      <a:accent2>
        <a:srgbClr val="438EAF"/>
      </a:accent2>
      <a:accent3>
        <a:srgbClr val="7EB89A"/>
      </a:accent3>
      <a:accent4>
        <a:srgbClr val="296144"/>
      </a:accent4>
      <a:accent5>
        <a:srgbClr val="663300"/>
      </a:accent5>
      <a:accent6>
        <a:srgbClr val="7E3253"/>
      </a:accent6>
      <a:hlink>
        <a:srgbClr val="552AA2"/>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TotalTime>
  <Words>2632</Words>
  <Application>Microsoft Office PowerPoint</Application>
  <PresentationFormat>Affichage à l'écran (4:3)</PresentationFormat>
  <Paragraphs>426</Paragraphs>
  <Slides>61</Slides>
  <Notes>50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61</vt:i4>
      </vt:variant>
    </vt:vector>
  </HeadingPairs>
  <TitlesOfParts>
    <vt:vector size="68" baseType="lpstr">
      <vt:lpstr>Times</vt:lpstr>
      <vt:lpstr>Bebas Neue</vt:lpstr>
      <vt:lpstr>Calibri</vt:lpstr>
      <vt:lpstr>Noto Sans Symbols</vt:lpstr>
      <vt:lpstr>Open Sans SemiBold</vt:lpstr>
      <vt:lpstr>Arial</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complete the following sentences by using the vocabulary in the correct form: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This project will help you acquire these Soft Skills:</vt:lpstr>
      <vt:lpstr>Présentation PowerPoint</vt:lpstr>
      <vt:lpstr>Présentation PowerPoint</vt:lpstr>
      <vt:lpstr>Présentation PowerPoint</vt:lpstr>
      <vt:lpstr>Présentation PowerPoint</vt:lpstr>
      <vt:lpstr>Présentation PowerPoint</vt:lpstr>
      <vt:lpstr> Lits of Sustainbale Developent Goals:   Your NGO is required to mobilize around the Sustainable Development Goals (SDGs) to be implemented at the national level. (NGO ideas must not be of any sexual, political or religious aspect.) + (Avoid all virtual issues -such as cyberbullying or cybercrime- causes have to be concrete and existing in the Tunisian society.)  </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Ruth Gale</dc:creator>
  <cp:lastModifiedBy>Manel</cp:lastModifiedBy>
  <cp:revision>9</cp:revision>
  <dcterms:created xsi:type="dcterms:W3CDTF">2006-08-16T00:00:00Z</dcterms:created>
  <dcterms:modified xsi:type="dcterms:W3CDTF">2023-09-19T11:11:04Z</dcterms:modified>
</cp:coreProperties>
</file>